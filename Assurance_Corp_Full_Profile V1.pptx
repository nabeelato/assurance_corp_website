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9" r:id="rId4"/>
    <p:sldId id="258"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0" d="100"/>
          <a:sy n="110" d="100"/>
        </p:scale>
        <p:origin x="1080"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828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2D2D"/>
        </a:solidFill>
        <a:effectLst/>
      </p:bgPr>
    </p:bg>
    <p:spTree>
      <p:nvGrpSpPr>
        <p:cNvPr id="1" name=""/>
        <p:cNvGrpSpPr/>
        <p:nvPr/>
      </p:nvGrpSpPr>
      <p:grpSpPr>
        <a:xfrm>
          <a:off x="0" y="0"/>
          <a:ext cx="0" cy="0"/>
          <a:chOff x="0" y="0"/>
          <a:chExt cx="0" cy="0"/>
        </a:xfrm>
      </p:grpSpPr>
      <p:sp>
        <p:nvSpPr>
          <p:cNvPr id="2" name="Shape 0"/>
          <p:cNvSpPr/>
          <p:nvPr/>
        </p:nvSpPr>
        <p:spPr>
          <a:xfrm>
            <a:off x="6858000" y="0"/>
            <a:ext cx="5303520" cy="6858000"/>
          </a:xfrm>
          <a:prstGeom prst="rect">
            <a:avLst/>
          </a:prstGeom>
          <a:solidFill>
            <a:srgbClr val="2D6A32"/>
          </a:solidFill>
          <a:ln w="12700">
            <a:solidFill>
              <a:srgbClr val="2D6A32"/>
            </a:solidFill>
            <a:prstDash val="solid"/>
          </a:ln>
        </p:spPr>
        <p:txBody>
          <a:bodyPr/>
          <a:lstStyle/>
          <a:p>
            <a:endParaRPr lang="en-AE"/>
          </a:p>
        </p:txBody>
      </p:sp>
      <p:sp>
        <p:nvSpPr>
          <p:cNvPr id="3" name="Shape 1"/>
          <p:cNvSpPr/>
          <p:nvPr/>
        </p:nvSpPr>
        <p:spPr>
          <a:xfrm>
            <a:off x="6217920" y="0"/>
            <a:ext cx="777240" cy="6858000"/>
          </a:xfrm>
          <a:prstGeom prst="rect">
            <a:avLst/>
          </a:prstGeom>
          <a:solidFill>
            <a:srgbClr val="2D6A32"/>
          </a:solidFill>
          <a:ln w="12700">
            <a:solidFill>
              <a:srgbClr val="2D6A32"/>
            </a:solidFill>
            <a:prstDash val="solid"/>
          </a:ln>
        </p:spPr>
        <p:txBody>
          <a:bodyPr/>
          <a:lstStyle/>
          <a:p>
            <a:endParaRPr lang="en-AE"/>
          </a:p>
        </p:txBody>
      </p:sp>
      <p:pic>
        <p:nvPicPr>
          <p:cNvPr id="4" name="Image 0" descr="preencoded.png"/>
          <p:cNvPicPr>
            <a:picLocks noChangeAspect="1"/>
          </p:cNvPicPr>
          <p:nvPr/>
        </p:nvPicPr>
        <p:blipFill>
          <a:blip r:embed="rId3"/>
          <a:stretch>
            <a:fillRect/>
          </a:stretch>
        </p:blipFill>
        <p:spPr>
          <a:xfrm>
            <a:off x="502920" y="411480"/>
            <a:ext cx="2926080" cy="1005840"/>
          </a:xfrm>
          <a:prstGeom prst="rect">
            <a:avLst/>
          </a:prstGeom>
        </p:spPr>
      </p:pic>
      <p:sp>
        <p:nvSpPr>
          <p:cNvPr id="5" name="Shape 2"/>
          <p:cNvSpPr/>
          <p:nvPr/>
        </p:nvSpPr>
        <p:spPr>
          <a:xfrm>
            <a:off x="502920" y="1920240"/>
            <a:ext cx="411480" cy="45720"/>
          </a:xfrm>
          <a:prstGeom prst="rect">
            <a:avLst/>
          </a:prstGeom>
          <a:solidFill>
            <a:srgbClr val="6BBF5A"/>
          </a:solidFill>
          <a:ln w="12700">
            <a:solidFill>
              <a:srgbClr val="6BBF5A"/>
            </a:solidFill>
            <a:prstDash val="solid"/>
          </a:ln>
        </p:spPr>
        <p:txBody>
          <a:bodyPr/>
          <a:lstStyle/>
          <a:p>
            <a:endParaRPr lang="en-AE"/>
          </a:p>
        </p:txBody>
      </p:sp>
      <p:sp>
        <p:nvSpPr>
          <p:cNvPr id="6" name="Text 3"/>
          <p:cNvSpPr/>
          <p:nvPr/>
        </p:nvSpPr>
        <p:spPr>
          <a:xfrm>
            <a:off x="1005840" y="1828800"/>
            <a:ext cx="4572000" cy="256032"/>
          </a:xfrm>
          <a:prstGeom prst="rect">
            <a:avLst/>
          </a:prstGeom>
          <a:noFill/>
          <a:ln/>
        </p:spPr>
        <p:txBody>
          <a:bodyPr wrap="square" lIns="0" tIns="0" rIns="0" bIns="0" rtlCol="0" anchor="ctr"/>
          <a:lstStyle/>
          <a:p>
            <a:pPr marL="0" indent="0">
              <a:buNone/>
            </a:pPr>
            <a:r>
              <a:rPr lang="en-US" sz="900" b="1" kern="0" spc="500" dirty="0">
                <a:solidFill>
                  <a:srgbClr val="6BBF5A"/>
                </a:solidFill>
              </a:rPr>
              <a:t>COMPANY PROFILE</a:t>
            </a:r>
            <a:endParaRPr lang="en-US" sz="900" dirty="0"/>
          </a:p>
        </p:txBody>
      </p:sp>
      <p:sp>
        <p:nvSpPr>
          <p:cNvPr id="7" name="Text 4"/>
          <p:cNvSpPr/>
          <p:nvPr/>
        </p:nvSpPr>
        <p:spPr>
          <a:xfrm>
            <a:off x="502920" y="2194560"/>
            <a:ext cx="6217920" cy="2286000"/>
          </a:xfrm>
          <a:prstGeom prst="rect">
            <a:avLst/>
          </a:prstGeom>
          <a:noFill/>
          <a:ln/>
        </p:spPr>
        <p:txBody>
          <a:bodyPr wrap="square" lIns="0" tIns="0" rIns="0" bIns="0" rtlCol="0" anchor="ctr"/>
          <a:lstStyle/>
          <a:p>
            <a:pPr marL="0" indent="0">
              <a:lnSpc>
                <a:spcPct val="120000"/>
              </a:lnSpc>
              <a:buNone/>
            </a:pPr>
            <a:r>
              <a:rPr lang="en-US" sz="3600" b="1" dirty="0">
                <a:solidFill>
                  <a:srgbClr val="FFFFFF"/>
                </a:solidFill>
                <a:latin typeface="Georgia" pitchFamily="34" charset="0"/>
                <a:ea typeface="Georgia" pitchFamily="34" charset="-122"/>
                <a:cs typeface="Georgia" pitchFamily="34" charset="-120"/>
              </a:rPr>
              <a:t>Act with Integrity,</a:t>
            </a:r>
            <a:endParaRPr lang="en-US" sz="3600" dirty="0"/>
          </a:p>
          <a:p>
            <a:pPr marL="0" indent="0">
              <a:lnSpc>
                <a:spcPct val="120000"/>
              </a:lnSpc>
              <a:buNone/>
            </a:pPr>
            <a:r>
              <a:rPr lang="en-US" sz="3600" b="1" dirty="0">
                <a:solidFill>
                  <a:srgbClr val="FFFFFF"/>
                </a:solidFill>
                <a:latin typeface="Georgia" pitchFamily="34" charset="0"/>
                <a:ea typeface="Georgia" pitchFamily="34" charset="-122"/>
                <a:cs typeface="Georgia" pitchFamily="34" charset="-120"/>
              </a:rPr>
              <a:t>Competence and</a:t>
            </a:r>
            <a:endParaRPr lang="en-US" sz="3600" dirty="0"/>
          </a:p>
          <a:p>
            <a:pPr marL="0" indent="0">
              <a:lnSpc>
                <a:spcPct val="120000"/>
              </a:lnSpc>
              <a:buNone/>
            </a:pPr>
            <a:r>
              <a:rPr lang="en-US" sz="3600" b="1" dirty="0">
                <a:solidFill>
                  <a:srgbClr val="FFFFFF"/>
                </a:solidFill>
                <a:latin typeface="Georgia" pitchFamily="34" charset="0"/>
                <a:ea typeface="Georgia" pitchFamily="34" charset="-122"/>
                <a:cs typeface="Georgia" pitchFamily="34" charset="-120"/>
              </a:rPr>
              <a:t>Professionalism</a:t>
            </a:r>
            <a:endParaRPr lang="en-US" sz="3600" dirty="0"/>
          </a:p>
        </p:txBody>
      </p:sp>
      <p:sp>
        <p:nvSpPr>
          <p:cNvPr id="8" name="Text 5"/>
          <p:cNvSpPr/>
          <p:nvPr/>
        </p:nvSpPr>
        <p:spPr>
          <a:xfrm>
            <a:off x="502920" y="4617720"/>
            <a:ext cx="6217920" cy="1005840"/>
          </a:xfrm>
          <a:prstGeom prst="rect">
            <a:avLst/>
          </a:prstGeom>
          <a:noFill/>
          <a:ln/>
        </p:spPr>
        <p:txBody>
          <a:bodyPr wrap="square" lIns="0" tIns="0" rIns="0" bIns="0" rtlCol="0" anchor="ctr"/>
          <a:lstStyle/>
          <a:p>
            <a:pPr marL="0" indent="0">
              <a:lnSpc>
                <a:spcPct val="140000"/>
              </a:lnSpc>
              <a:buNone/>
            </a:pPr>
            <a:r>
              <a:rPr lang="en-US" sz="1200" dirty="0">
                <a:solidFill>
                  <a:srgbClr val="AAAAAA"/>
                </a:solidFill>
                <a:latin typeface="Calibri" pitchFamily="34" charset="0"/>
                <a:ea typeface="Calibri" pitchFamily="34" charset="-122"/>
                <a:cs typeface="Calibri" pitchFamily="34" charset="-120"/>
              </a:rPr>
              <a:t>A premier Audit, Risk Advisory, Financial Advisory, Accounting and Management Consultancy firm — composed of experts with diverse industry experience dedicated to delivering excellence.</a:t>
            </a:r>
            <a:endParaRPr lang="en-US" sz="1200" dirty="0"/>
          </a:p>
        </p:txBody>
      </p:sp>
      <p:sp>
        <p:nvSpPr>
          <p:cNvPr id="9" name="Shape 6"/>
          <p:cNvSpPr/>
          <p:nvPr/>
        </p:nvSpPr>
        <p:spPr>
          <a:xfrm>
            <a:off x="7406640" y="2011680"/>
            <a:ext cx="2560320" cy="502920"/>
          </a:xfrm>
          <a:prstGeom prst="rect">
            <a:avLst/>
          </a:prstGeom>
          <a:solidFill>
            <a:srgbClr val="4A9952"/>
          </a:solidFill>
          <a:ln w="12700">
            <a:solidFill>
              <a:srgbClr val="4A9952"/>
            </a:solidFill>
            <a:prstDash val="solid"/>
          </a:ln>
        </p:spPr>
        <p:txBody>
          <a:bodyPr/>
          <a:lstStyle/>
          <a:p>
            <a:endParaRPr lang="en-AE"/>
          </a:p>
        </p:txBody>
      </p:sp>
      <p:sp>
        <p:nvSpPr>
          <p:cNvPr id="10" name="Text 7"/>
          <p:cNvSpPr/>
          <p:nvPr/>
        </p:nvSpPr>
        <p:spPr>
          <a:xfrm>
            <a:off x="7406640" y="2011680"/>
            <a:ext cx="2560320" cy="502920"/>
          </a:xfrm>
          <a:prstGeom prst="rect">
            <a:avLst/>
          </a:prstGeom>
          <a:noFill/>
          <a:ln/>
        </p:spPr>
        <p:txBody>
          <a:bodyPr wrap="square" lIns="0" tIns="0" rIns="0" bIns="0" rtlCol="0" anchor="ctr"/>
          <a:lstStyle/>
          <a:p>
            <a:pPr marL="0" indent="0" algn="ctr">
              <a:buNone/>
            </a:pPr>
            <a:r>
              <a:rPr lang="en-US" sz="1400" b="1" kern="0" spc="400" dirty="0">
                <a:solidFill>
                  <a:srgbClr val="FFFFFF"/>
                </a:solidFill>
              </a:rPr>
              <a:t>AUDIT</a:t>
            </a:r>
            <a:endParaRPr lang="en-US" sz="1400" dirty="0"/>
          </a:p>
        </p:txBody>
      </p:sp>
      <p:sp>
        <p:nvSpPr>
          <p:cNvPr id="11" name="Shape 8"/>
          <p:cNvSpPr/>
          <p:nvPr/>
        </p:nvSpPr>
        <p:spPr>
          <a:xfrm>
            <a:off x="7406640" y="2788920"/>
            <a:ext cx="2560320" cy="502920"/>
          </a:xfrm>
          <a:prstGeom prst="rect">
            <a:avLst/>
          </a:prstGeom>
          <a:solidFill>
            <a:srgbClr val="4A9952"/>
          </a:solidFill>
          <a:ln w="12700">
            <a:solidFill>
              <a:srgbClr val="4A9952"/>
            </a:solidFill>
            <a:prstDash val="solid"/>
          </a:ln>
        </p:spPr>
        <p:txBody>
          <a:bodyPr/>
          <a:lstStyle/>
          <a:p>
            <a:endParaRPr lang="en-AE"/>
          </a:p>
        </p:txBody>
      </p:sp>
      <p:sp>
        <p:nvSpPr>
          <p:cNvPr id="12" name="Text 9"/>
          <p:cNvSpPr/>
          <p:nvPr/>
        </p:nvSpPr>
        <p:spPr>
          <a:xfrm>
            <a:off x="7406640" y="2788920"/>
            <a:ext cx="2560320" cy="502920"/>
          </a:xfrm>
          <a:prstGeom prst="rect">
            <a:avLst/>
          </a:prstGeom>
          <a:noFill/>
          <a:ln/>
        </p:spPr>
        <p:txBody>
          <a:bodyPr wrap="square" lIns="0" tIns="0" rIns="0" bIns="0" rtlCol="0" anchor="ctr"/>
          <a:lstStyle/>
          <a:p>
            <a:pPr marL="0" indent="0" algn="ctr">
              <a:buNone/>
            </a:pPr>
            <a:r>
              <a:rPr lang="en-US" sz="1400" b="1" kern="0" spc="400" dirty="0">
                <a:solidFill>
                  <a:srgbClr val="FFFFFF"/>
                </a:solidFill>
              </a:rPr>
              <a:t>RISK</a:t>
            </a:r>
            <a:endParaRPr lang="en-US" sz="1400" dirty="0"/>
          </a:p>
        </p:txBody>
      </p:sp>
      <p:sp>
        <p:nvSpPr>
          <p:cNvPr id="13" name="Shape 10"/>
          <p:cNvSpPr/>
          <p:nvPr/>
        </p:nvSpPr>
        <p:spPr>
          <a:xfrm>
            <a:off x="7406640" y="3566160"/>
            <a:ext cx="2560320" cy="502920"/>
          </a:xfrm>
          <a:prstGeom prst="rect">
            <a:avLst/>
          </a:prstGeom>
          <a:solidFill>
            <a:srgbClr val="4A9952"/>
          </a:solidFill>
          <a:ln w="12700">
            <a:solidFill>
              <a:srgbClr val="4A9952"/>
            </a:solidFill>
            <a:prstDash val="solid"/>
          </a:ln>
        </p:spPr>
        <p:txBody>
          <a:bodyPr/>
          <a:lstStyle/>
          <a:p>
            <a:endParaRPr lang="en-AE"/>
          </a:p>
        </p:txBody>
      </p:sp>
      <p:sp>
        <p:nvSpPr>
          <p:cNvPr id="14" name="Text 11"/>
          <p:cNvSpPr/>
          <p:nvPr/>
        </p:nvSpPr>
        <p:spPr>
          <a:xfrm>
            <a:off x="7406640" y="3566160"/>
            <a:ext cx="2560320" cy="502920"/>
          </a:xfrm>
          <a:prstGeom prst="rect">
            <a:avLst/>
          </a:prstGeom>
          <a:noFill/>
          <a:ln/>
        </p:spPr>
        <p:txBody>
          <a:bodyPr wrap="square" lIns="0" tIns="0" rIns="0" bIns="0" rtlCol="0" anchor="ctr"/>
          <a:lstStyle/>
          <a:p>
            <a:pPr marL="0" indent="0" algn="ctr">
              <a:buNone/>
            </a:pPr>
            <a:r>
              <a:rPr lang="en-US" sz="1400" b="1" kern="0" spc="400" dirty="0">
                <a:solidFill>
                  <a:srgbClr val="FFFFFF"/>
                </a:solidFill>
              </a:rPr>
              <a:t>TAX</a:t>
            </a:r>
            <a:endParaRPr lang="en-US" sz="1400" dirty="0"/>
          </a:p>
        </p:txBody>
      </p:sp>
      <p:sp>
        <p:nvSpPr>
          <p:cNvPr id="15" name="Shape 12"/>
          <p:cNvSpPr/>
          <p:nvPr/>
        </p:nvSpPr>
        <p:spPr>
          <a:xfrm>
            <a:off x="7406640" y="4343400"/>
            <a:ext cx="2560320" cy="502920"/>
          </a:xfrm>
          <a:prstGeom prst="rect">
            <a:avLst/>
          </a:prstGeom>
          <a:solidFill>
            <a:srgbClr val="4A9952"/>
          </a:solidFill>
          <a:ln w="12700">
            <a:solidFill>
              <a:srgbClr val="4A9952"/>
            </a:solidFill>
            <a:prstDash val="solid"/>
          </a:ln>
        </p:spPr>
        <p:txBody>
          <a:bodyPr/>
          <a:lstStyle/>
          <a:p>
            <a:endParaRPr lang="en-AE"/>
          </a:p>
        </p:txBody>
      </p:sp>
      <p:sp>
        <p:nvSpPr>
          <p:cNvPr id="16" name="Text 13"/>
          <p:cNvSpPr/>
          <p:nvPr/>
        </p:nvSpPr>
        <p:spPr>
          <a:xfrm>
            <a:off x="7406640" y="4343400"/>
            <a:ext cx="2560320" cy="502920"/>
          </a:xfrm>
          <a:prstGeom prst="rect">
            <a:avLst/>
          </a:prstGeom>
          <a:noFill/>
          <a:ln/>
        </p:spPr>
        <p:txBody>
          <a:bodyPr wrap="square" lIns="0" tIns="0" rIns="0" bIns="0" rtlCol="0" anchor="ctr"/>
          <a:lstStyle/>
          <a:p>
            <a:pPr marL="0" indent="0" algn="ctr">
              <a:buNone/>
            </a:pPr>
            <a:r>
              <a:rPr lang="en-US" sz="1400" b="1" kern="0" spc="400" dirty="0">
                <a:solidFill>
                  <a:srgbClr val="FFFFFF"/>
                </a:solidFill>
              </a:rPr>
              <a:t>ADVISORY</a:t>
            </a:r>
            <a:endParaRPr lang="en-US" sz="1400" dirty="0"/>
          </a:p>
        </p:txBody>
      </p:sp>
      <p:sp>
        <p:nvSpPr>
          <p:cNvPr id="17" name="Text 14"/>
          <p:cNvSpPr/>
          <p:nvPr/>
        </p:nvSpPr>
        <p:spPr>
          <a:xfrm>
            <a:off x="7132320" y="6217920"/>
            <a:ext cx="4572000" cy="365760"/>
          </a:xfrm>
          <a:prstGeom prst="rect">
            <a:avLst/>
          </a:prstGeom>
          <a:noFill/>
          <a:ln/>
        </p:spPr>
        <p:txBody>
          <a:bodyPr wrap="square" lIns="0" tIns="0" rIns="0" bIns="0" rtlCol="0" anchor="ctr"/>
          <a:lstStyle/>
          <a:p>
            <a:pPr marL="0" indent="0" algn="ctr">
              <a:buNone/>
            </a:pPr>
            <a:r>
              <a:rPr lang="en-US" sz="1100" i="1" dirty="0">
                <a:solidFill>
                  <a:srgbClr val="CCCCCC"/>
                </a:solidFill>
              </a:rPr>
              <a:t>Auditors &amp; Advisers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D6A32"/>
          </a:solidFill>
          <a:ln w="12700">
            <a:solidFill>
              <a:srgbClr val="2D6A32"/>
            </a:solidFill>
            <a:prstDash val="solid"/>
          </a:ln>
        </p:spPr>
        <p:txBody>
          <a:bodyPr/>
          <a:lstStyle/>
          <a:p>
            <a:endParaRPr lang="en-AE"/>
          </a:p>
        </p:txBody>
      </p:sp>
      <p:sp>
        <p:nvSpPr>
          <p:cNvPr id="3" name="Shape 1"/>
          <p:cNvSpPr/>
          <p:nvPr/>
        </p:nvSpPr>
        <p:spPr>
          <a:xfrm>
            <a:off x="109728" y="0"/>
            <a:ext cx="12051792" cy="1188720"/>
          </a:xfrm>
          <a:prstGeom prst="rect">
            <a:avLst/>
          </a:prstGeom>
          <a:solidFill>
            <a:srgbClr val="F5F5F3"/>
          </a:solidFill>
          <a:ln w="12700">
            <a:solidFill>
              <a:srgbClr val="F5F5F3"/>
            </a:solidFill>
            <a:prstDash val="solid"/>
          </a:ln>
        </p:spPr>
        <p:txBody>
          <a:bodyPr/>
          <a:lstStyle/>
          <a:p>
            <a:endParaRPr lang="en-AE"/>
          </a:p>
        </p:txBody>
      </p:sp>
      <p:pic>
        <p:nvPicPr>
          <p:cNvPr id="4" name="Image 0" descr="preencoded.png"/>
          <p:cNvPicPr>
            <a:picLocks noChangeAspect="1"/>
          </p:cNvPicPr>
          <p:nvPr/>
        </p:nvPicPr>
        <p:blipFill>
          <a:blip r:embed="rId3"/>
          <a:stretch>
            <a:fillRect/>
          </a:stretch>
        </p:blipFill>
        <p:spPr>
          <a:xfrm>
            <a:off x="320040" y="201168"/>
            <a:ext cx="2286000" cy="804672"/>
          </a:xfrm>
          <a:prstGeom prst="rect">
            <a:avLst/>
          </a:prstGeom>
        </p:spPr>
      </p:pic>
      <p:sp>
        <p:nvSpPr>
          <p:cNvPr id="5" name="Text 2"/>
          <p:cNvSpPr/>
          <p:nvPr/>
        </p:nvSpPr>
        <p:spPr>
          <a:xfrm>
            <a:off x="3200400" y="164592"/>
            <a:ext cx="7315200" cy="274320"/>
          </a:xfrm>
          <a:prstGeom prst="rect">
            <a:avLst/>
          </a:prstGeom>
          <a:noFill/>
          <a:ln/>
        </p:spPr>
        <p:txBody>
          <a:bodyPr wrap="square" lIns="0" tIns="0" rIns="0" bIns="0" rtlCol="0" anchor="ctr"/>
          <a:lstStyle/>
          <a:p>
            <a:pPr marL="0" indent="0">
              <a:buNone/>
            </a:pPr>
            <a:r>
              <a:rPr lang="en-US" sz="800" b="1" kern="0" spc="500" dirty="0">
                <a:solidFill>
                  <a:srgbClr val="2D6A32"/>
                </a:solidFill>
              </a:rPr>
              <a:t>WHO WE ARE</a:t>
            </a:r>
            <a:endParaRPr lang="en-US" sz="800" dirty="0"/>
          </a:p>
        </p:txBody>
      </p:sp>
      <p:sp>
        <p:nvSpPr>
          <p:cNvPr id="6" name="Text 3"/>
          <p:cNvSpPr/>
          <p:nvPr/>
        </p:nvSpPr>
        <p:spPr>
          <a:xfrm>
            <a:off x="3200400" y="457200"/>
            <a:ext cx="8229600" cy="594360"/>
          </a:xfrm>
          <a:prstGeom prst="rect">
            <a:avLst/>
          </a:prstGeom>
          <a:noFill/>
          <a:ln/>
        </p:spPr>
        <p:txBody>
          <a:bodyPr wrap="square" lIns="0" tIns="0" rIns="0" bIns="0" rtlCol="0" anchor="ctr"/>
          <a:lstStyle/>
          <a:p>
            <a:pPr marL="0" indent="0">
              <a:buNone/>
            </a:pPr>
            <a:r>
              <a:rPr lang="en-US" sz="2400" b="1" dirty="0">
                <a:solidFill>
                  <a:srgbClr val="2D2D2D"/>
                </a:solidFill>
                <a:latin typeface="Georgia" pitchFamily="34" charset="0"/>
                <a:ea typeface="Georgia" pitchFamily="34" charset="-122"/>
                <a:cs typeface="Georgia" pitchFamily="34" charset="-120"/>
              </a:rPr>
              <a:t>Introduction</a:t>
            </a:r>
            <a:endParaRPr lang="en-US" sz="2400" dirty="0"/>
          </a:p>
        </p:txBody>
      </p:sp>
      <p:sp>
        <p:nvSpPr>
          <p:cNvPr id="7" name="Text 4"/>
          <p:cNvSpPr/>
          <p:nvPr/>
        </p:nvSpPr>
        <p:spPr>
          <a:xfrm>
            <a:off x="320040" y="1371600"/>
            <a:ext cx="5486400" cy="1417320"/>
          </a:xfrm>
          <a:prstGeom prst="rect">
            <a:avLst/>
          </a:prstGeom>
          <a:noFill/>
          <a:ln/>
        </p:spPr>
        <p:txBody>
          <a:bodyPr wrap="square" lIns="0" tIns="0" rIns="0" bIns="0" rtlCol="0" anchor="ctr"/>
          <a:lstStyle/>
          <a:p>
            <a:pPr marL="0" indent="0">
              <a:lnSpc>
                <a:spcPct val="150000"/>
              </a:lnSpc>
              <a:buNone/>
            </a:pPr>
            <a:r>
              <a:rPr lang="en-US" sz="1200" dirty="0">
                <a:solidFill>
                  <a:srgbClr val="4A4A4A"/>
                </a:solidFill>
                <a:latin typeface="Calibri" pitchFamily="34" charset="0"/>
                <a:ea typeface="Calibri" pitchFamily="34" charset="-122"/>
                <a:cs typeface="Calibri" pitchFamily="34" charset="-120"/>
              </a:rPr>
              <a:t>The volatility of global business environment and markets, constantly creating new challenges, risk and opportunities. We at Assurance Corp have developed a team of professionals, business understanding, regulatory knowledge base, technical expertise, and high ethical values that help organizations to effectively manage risk, enhance performance, and expand their business.</a:t>
            </a:r>
            <a:endParaRPr lang="en-US" sz="1200" dirty="0"/>
          </a:p>
        </p:txBody>
      </p:sp>
      <p:sp>
        <p:nvSpPr>
          <p:cNvPr id="8" name="Text 5"/>
          <p:cNvSpPr/>
          <p:nvPr/>
        </p:nvSpPr>
        <p:spPr>
          <a:xfrm>
            <a:off x="320040" y="2880360"/>
            <a:ext cx="5486400" cy="1737360"/>
          </a:xfrm>
          <a:prstGeom prst="rect">
            <a:avLst/>
          </a:prstGeom>
          <a:noFill/>
          <a:ln/>
        </p:spPr>
        <p:txBody>
          <a:bodyPr wrap="square" lIns="0" tIns="0" rIns="0" bIns="0" rtlCol="0" anchor="ctr"/>
          <a:lstStyle/>
          <a:p>
            <a:pPr marL="0" indent="0">
              <a:lnSpc>
                <a:spcPct val="150000"/>
              </a:lnSpc>
              <a:buNone/>
            </a:pPr>
            <a:r>
              <a:rPr lang="en-US" sz="1200" dirty="0">
                <a:solidFill>
                  <a:srgbClr val="4A4A4A"/>
                </a:solidFill>
                <a:latin typeface="Calibri" pitchFamily="34" charset="0"/>
                <a:ea typeface="Calibri" pitchFamily="34" charset="-122"/>
                <a:cs typeface="Calibri" pitchFamily="34" charset="-120"/>
              </a:rPr>
              <a:t>Growing numbers of free zones, financial centres, and industrial zones creating strong international demand for secure, reliable, and transparent economy. Assurance Corp strategy has been developed in close collaboration with key local and international stakeholders in Government sector, Public companies, privately held enterprises and financial institutions. Assurance Corp continually demonstrates a commitment to quality and provides an exceptional experience to those clients it serves.</a:t>
            </a:r>
            <a:endParaRPr lang="en-US" sz="1200" dirty="0"/>
          </a:p>
        </p:txBody>
      </p:sp>
      <p:sp>
        <p:nvSpPr>
          <p:cNvPr id="9" name="Shape 6"/>
          <p:cNvSpPr/>
          <p:nvPr/>
        </p:nvSpPr>
        <p:spPr>
          <a:xfrm>
            <a:off x="6126480" y="1371600"/>
            <a:ext cx="5760720" cy="2286000"/>
          </a:xfrm>
          <a:prstGeom prst="rect">
            <a:avLst/>
          </a:prstGeom>
          <a:solidFill>
            <a:srgbClr val="2D6A32"/>
          </a:solidFill>
          <a:ln w="12700">
            <a:solidFill>
              <a:srgbClr val="2D6A32"/>
            </a:solidFill>
            <a:prstDash val="solid"/>
          </a:ln>
        </p:spPr>
        <p:txBody>
          <a:bodyPr/>
          <a:lstStyle/>
          <a:p>
            <a:endParaRPr lang="en-AE"/>
          </a:p>
        </p:txBody>
      </p:sp>
      <p:sp>
        <p:nvSpPr>
          <p:cNvPr id="10" name="Text 7"/>
          <p:cNvSpPr/>
          <p:nvPr/>
        </p:nvSpPr>
        <p:spPr>
          <a:xfrm>
            <a:off x="6355080" y="1536192"/>
            <a:ext cx="5303520" cy="292608"/>
          </a:xfrm>
          <a:prstGeom prst="rect">
            <a:avLst/>
          </a:prstGeom>
          <a:noFill/>
          <a:ln/>
        </p:spPr>
        <p:txBody>
          <a:bodyPr wrap="square" lIns="0" tIns="0" rIns="0" bIns="0" rtlCol="0" anchor="ctr"/>
          <a:lstStyle/>
          <a:p>
            <a:pPr marL="0" indent="0">
              <a:buNone/>
            </a:pPr>
            <a:r>
              <a:rPr lang="en-US" sz="900" b="1" kern="0" spc="500" dirty="0">
                <a:solidFill>
                  <a:srgbClr val="6BBF5A"/>
                </a:solidFill>
              </a:rPr>
              <a:t>OUR VISION</a:t>
            </a:r>
            <a:endParaRPr lang="en-US" sz="900" dirty="0"/>
          </a:p>
        </p:txBody>
      </p:sp>
      <p:sp>
        <p:nvSpPr>
          <p:cNvPr id="11" name="Text 8"/>
          <p:cNvSpPr/>
          <p:nvPr/>
        </p:nvSpPr>
        <p:spPr>
          <a:xfrm>
            <a:off x="6355080" y="1901952"/>
            <a:ext cx="5303520" cy="1554480"/>
          </a:xfrm>
          <a:prstGeom prst="rect">
            <a:avLst/>
          </a:prstGeom>
          <a:noFill/>
          <a:ln/>
        </p:spPr>
        <p:txBody>
          <a:bodyPr wrap="square" lIns="0" tIns="0" rIns="0" bIns="0" rtlCol="0" anchor="ctr"/>
          <a:lstStyle/>
          <a:p>
            <a:pPr marL="0" indent="0">
              <a:lnSpc>
                <a:spcPct val="145000"/>
              </a:lnSpc>
              <a:buNone/>
            </a:pPr>
            <a:r>
              <a:rPr lang="en-US" sz="1300" i="1" dirty="0">
                <a:solidFill>
                  <a:srgbClr val="FFFFFF"/>
                </a:solidFill>
                <a:latin typeface="Georgia" pitchFamily="34" charset="0"/>
                <a:ea typeface="Georgia" pitchFamily="34" charset="-122"/>
                <a:cs typeface="Georgia" pitchFamily="34" charset="-120"/>
              </a:rPr>
              <a:t>To become a market leader and be recognized as the premier assurance, risk advisory, financial advisory and management consultancy organization.</a:t>
            </a:r>
            <a:endParaRPr lang="en-US" sz="1300" dirty="0"/>
          </a:p>
        </p:txBody>
      </p:sp>
      <p:sp>
        <p:nvSpPr>
          <p:cNvPr id="12" name="Shape 9"/>
          <p:cNvSpPr/>
          <p:nvPr/>
        </p:nvSpPr>
        <p:spPr>
          <a:xfrm>
            <a:off x="6126480" y="3840480"/>
            <a:ext cx="5760720" cy="2286000"/>
          </a:xfrm>
          <a:prstGeom prst="rect">
            <a:avLst/>
          </a:prstGeom>
          <a:solidFill>
            <a:srgbClr val="383838"/>
          </a:solidFill>
          <a:ln w="12700">
            <a:solidFill>
              <a:srgbClr val="484848"/>
            </a:solidFill>
            <a:prstDash val="solid"/>
          </a:ln>
        </p:spPr>
        <p:txBody>
          <a:bodyPr/>
          <a:lstStyle/>
          <a:p>
            <a:endParaRPr lang="en-AE"/>
          </a:p>
        </p:txBody>
      </p:sp>
      <p:sp>
        <p:nvSpPr>
          <p:cNvPr id="13" name="Shape 10"/>
          <p:cNvSpPr/>
          <p:nvPr/>
        </p:nvSpPr>
        <p:spPr>
          <a:xfrm>
            <a:off x="6126480" y="3840480"/>
            <a:ext cx="5760720" cy="54864"/>
          </a:xfrm>
          <a:prstGeom prst="rect">
            <a:avLst/>
          </a:prstGeom>
          <a:solidFill>
            <a:srgbClr val="6BBF5A"/>
          </a:solidFill>
          <a:ln w="12700">
            <a:solidFill>
              <a:srgbClr val="6BBF5A"/>
            </a:solidFill>
            <a:prstDash val="solid"/>
          </a:ln>
        </p:spPr>
        <p:txBody>
          <a:bodyPr/>
          <a:lstStyle/>
          <a:p>
            <a:endParaRPr lang="en-AE"/>
          </a:p>
        </p:txBody>
      </p:sp>
      <p:sp>
        <p:nvSpPr>
          <p:cNvPr id="14" name="Text 11"/>
          <p:cNvSpPr/>
          <p:nvPr/>
        </p:nvSpPr>
        <p:spPr>
          <a:xfrm>
            <a:off x="6355080" y="4005072"/>
            <a:ext cx="5303520" cy="292608"/>
          </a:xfrm>
          <a:prstGeom prst="rect">
            <a:avLst/>
          </a:prstGeom>
          <a:noFill/>
          <a:ln/>
        </p:spPr>
        <p:txBody>
          <a:bodyPr wrap="square" lIns="0" tIns="0" rIns="0" bIns="0" rtlCol="0" anchor="ctr"/>
          <a:lstStyle/>
          <a:p>
            <a:pPr marL="0" indent="0">
              <a:buNone/>
            </a:pPr>
            <a:r>
              <a:rPr lang="en-US" sz="900" b="1" kern="0" spc="500" dirty="0">
                <a:solidFill>
                  <a:srgbClr val="6BBF5A"/>
                </a:solidFill>
              </a:rPr>
              <a:t>OUR MISSION</a:t>
            </a:r>
            <a:endParaRPr lang="en-US" sz="900" dirty="0"/>
          </a:p>
        </p:txBody>
      </p:sp>
      <p:sp>
        <p:nvSpPr>
          <p:cNvPr id="15" name="Text 12"/>
          <p:cNvSpPr/>
          <p:nvPr/>
        </p:nvSpPr>
        <p:spPr>
          <a:xfrm>
            <a:off x="6355080" y="4370832"/>
            <a:ext cx="5303520" cy="1554480"/>
          </a:xfrm>
          <a:prstGeom prst="rect">
            <a:avLst/>
          </a:prstGeom>
          <a:noFill/>
          <a:ln/>
        </p:spPr>
        <p:txBody>
          <a:bodyPr wrap="square" lIns="0" tIns="0" rIns="0" bIns="0" rtlCol="0" anchor="ctr"/>
          <a:lstStyle/>
          <a:p>
            <a:pPr marL="0" indent="0">
              <a:lnSpc>
                <a:spcPct val="145000"/>
              </a:lnSpc>
              <a:buNone/>
            </a:pPr>
            <a:r>
              <a:rPr lang="en-US" sz="1300" i="1" dirty="0">
                <a:solidFill>
                  <a:srgbClr val="FFFFFF"/>
                </a:solidFill>
                <a:latin typeface="Georgia" pitchFamily="34" charset="0"/>
                <a:ea typeface="Georgia" pitchFamily="34" charset="-122"/>
                <a:cs typeface="Georgia" pitchFamily="34" charset="-120"/>
              </a:rPr>
              <a:t>To protect the public Interest and deliver quality professional services to our clients with Integrity, Competence, Knowledge and Ethical values.</a:t>
            </a:r>
            <a:endParaRPr lang="en-US" sz="1300" dirty="0"/>
          </a:p>
        </p:txBody>
      </p:sp>
      <p:sp>
        <p:nvSpPr>
          <p:cNvPr id="16" name="Shape 13"/>
          <p:cNvSpPr/>
          <p:nvPr/>
        </p:nvSpPr>
        <p:spPr>
          <a:xfrm>
            <a:off x="109728" y="6236208"/>
            <a:ext cx="12051792" cy="621792"/>
          </a:xfrm>
          <a:prstGeom prst="rect">
            <a:avLst/>
          </a:prstGeom>
          <a:solidFill>
            <a:srgbClr val="2D6A32"/>
          </a:solidFill>
          <a:ln w="12700">
            <a:solidFill>
              <a:srgbClr val="2D6A32"/>
            </a:solidFill>
            <a:prstDash val="solid"/>
          </a:ln>
        </p:spPr>
        <p:txBody>
          <a:bodyPr/>
          <a:lstStyle/>
          <a:p>
            <a:endParaRPr lang="en-AE"/>
          </a:p>
        </p:txBody>
      </p:sp>
      <p:sp>
        <p:nvSpPr>
          <p:cNvPr id="17" name="Text 14"/>
          <p:cNvSpPr/>
          <p:nvPr/>
        </p:nvSpPr>
        <p:spPr>
          <a:xfrm>
            <a:off x="320040" y="6263640"/>
            <a:ext cx="11704320" cy="54864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Assurance Corp is an Audit, Risk Advisory, Financial Advisory, Accounting and Management Consultancy Company composed of experts with diverse industry experience and knowledge.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D6A32"/>
          </a:solidFill>
          <a:ln w="12700">
            <a:solidFill>
              <a:srgbClr val="2D6A32"/>
            </a:solidFill>
            <a:prstDash val="solid"/>
          </a:ln>
        </p:spPr>
        <p:txBody>
          <a:bodyPr/>
          <a:lstStyle/>
          <a:p>
            <a:endParaRPr lang="en-AE"/>
          </a:p>
        </p:txBody>
      </p:sp>
      <p:sp>
        <p:nvSpPr>
          <p:cNvPr id="3" name="Shape 1"/>
          <p:cNvSpPr/>
          <p:nvPr/>
        </p:nvSpPr>
        <p:spPr>
          <a:xfrm>
            <a:off x="109728" y="0"/>
            <a:ext cx="12051792" cy="1188720"/>
          </a:xfrm>
          <a:prstGeom prst="rect">
            <a:avLst/>
          </a:prstGeom>
          <a:solidFill>
            <a:srgbClr val="F5F5F3"/>
          </a:solidFill>
          <a:ln w="12700">
            <a:solidFill>
              <a:srgbClr val="F5F5F3"/>
            </a:solidFill>
            <a:prstDash val="solid"/>
          </a:ln>
        </p:spPr>
        <p:txBody>
          <a:bodyPr/>
          <a:lstStyle/>
          <a:p>
            <a:endParaRPr lang="en-AE"/>
          </a:p>
        </p:txBody>
      </p:sp>
      <p:pic>
        <p:nvPicPr>
          <p:cNvPr id="4" name="Image 0" descr="preencoded.png"/>
          <p:cNvPicPr>
            <a:picLocks noChangeAspect="1"/>
          </p:cNvPicPr>
          <p:nvPr/>
        </p:nvPicPr>
        <p:blipFill>
          <a:blip r:embed="rId3"/>
          <a:stretch>
            <a:fillRect/>
          </a:stretch>
        </p:blipFill>
        <p:spPr>
          <a:xfrm>
            <a:off x="320040" y="201168"/>
            <a:ext cx="2286000" cy="804672"/>
          </a:xfrm>
          <a:prstGeom prst="rect">
            <a:avLst/>
          </a:prstGeom>
        </p:spPr>
      </p:pic>
      <p:sp>
        <p:nvSpPr>
          <p:cNvPr id="5" name="Text 2"/>
          <p:cNvSpPr/>
          <p:nvPr/>
        </p:nvSpPr>
        <p:spPr>
          <a:xfrm>
            <a:off x="3200400" y="164592"/>
            <a:ext cx="7315200" cy="274320"/>
          </a:xfrm>
          <a:prstGeom prst="rect">
            <a:avLst/>
          </a:prstGeom>
          <a:noFill/>
          <a:ln/>
        </p:spPr>
        <p:txBody>
          <a:bodyPr wrap="square" lIns="0" tIns="0" rIns="0" bIns="0" rtlCol="0" anchor="ctr"/>
          <a:lstStyle/>
          <a:p>
            <a:pPr marL="0" indent="0">
              <a:buNone/>
            </a:pPr>
            <a:r>
              <a:rPr lang="en-US" sz="800" b="1" kern="0" spc="500" dirty="0">
                <a:solidFill>
                  <a:srgbClr val="2D6A32"/>
                </a:solidFill>
              </a:rPr>
              <a:t>LEADERSHIP PROFILE</a:t>
            </a:r>
            <a:endParaRPr lang="en-US" sz="800" dirty="0"/>
          </a:p>
        </p:txBody>
      </p:sp>
      <p:sp>
        <p:nvSpPr>
          <p:cNvPr id="6" name="Text 3"/>
          <p:cNvSpPr/>
          <p:nvPr/>
        </p:nvSpPr>
        <p:spPr>
          <a:xfrm>
            <a:off x="3200400" y="457200"/>
            <a:ext cx="8229600" cy="594360"/>
          </a:xfrm>
          <a:prstGeom prst="rect">
            <a:avLst/>
          </a:prstGeom>
          <a:noFill/>
          <a:ln/>
        </p:spPr>
        <p:txBody>
          <a:bodyPr wrap="square" lIns="0" tIns="0" rIns="0" bIns="0" rtlCol="0" anchor="ctr"/>
          <a:lstStyle/>
          <a:p>
            <a:pPr marL="0" indent="0">
              <a:buNone/>
            </a:pPr>
            <a:r>
              <a:rPr lang="en-US" sz="2400" b="1" dirty="0">
                <a:solidFill>
                  <a:srgbClr val="2D2D2D"/>
                </a:solidFill>
                <a:latin typeface="Georgia" pitchFamily="34" charset="0"/>
                <a:ea typeface="Georgia" pitchFamily="34" charset="-122"/>
                <a:cs typeface="Georgia" pitchFamily="34" charset="-120"/>
              </a:rPr>
              <a:t>Chairman</a:t>
            </a:r>
            <a:endParaRPr lang="en-US" sz="2400" dirty="0"/>
          </a:p>
        </p:txBody>
      </p:sp>
      <p:sp>
        <p:nvSpPr>
          <p:cNvPr id="7" name="Shape 4"/>
          <p:cNvSpPr/>
          <p:nvPr/>
        </p:nvSpPr>
        <p:spPr>
          <a:xfrm>
            <a:off x="320040" y="1353312"/>
            <a:ext cx="2651760" cy="2651760"/>
          </a:xfrm>
          <a:prstGeom prst="ellipse">
            <a:avLst/>
          </a:prstGeom>
          <a:solidFill>
            <a:srgbClr val="2D6A32"/>
          </a:solidFill>
          <a:ln w="12700">
            <a:solidFill>
              <a:srgbClr val="2D6A32"/>
            </a:solidFill>
            <a:prstDash val="solid"/>
          </a:ln>
        </p:spPr>
        <p:txBody>
          <a:bodyPr/>
          <a:lstStyle/>
          <a:p>
            <a:endParaRPr lang="en-AE"/>
          </a:p>
        </p:txBody>
      </p:sp>
      <p:sp>
        <p:nvSpPr>
          <p:cNvPr id="8" name="Text 5"/>
          <p:cNvSpPr/>
          <p:nvPr/>
        </p:nvSpPr>
        <p:spPr>
          <a:xfrm>
            <a:off x="320040" y="1353312"/>
            <a:ext cx="2651760" cy="2651760"/>
          </a:xfrm>
          <a:prstGeom prst="rect">
            <a:avLst/>
          </a:prstGeom>
          <a:noFill/>
          <a:ln/>
        </p:spPr>
        <p:txBody>
          <a:bodyPr wrap="square" lIns="0" tIns="0" rIns="0" bIns="0" rtlCol="0" anchor="ctr"/>
          <a:lstStyle/>
          <a:p>
            <a:pPr marL="0" indent="0" algn="ctr">
              <a:buNone/>
            </a:pPr>
            <a:r>
              <a:rPr lang="en-US" sz="5000" b="1" dirty="0">
                <a:solidFill>
                  <a:srgbClr val="FFFFFF"/>
                </a:solidFill>
                <a:latin typeface="Georgia" pitchFamily="34" charset="0"/>
                <a:ea typeface="Georgia" pitchFamily="34" charset="-122"/>
                <a:cs typeface="Georgia" pitchFamily="34" charset="-120"/>
              </a:rPr>
              <a:t>ASJ</a:t>
            </a:r>
            <a:endParaRPr lang="en-US" sz="5000" dirty="0"/>
          </a:p>
        </p:txBody>
      </p:sp>
      <p:sp>
        <p:nvSpPr>
          <p:cNvPr id="9" name="Text 6"/>
          <p:cNvSpPr/>
          <p:nvPr/>
        </p:nvSpPr>
        <p:spPr>
          <a:xfrm>
            <a:off x="3200400" y="1371600"/>
            <a:ext cx="8641080" cy="658368"/>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Abdulla Saeed Al-Jneibi</a:t>
            </a:r>
            <a:endParaRPr lang="en-US" sz="2600" dirty="0"/>
          </a:p>
        </p:txBody>
      </p:sp>
      <p:sp>
        <p:nvSpPr>
          <p:cNvPr id="10" name="Shape 7"/>
          <p:cNvSpPr/>
          <p:nvPr/>
        </p:nvSpPr>
        <p:spPr>
          <a:xfrm>
            <a:off x="3200400" y="2066544"/>
            <a:ext cx="3474720" cy="54864"/>
          </a:xfrm>
          <a:prstGeom prst="rect">
            <a:avLst/>
          </a:prstGeom>
          <a:solidFill>
            <a:srgbClr val="6BBF5A"/>
          </a:solidFill>
          <a:ln w="12700">
            <a:solidFill>
              <a:srgbClr val="6BBF5A"/>
            </a:solidFill>
            <a:prstDash val="solid"/>
          </a:ln>
        </p:spPr>
        <p:txBody>
          <a:bodyPr/>
          <a:lstStyle/>
          <a:p>
            <a:endParaRPr lang="en-AE"/>
          </a:p>
        </p:txBody>
      </p:sp>
      <p:sp>
        <p:nvSpPr>
          <p:cNvPr id="11" name="Text 8"/>
          <p:cNvSpPr/>
          <p:nvPr/>
        </p:nvSpPr>
        <p:spPr>
          <a:xfrm>
            <a:off x="3200400" y="2176272"/>
            <a:ext cx="4572000" cy="320040"/>
          </a:xfrm>
          <a:prstGeom prst="rect">
            <a:avLst/>
          </a:prstGeom>
          <a:noFill/>
          <a:ln/>
        </p:spPr>
        <p:txBody>
          <a:bodyPr wrap="square" lIns="0" tIns="0" rIns="0" bIns="0" rtlCol="0" anchor="ctr"/>
          <a:lstStyle/>
          <a:p>
            <a:pPr marL="0" indent="0">
              <a:buNone/>
            </a:pPr>
            <a:r>
              <a:rPr lang="en-US" sz="1400" b="1" dirty="0">
                <a:solidFill>
                  <a:srgbClr val="2D6A32"/>
                </a:solidFill>
                <a:latin typeface="Calibri" pitchFamily="34" charset="0"/>
                <a:ea typeface="Calibri" pitchFamily="34" charset="-122"/>
                <a:cs typeface="Calibri" pitchFamily="34" charset="-120"/>
              </a:rPr>
              <a:t>Chairman</a:t>
            </a:r>
            <a:endParaRPr lang="en-US" sz="1400" dirty="0"/>
          </a:p>
        </p:txBody>
      </p:sp>
      <p:sp>
        <p:nvSpPr>
          <p:cNvPr id="12" name="Text 9"/>
          <p:cNvSpPr/>
          <p:nvPr/>
        </p:nvSpPr>
        <p:spPr>
          <a:xfrm>
            <a:off x="3200400" y="2523744"/>
            <a:ext cx="8229600" cy="274320"/>
          </a:xfrm>
          <a:prstGeom prst="rect">
            <a:avLst/>
          </a:prstGeom>
          <a:noFill/>
          <a:ln/>
        </p:spPr>
        <p:txBody>
          <a:bodyPr wrap="square" lIns="0" tIns="0" rIns="0" bIns="0" rtlCol="0" anchor="ctr"/>
          <a:lstStyle/>
          <a:p>
            <a:pPr marL="0" indent="0">
              <a:buNone/>
            </a:pPr>
            <a:r>
              <a:rPr lang="en-US" sz="1100" i="1" dirty="0">
                <a:solidFill>
                  <a:srgbClr val="888888"/>
                </a:solidFill>
                <a:latin typeface="Calibri" pitchFamily="34" charset="0"/>
                <a:ea typeface="Calibri" pitchFamily="34" charset="-122"/>
                <a:cs typeface="Calibri" pitchFamily="34" charset="-120"/>
              </a:rPr>
              <a:t>MBA  |  CISA  |  CFE  |  UAEAA  |  UAE National, Abu Dhabi</a:t>
            </a:r>
            <a:endParaRPr lang="en-US" sz="1100" dirty="0"/>
          </a:p>
        </p:txBody>
      </p:sp>
      <p:sp>
        <p:nvSpPr>
          <p:cNvPr id="13" name="Text 10"/>
          <p:cNvSpPr/>
          <p:nvPr/>
        </p:nvSpPr>
        <p:spPr>
          <a:xfrm>
            <a:off x="3200400" y="2926080"/>
            <a:ext cx="8641080" cy="1874520"/>
          </a:xfrm>
          <a:prstGeom prst="rect">
            <a:avLst/>
          </a:prstGeom>
          <a:noFill/>
          <a:ln/>
        </p:spPr>
        <p:txBody>
          <a:bodyPr wrap="square" lIns="0" tIns="0" rIns="0" bIns="0" rtlCol="0" anchor="ctr"/>
          <a:lstStyle/>
          <a:p>
            <a:pPr marL="0" indent="0">
              <a:lnSpc>
                <a:spcPct val="150000"/>
              </a:lnSpc>
              <a:buNone/>
            </a:pPr>
            <a:r>
              <a:rPr lang="en-US" sz="1150" dirty="0">
                <a:solidFill>
                  <a:srgbClr val="4A4A4A"/>
                </a:solidFill>
                <a:latin typeface="Calibri" pitchFamily="34" charset="0"/>
                <a:ea typeface="Calibri" pitchFamily="34" charset="-122"/>
                <a:cs typeface="Calibri" pitchFamily="34" charset="-120"/>
              </a:rPr>
              <a:t>A seasoned governance and assurance leader with 14+ years of experience providing independent assurance and governance advisory to Audit Committees and executive leadership across government, higher education, and energy sectors. Currently Internal Audit Director at Mohamed Bin Zayed University for Humanities. Previously held senior audit and internal controls roles at ADNOC and ADNOC Distribution — including supporting the company's IPO and ADX listing — and conducted major audits at ZADCO including the UZ750 megaproject.</a:t>
            </a:r>
            <a:endParaRPr lang="en-US" sz="1150" dirty="0"/>
          </a:p>
        </p:txBody>
      </p:sp>
      <p:sp>
        <p:nvSpPr>
          <p:cNvPr id="14" name="Text 11"/>
          <p:cNvSpPr/>
          <p:nvPr/>
        </p:nvSpPr>
        <p:spPr>
          <a:xfrm>
            <a:off x="320040" y="4187952"/>
            <a:ext cx="2651760" cy="256032"/>
          </a:xfrm>
          <a:prstGeom prst="rect">
            <a:avLst/>
          </a:prstGeom>
          <a:noFill/>
          <a:ln/>
        </p:spPr>
        <p:txBody>
          <a:bodyPr wrap="square" lIns="0" tIns="0" rIns="0" bIns="0" rtlCol="0" anchor="ctr"/>
          <a:lstStyle/>
          <a:p>
            <a:pPr marL="0" indent="0">
              <a:buNone/>
            </a:pPr>
            <a:r>
              <a:rPr lang="en-US" sz="750" b="1" kern="0" spc="300" dirty="0">
                <a:solidFill>
                  <a:srgbClr val="2D6A32"/>
                </a:solidFill>
              </a:rPr>
              <a:t>AREAS OF EXPERTISE</a:t>
            </a:r>
            <a:endParaRPr lang="en-US" sz="750" dirty="0"/>
          </a:p>
        </p:txBody>
      </p:sp>
      <p:sp>
        <p:nvSpPr>
          <p:cNvPr id="15" name="Shape 12"/>
          <p:cNvSpPr/>
          <p:nvPr/>
        </p:nvSpPr>
        <p:spPr>
          <a:xfrm>
            <a:off x="320040" y="4498848"/>
            <a:ext cx="2651760" cy="347472"/>
          </a:xfrm>
          <a:prstGeom prst="rect">
            <a:avLst/>
          </a:prstGeom>
          <a:solidFill>
            <a:srgbClr val="F5F5F3"/>
          </a:solidFill>
          <a:ln w="12700">
            <a:solidFill>
              <a:srgbClr val="E0E0D8"/>
            </a:solidFill>
            <a:prstDash val="solid"/>
          </a:ln>
        </p:spPr>
        <p:txBody>
          <a:bodyPr/>
          <a:lstStyle/>
          <a:p>
            <a:endParaRPr lang="en-AE"/>
          </a:p>
        </p:txBody>
      </p:sp>
      <p:sp>
        <p:nvSpPr>
          <p:cNvPr id="16" name="Shape 13"/>
          <p:cNvSpPr/>
          <p:nvPr/>
        </p:nvSpPr>
        <p:spPr>
          <a:xfrm>
            <a:off x="320040" y="4498848"/>
            <a:ext cx="64008" cy="347472"/>
          </a:xfrm>
          <a:prstGeom prst="rect">
            <a:avLst/>
          </a:prstGeom>
          <a:solidFill>
            <a:srgbClr val="6BBF5A"/>
          </a:solidFill>
          <a:ln w="12700">
            <a:solidFill>
              <a:srgbClr val="6BBF5A"/>
            </a:solidFill>
            <a:prstDash val="solid"/>
          </a:ln>
        </p:spPr>
        <p:txBody>
          <a:bodyPr/>
          <a:lstStyle/>
          <a:p>
            <a:endParaRPr lang="en-AE"/>
          </a:p>
        </p:txBody>
      </p:sp>
      <p:sp>
        <p:nvSpPr>
          <p:cNvPr id="17" name="Text 14"/>
          <p:cNvSpPr/>
          <p:nvPr/>
        </p:nvSpPr>
        <p:spPr>
          <a:xfrm>
            <a:off x="429768" y="4498848"/>
            <a:ext cx="2514600" cy="347472"/>
          </a:xfrm>
          <a:prstGeom prst="rect">
            <a:avLst/>
          </a:prstGeom>
          <a:noFill/>
          <a:ln/>
        </p:spPr>
        <p:txBody>
          <a:bodyPr wrap="square" lIns="0" tIns="0" rIns="0" bIns="0" rtlCol="0" anchor="ctr"/>
          <a:lstStyle/>
          <a:p>
            <a:pPr marL="0" indent="0">
              <a:buNone/>
            </a:pPr>
            <a:r>
              <a:rPr lang="en-US" sz="900" dirty="0">
                <a:solidFill>
                  <a:srgbClr val="4A4A4A"/>
                </a:solidFill>
              </a:rPr>
              <a:t>Audit Committee &amp; Board Advisory</a:t>
            </a:r>
            <a:endParaRPr lang="en-US" sz="900" dirty="0"/>
          </a:p>
        </p:txBody>
      </p:sp>
      <p:sp>
        <p:nvSpPr>
          <p:cNvPr id="18" name="Shape 15"/>
          <p:cNvSpPr/>
          <p:nvPr/>
        </p:nvSpPr>
        <p:spPr>
          <a:xfrm>
            <a:off x="320040" y="4892040"/>
            <a:ext cx="2651760" cy="347472"/>
          </a:xfrm>
          <a:prstGeom prst="rect">
            <a:avLst/>
          </a:prstGeom>
          <a:solidFill>
            <a:srgbClr val="F5F5F3"/>
          </a:solidFill>
          <a:ln w="12700">
            <a:solidFill>
              <a:srgbClr val="E0E0D8"/>
            </a:solidFill>
            <a:prstDash val="solid"/>
          </a:ln>
        </p:spPr>
        <p:txBody>
          <a:bodyPr/>
          <a:lstStyle/>
          <a:p>
            <a:endParaRPr lang="en-AE"/>
          </a:p>
        </p:txBody>
      </p:sp>
      <p:sp>
        <p:nvSpPr>
          <p:cNvPr id="19" name="Shape 16"/>
          <p:cNvSpPr/>
          <p:nvPr/>
        </p:nvSpPr>
        <p:spPr>
          <a:xfrm>
            <a:off x="320040" y="4892040"/>
            <a:ext cx="64008" cy="347472"/>
          </a:xfrm>
          <a:prstGeom prst="rect">
            <a:avLst/>
          </a:prstGeom>
          <a:solidFill>
            <a:srgbClr val="6BBF5A"/>
          </a:solidFill>
          <a:ln w="12700">
            <a:solidFill>
              <a:srgbClr val="6BBF5A"/>
            </a:solidFill>
            <a:prstDash val="solid"/>
          </a:ln>
        </p:spPr>
        <p:txBody>
          <a:bodyPr/>
          <a:lstStyle/>
          <a:p>
            <a:endParaRPr lang="en-AE"/>
          </a:p>
        </p:txBody>
      </p:sp>
      <p:sp>
        <p:nvSpPr>
          <p:cNvPr id="20" name="Text 17"/>
          <p:cNvSpPr/>
          <p:nvPr/>
        </p:nvSpPr>
        <p:spPr>
          <a:xfrm>
            <a:off x="429768" y="4892040"/>
            <a:ext cx="2514600" cy="347472"/>
          </a:xfrm>
          <a:prstGeom prst="rect">
            <a:avLst/>
          </a:prstGeom>
          <a:noFill/>
          <a:ln/>
        </p:spPr>
        <p:txBody>
          <a:bodyPr wrap="square" lIns="0" tIns="0" rIns="0" bIns="0" rtlCol="0" anchor="ctr"/>
          <a:lstStyle/>
          <a:p>
            <a:pPr marL="0" indent="0">
              <a:buNone/>
            </a:pPr>
            <a:r>
              <a:rPr lang="en-US" sz="900" dirty="0">
                <a:solidFill>
                  <a:srgbClr val="4A4A4A"/>
                </a:solidFill>
              </a:rPr>
              <a:t>Enterprise Assurance (RBIA)</a:t>
            </a:r>
            <a:endParaRPr lang="en-US" sz="900" dirty="0"/>
          </a:p>
        </p:txBody>
      </p:sp>
      <p:sp>
        <p:nvSpPr>
          <p:cNvPr id="21" name="Shape 18"/>
          <p:cNvSpPr/>
          <p:nvPr/>
        </p:nvSpPr>
        <p:spPr>
          <a:xfrm>
            <a:off x="320040" y="5285232"/>
            <a:ext cx="2651760" cy="347472"/>
          </a:xfrm>
          <a:prstGeom prst="rect">
            <a:avLst/>
          </a:prstGeom>
          <a:solidFill>
            <a:srgbClr val="F5F5F3"/>
          </a:solidFill>
          <a:ln w="12700">
            <a:solidFill>
              <a:srgbClr val="E0E0D8"/>
            </a:solidFill>
            <a:prstDash val="solid"/>
          </a:ln>
        </p:spPr>
        <p:txBody>
          <a:bodyPr/>
          <a:lstStyle/>
          <a:p>
            <a:endParaRPr lang="en-AE"/>
          </a:p>
        </p:txBody>
      </p:sp>
      <p:sp>
        <p:nvSpPr>
          <p:cNvPr id="22" name="Shape 19"/>
          <p:cNvSpPr/>
          <p:nvPr/>
        </p:nvSpPr>
        <p:spPr>
          <a:xfrm>
            <a:off x="320040" y="5285232"/>
            <a:ext cx="64008" cy="347472"/>
          </a:xfrm>
          <a:prstGeom prst="rect">
            <a:avLst/>
          </a:prstGeom>
          <a:solidFill>
            <a:srgbClr val="6BBF5A"/>
          </a:solidFill>
          <a:ln w="12700">
            <a:solidFill>
              <a:srgbClr val="6BBF5A"/>
            </a:solidFill>
            <a:prstDash val="solid"/>
          </a:ln>
        </p:spPr>
        <p:txBody>
          <a:bodyPr/>
          <a:lstStyle/>
          <a:p>
            <a:endParaRPr lang="en-AE"/>
          </a:p>
        </p:txBody>
      </p:sp>
      <p:sp>
        <p:nvSpPr>
          <p:cNvPr id="23" name="Text 20"/>
          <p:cNvSpPr/>
          <p:nvPr/>
        </p:nvSpPr>
        <p:spPr>
          <a:xfrm>
            <a:off x="429768" y="5285232"/>
            <a:ext cx="2514600" cy="347472"/>
          </a:xfrm>
          <a:prstGeom prst="rect">
            <a:avLst/>
          </a:prstGeom>
          <a:noFill/>
          <a:ln/>
        </p:spPr>
        <p:txBody>
          <a:bodyPr wrap="square" lIns="0" tIns="0" rIns="0" bIns="0" rtlCol="0" anchor="ctr"/>
          <a:lstStyle/>
          <a:p>
            <a:pPr marL="0" indent="0">
              <a:buNone/>
            </a:pPr>
            <a:r>
              <a:rPr lang="en-US" sz="900" dirty="0">
                <a:solidFill>
                  <a:srgbClr val="4A4A4A"/>
                </a:solidFill>
              </a:rPr>
              <a:t>Governance &amp; Risk Oversight</a:t>
            </a:r>
            <a:endParaRPr lang="en-US" sz="900" dirty="0"/>
          </a:p>
        </p:txBody>
      </p:sp>
      <p:sp>
        <p:nvSpPr>
          <p:cNvPr id="24" name="Shape 21"/>
          <p:cNvSpPr/>
          <p:nvPr/>
        </p:nvSpPr>
        <p:spPr>
          <a:xfrm>
            <a:off x="320040" y="5678424"/>
            <a:ext cx="2651760" cy="347472"/>
          </a:xfrm>
          <a:prstGeom prst="rect">
            <a:avLst/>
          </a:prstGeom>
          <a:solidFill>
            <a:srgbClr val="F5F5F3"/>
          </a:solidFill>
          <a:ln w="12700">
            <a:solidFill>
              <a:srgbClr val="E0E0D8"/>
            </a:solidFill>
            <a:prstDash val="solid"/>
          </a:ln>
        </p:spPr>
        <p:txBody>
          <a:bodyPr/>
          <a:lstStyle/>
          <a:p>
            <a:endParaRPr lang="en-AE"/>
          </a:p>
        </p:txBody>
      </p:sp>
      <p:sp>
        <p:nvSpPr>
          <p:cNvPr id="25" name="Shape 22"/>
          <p:cNvSpPr/>
          <p:nvPr/>
        </p:nvSpPr>
        <p:spPr>
          <a:xfrm>
            <a:off x="320040" y="5678424"/>
            <a:ext cx="64008" cy="347472"/>
          </a:xfrm>
          <a:prstGeom prst="rect">
            <a:avLst/>
          </a:prstGeom>
          <a:solidFill>
            <a:srgbClr val="6BBF5A"/>
          </a:solidFill>
          <a:ln w="12700">
            <a:solidFill>
              <a:srgbClr val="6BBF5A"/>
            </a:solidFill>
            <a:prstDash val="solid"/>
          </a:ln>
        </p:spPr>
        <p:txBody>
          <a:bodyPr/>
          <a:lstStyle/>
          <a:p>
            <a:endParaRPr lang="en-AE"/>
          </a:p>
        </p:txBody>
      </p:sp>
      <p:sp>
        <p:nvSpPr>
          <p:cNvPr id="26" name="Text 23"/>
          <p:cNvSpPr/>
          <p:nvPr/>
        </p:nvSpPr>
        <p:spPr>
          <a:xfrm>
            <a:off x="429768" y="5678424"/>
            <a:ext cx="2514600" cy="347472"/>
          </a:xfrm>
          <a:prstGeom prst="rect">
            <a:avLst/>
          </a:prstGeom>
          <a:noFill/>
          <a:ln/>
        </p:spPr>
        <p:txBody>
          <a:bodyPr wrap="square" lIns="0" tIns="0" rIns="0" bIns="0" rtlCol="0" anchor="ctr"/>
          <a:lstStyle/>
          <a:p>
            <a:pPr marL="0" indent="0">
              <a:buNone/>
            </a:pPr>
            <a:r>
              <a:rPr lang="en-US" sz="900" dirty="0">
                <a:solidFill>
                  <a:srgbClr val="4A4A4A"/>
                </a:solidFill>
              </a:rPr>
              <a:t>Regulatory &amp; Public-Sector Accountability</a:t>
            </a:r>
            <a:endParaRPr lang="en-US" sz="900" dirty="0"/>
          </a:p>
        </p:txBody>
      </p:sp>
      <p:sp>
        <p:nvSpPr>
          <p:cNvPr id="27" name="Shape 24"/>
          <p:cNvSpPr/>
          <p:nvPr/>
        </p:nvSpPr>
        <p:spPr>
          <a:xfrm>
            <a:off x="320040" y="6071616"/>
            <a:ext cx="2651760" cy="347472"/>
          </a:xfrm>
          <a:prstGeom prst="rect">
            <a:avLst/>
          </a:prstGeom>
          <a:solidFill>
            <a:srgbClr val="F5F5F3"/>
          </a:solidFill>
          <a:ln w="12700">
            <a:solidFill>
              <a:srgbClr val="E0E0D8"/>
            </a:solidFill>
            <a:prstDash val="solid"/>
          </a:ln>
        </p:spPr>
        <p:txBody>
          <a:bodyPr/>
          <a:lstStyle/>
          <a:p>
            <a:endParaRPr lang="en-AE"/>
          </a:p>
        </p:txBody>
      </p:sp>
      <p:sp>
        <p:nvSpPr>
          <p:cNvPr id="28" name="Shape 25"/>
          <p:cNvSpPr/>
          <p:nvPr/>
        </p:nvSpPr>
        <p:spPr>
          <a:xfrm>
            <a:off x="320040" y="6071616"/>
            <a:ext cx="64008" cy="347472"/>
          </a:xfrm>
          <a:prstGeom prst="rect">
            <a:avLst/>
          </a:prstGeom>
          <a:solidFill>
            <a:srgbClr val="6BBF5A"/>
          </a:solidFill>
          <a:ln w="12700">
            <a:solidFill>
              <a:srgbClr val="6BBF5A"/>
            </a:solidFill>
            <a:prstDash val="solid"/>
          </a:ln>
        </p:spPr>
        <p:txBody>
          <a:bodyPr/>
          <a:lstStyle/>
          <a:p>
            <a:endParaRPr lang="en-AE"/>
          </a:p>
        </p:txBody>
      </p:sp>
      <p:sp>
        <p:nvSpPr>
          <p:cNvPr id="29" name="Text 26"/>
          <p:cNvSpPr/>
          <p:nvPr/>
        </p:nvSpPr>
        <p:spPr>
          <a:xfrm>
            <a:off x="429768" y="6071616"/>
            <a:ext cx="2514600" cy="347472"/>
          </a:xfrm>
          <a:prstGeom prst="rect">
            <a:avLst/>
          </a:prstGeom>
          <a:noFill/>
          <a:ln/>
        </p:spPr>
        <p:txBody>
          <a:bodyPr wrap="square" lIns="0" tIns="0" rIns="0" bIns="0" rtlCol="0" anchor="ctr"/>
          <a:lstStyle/>
          <a:p>
            <a:pPr marL="0" indent="0">
              <a:buNone/>
            </a:pPr>
            <a:r>
              <a:rPr lang="en-US" sz="900" dirty="0">
                <a:solidFill>
                  <a:srgbClr val="4A4A4A"/>
                </a:solidFill>
              </a:rPr>
              <a:t>Internal Audit Strategy</a:t>
            </a:r>
            <a:endParaRPr lang="en-US" sz="900" dirty="0"/>
          </a:p>
        </p:txBody>
      </p:sp>
      <p:sp>
        <p:nvSpPr>
          <p:cNvPr id="30" name="Shape 27"/>
          <p:cNvSpPr/>
          <p:nvPr/>
        </p:nvSpPr>
        <p:spPr>
          <a:xfrm>
            <a:off x="320040" y="6464808"/>
            <a:ext cx="2651760" cy="347472"/>
          </a:xfrm>
          <a:prstGeom prst="rect">
            <a:avLst/>
          </a:prstGeom>
          <a:solidFill>
            <a:srgbClr val="F5F5F3"/>
          </a:solidFill>
          <a:ln w="12700">
            <a:solidFill>
              <a:srgbClr val="E0E0D8"/>
            </a:solidFill>
            <a:prstDash val="solid"/>
          </a:ln>
        </p:spPr>
        <p:txBody>
          <a:bodyPr/>
          <a:lstStyle/>
          <a:p>
            <a:endParaRPr lang="en-AE"/>
          </a:p>
        </p:txBody>
      </p:sp>
      <p:sp>
        <p:nvSpPr>
          <p:cNvPr id="31" name="Shape 28"/>
          <p:cNvSpPr/>
          <p:nvPr/>
        </p:nvSpPr>
        <p:spPr>
          <a:xfrm>
            <a:off x="320040" y="6464808"/>
            <a:ext cx="64008" cy="347472"/>
          </a:xfrm>
          <a:prstGeom prst="rect">
            <a:avLst/>
          </a:prstGeom>
          <a:solidFill>
            <a:srgbClr val="6BBF5A"/>
          </a:solidFill>
          <a:ln w="12700">
            <a:solidFill>
              <a:srgbClr val="6BBF5A"/>
            </a:solidFill>
            <a:prstDash val="solid"/>
          </a:ln>
        </p:spPr>
        <p:txBody>
          <a:bodyPr/>
          <a:lstStyle/>
          <a:p>
            <a:endParaRPr lang="en-AE"/>
          </a:p>
        </p:txBody>
      </p:sp>
      <p:sp>
        <p:nvSpPr>
          <p:cNvPr id="32" name="Text 29"/>
          <p:cNvSpPr/>
          <p:nvPr/>
        </p:nvSpPr>
        <p:spPr>
          <a:xfrm>
            <a:off x="429768" y="6464808"/>
            <a:ext cx="2514600" cy="347472"/>
          </a:xfrm>
          <a:prstGeom prst="rect">
            <a:avLst/>
          </a:prstGeom>
          <a:noFill/>
          <a:ln/>
        </p:spPr>
        <p:txBody>
          <a:bodyPr wrap="square" lIns="0" tIns="0" rIns="0" bIns="0" rtlCol="0" anchor="ctr"/>
          <a:lstStyle/>
          <a:p>
            <a:pPr marL="0" indent="0">
              <a:buNone/>
            </a:pPr>
            <a:r>
              <a:rPr lang="en-US" sz="900" dirty="0">
                <a:solidFill>
                  <a:srgbClr val="4A4A4A"/>
                </a:solidFill>
              </a:rPr>
              <a:t>IT Audit &amp; GRC Systems</a:t>
            </a:r>
            <a:endParaRPr lang="en-US" sz="900" dirty="0"/>
          </a:p>
        </p:txBody>
      </p:sp>
      <p:sp>
        <p:nvSpPr>
          <p:cNvPr id="33" name="Shape 30"/>
          <p:cNvSpPr/>
          <p:nvPr/>
        </p:nvSpPr>
        <p:spPr>
          <a:xfrm>
            <a:off x="3200400" y="5193792"/>
            <a:ext cx="2103120" cy="1481328"/>
          </a:xfrm>
          <a:prstGeom prst="rect">
            <a:avLst/>
          </a:prstGeom>
          <a:solidFill>
            <a:srgbClr val="383838"/>
          </a:solidFill>
          <a:ln w="12700">
            <a:solidFill>
              <a:srgbClr val="484848"/>
            </a:solidFill>
            <a:prstDash val="solid"/>
          </a:ln>
        </p:spPr>
        <p:txBody>
          <a:bodyPr/>
          <a:lstStyle/>
          <a:p>
            <a:endParaRPr lang="en-AE"/>
          </a:p>
        </p:txBody>
      </p:sp>
      <p:sp>
        <p:nvSpPr>
          <p:cNvPr id="34" name="Shape 31"/>
          <p:cNvSpPr/>
          <p:nvPr/>
        </p:nvSpPr>
        <p:spPr>
          <a:xfrm>
            <a:off x="3200400" y="5193792"/>
            <a:ext cx="2103120" cy="54864"/>
          </a:xfrm>
          <a:prstGeom prst="rect">
            <a:avLst/>
          </a:prstGeom>
          <a:solidFill>
            <a:srgbClr val="6BBF5A"/>
          </a:solidFill>
          <a:ln w="12700">
            <a:solidFill>
              <a:srgbClr val="6BBF5A"/>
            </a:solidFill>
            <a:prstDash val="solid"/>
          </a:ln>
        </p:spPr>
        <p:txBody>
          <a:bodyPr/>
          <a:lstStyle/>
          <a:p>
            <a:endParaRPr lang="en-AE"/>
          </a:p>
        </p:txBody>
      </p:sp>
      <p:sp>
        <p:nvSpPr>
          <p:cNvPr id="35" name="Text 32"/>
          <p:cNvSpPr/>
          <p:nvPr/>
        </p:nvSpPr>
        <p:spPr>
          <a:xfrm>
            <a:off x="3273552" y="5303520"/>
            <a:ext cx="1956816" cy="594360"/>
          </a:xfrm>
          <a:prstGeom prst="rect">
            <a:avLst/>
          </a:prstGeom>
          <a:noFill/>
          <a:ln/>
        </p:spPr>
        <p:txBody>
          <a:bodyPr wrap="square" lIns="0" tIns="0" rIns="0" bIns="0" rtlCol="0" anchor="ctr"/>
          <a:lstStyle/>
          <a:p>
            <a:pPr marL="0" indent="0" algn="ctr">
              <a:buNone/>
            </a:pPr>
            <a:r>
              <a:rPr lang="en-US" sz="1800" b="1" dirty="0">
                <a:solidFill>
                  <a:srgbClr val="6BBF5A"/>
                </a:solidFill>
                <a:latin typeface="Georgia" pitchFamily="34" charset="0"/>
                <a:ea typeface="Georgia" pitchFamily="34" charset="-122"/>
                <a:cs typeface="Georgia" pitchFamily="34" charset="-120"/>
              </a:rPr>
              <a:t>14+</a:t>
            </a:r>
            <a:endParaRPr lang="en-US" sz="1800" dirty="0"/>
          </a:p>
        </p:txBody>
      </p:sp>
      <p:sp>
        <p:nvSpPr>
          <p:cNvPr id="36" name="Text 33"/>
          <p:cNvSpPr/>
          <p:nvPr/>
        </p:nvSpPr>
        <p:spPr>
          <a:xfrm>
            <a:off x="3273552" y="5943600"/>
            <a:ext cx="1956816" cy="658368"/>
          </a:xfrm>
          <a:prstGeom prst="rect">
            <a:avLst/>
          </a:prstGeom>
          <a:noFill/>
          <a:ln/>
        </p:spPr>
        <p:txBody>
          <a:bodyPr wrap="square" lIns="0" tIns="0" rIns="0" bIns="0" rtlCol="0" anchor="ctr"/>
          <a:lstStyle/>
          <a:p>
            <a:pPr marL="0" indent="0" algn="ctr">
              <a:lnSpc>
                <a:spcPct val="130000"/>
              </a:lnSpc>
              <a:buNone/>
            </a:pPr>
            <a:r>
              <a:rPr lang="en-US" sz="950" dirty="0">
                <a:solidFill>
                  <a:srgbClr val="AAAAAA"/>
                </a:solidFill>
              </a:rPr>
              <a:t>Years</a:t>
            </a:r>
            <a:endParaRPr lang="en-US" sz="950" dirty="0"/>
          </a:p>
          <a:p>
            <a:pPr marL="0" indent="0" algn="ctr">
              <a:lnSpc>
                <a:spcPct val="130000"/>
              </a:lnSpc>
              <a:buNone/>
            </a:pPr>
            <a:r>
              <a:rPr lang="en-US" sz="950" dirty="0">
                <a:solidFill>
                  <a:srgbClr val="AAAAAA"/>
                </a:solidFill>
              </a:rPr>
              <a:t>Experience</a:t>
            </a:r>
            <a:endParaRPr lang="en-US" sz="950" dirty="0"/>
          </a:p>
        </p:txBody>
      </p:sp>
      <p:sp>
        <p:nvSpPr>
          <p:cNvPr id="37" name="Shape 34"/>
          <p:cNvSpPr/>
          <p:nvPr/>
        </p:nvSpPr>
        <p:spPr>
          <a:xfrm>
            <a:off x="5413248" y="5193792"/>
            <a:ext cx="2103120" cy="1481328"/>
          </a:xfrm>
          <a:prstGeom prst="rect">
            <a:avLst/>
          </a:prstGeom>
          <a:solidFill>
            <a:srgbClr val="383838"/>
          </a:solidFill>
          <a:ln w="12700">
            <a:solidFill>
              <a:srgbClr val="484848"/>
            </a:solidFill>
            <a:prstDash val="solid"/>
          </a:ln>
        </p:spPr>
        <p:txBody>
          <a:bodyPr/>
          <a:lstStyle/>
          <a:p>
            <a:endParaRPr lang="en-AE"/>
          </a:p>
        </p:txBody>
      </p:sp>
      <p:sp>
        <p:nvSpPr>
          <p:cNvPr id="38" name="Shape 35"/>
          <p:cNvSpPr/>
          <p:nvPr/>
        </p:nvSpPr>
        <p:spPr>
          <a:xfrm>
            <a:off x="5413248" y="5193792"/>
            <a:ext cx="2103120" cy="54864"/>
          </a:xfrm>
          <a:prstGeom prst="rect">
            <a:avLst/>
          </a:prstGeom>
          <a:solidFill>
            <a:srgbClr val="6BBF5A"/>
          </a:solidFill>
          <a:ln w="12700">
            <a:solidFill>
              <a:srgbClr val="6BBF5A"/>
            </a:solidFill>
            <a:prstDash val="solid"/>
          </a:ln>
        </p:spPr>
        <p:txBody>
          <a:bodyPr/>
          <a:lstStyle/>
          <a:p>
            <a:endParaRPr lang="en-AE"/>
          </a:p>
        </p:txBody>
      </p:sp>
      <p:sp>
        <p:nvSpPr>
          <p:cNvPr id="39" name="Text 36"/>
          <p:cNvSpPr/>
          <p:nvPr/>
        </p:nvSpPr>
        <p:spPr>
          <a:xfrm>
            <a:off x="5486400" y="5303520"/>
            <a:ext cx="1956816" cy="594360"/>
          </a:xfrm>
          <a:prstGeom prst="rect">
            <a:avLst/>
          </a:prstGeom>
          <a:noFill/>
          <a:ln/>
        </p:spPr>
        <p:txBody>
          <a:bodyPr wrap="square" lIns="0" tIns="0" rIns="0" bIns="0" rtlCol="0" anchor="ctr"/>
          <a:lstStyle/>
          <a:p>
            <a:pPr marL="0" indent="0" algn="ctr">
              <a:buNone/>
            </a:pPr>
            <a:r>
              <a:rPr lang="en-US" sz="1800" b="1" dirty="0">
                <a:solidFill>
                  <a:srgbClr val="6BBF5A"/>
                </a:solidFill>
                <a:latin typeface="Georgia" pitchFamily="34" charset="0"/>
                <a:ea typeface="Georgia" pitchFamily="34" charset="-122"/>
                <a:cs typeface="Georgia" pitchFamily="34" charset="-120"/>
              </a:rPr>
              <a:t>ADNOC</a:t>
            </a:r>
            <a:endParaRPr lang="en-US" sz="1800" dirty="0"/>
          </a:p>
          <a:p>
            <a:pPr marL="0" indent="0" algn="ctr">
              <a:buNone/>
            </a:pPr>
            <a:r>
              <a:rPr lang="en-US" sz="1800" b="1" dirty="0">
                <a:solidFill>
                  <a:srgbClr val="6BBF5A"/>
                </a:solidFill>
                <a:latin typeface="Georgia" pitchFamily="34" charset="0"/>
                <a:ea typeface="Georgia" pitchFamily="34" charset="-122"/>
                <a:cs typeface="Georgia" pitchFamily="34" charset="-120"/>
              </a:rPr>
              <a:t>&amp; ADNOC Dist.</a:t>
            </a:r>
            <a:endParaRPr lang="en-US" sz="1800" dirty="0"/>
          </a:p>
        </p:txBody>
      </p:sp>
      <p:sp>
        <p:nvSpPr>
          <p:cNvPr id="40" name="Text 37"/>
          <p:cNvSpPr/>
          <p:nvPr/>
        </p:nvSpPr>
        <p:spPr>
          <a:xfrm>
            <a:off x="5486400" y="5943600"/>
            <a:ext cx="1956816" cy="658368"/>
          </a:xfrm>
          <a:prstGeom prst="rect">
            <a:avLst/>
          </a:prstGeom>
          <a:noFill/>
          <a:ln/>
        </p:spPr>
        <p:txBody>
          <a:bodyPr wrap="square" lIns="0" tIns="0" rIns="0" bIns="0" rtlCol="0" anchor="ctr"/>
          <a:lstStyle/>
          <a:p>
            <a:pPr marL="0" indent="0" algn="ctr">
              <a:lnSpc>
                <a:spcPct val="130000"/>
              </a:lnSpc>
              <a:buNone/>
            </a:pPr>
            <a:r>
              <a:rPr lang="en-US" sz="950" dirty="0">
                <a:solidFill>
                  <a:srgbClr val="AAAAAA"/>
                </a:solidFill>
              </a:rPr>
              <a:t>Energy Sector</a:t>
            </a:r>
            <a:endParaRPr lang="en-US" sz="950" dirty="0"/>
          </a:p>
          <a:p>
            <a:pPr marL="0" indent="0" algn="ctr">
              <a:lnSpc>
                <a:spcPct val="130000"/>
              </a:lnSpc>
              <a:buNone/>
            </a:pPr>
            <a:r>
              <a:rPr lang="en-US" sz="950" dirty="0">
                <a:solidFill>
                  <a:srgbClr val="AAAAAA"/>
                </a:solidFill>
              </a:rPr>
              <a:t>Leadership</a:t>
            </a:r>
            <a:endParaRPr lang="en-US" sz="950" dirty="0"/>
          </a:p>
        </p:txBody>
      </p:sp>
      <p:sp>
        <p:nvSpPr>
          <p:cNvPr id="41" name="Shape 38"/>
          <p:cNvSpPr/>
          <p:nvPr/>
        </p:nvSpPr>
        <p:spPr>
          <a:xfrm>
            <a:off x="7626096" y="5193792"/>
            <a:ext cx="2103120" cy="1481328"/>
          </a:xfrm>
          <a:prstGeom prst="rect">
            <a:avLst/>
          </a:prstGeom>
          <a:solidFill>
            <a:srgbClr val="383838"/>
          </a:solidFill>
          <a:ln w="12700">
            <a:solidFill>
              <a:srgbClr val="484848"/>
            </a:solidFill>
            <a:prstDash val="solid"/>
          </a:ln>
        </p:spPr>
        <p:txBody>
          <a:bodyPr/>
          <a:lstStyle/>
          <a:p>
            <a:endParaRPr lang="en-AE"/>
          </a:p>
        </p:txBody>
      </p:sp>
      <p:sp>
        <p:nvSpPr>
          <p:cNvPr id="42" name="Shape 39"/>
          <p:cNvSpPr/>
          <p:nvPr/>
        </p:nvSpPr>
        <p:spPr>
          <a:xfrm>
            <a:off x="7626096" y="5193792"/>
            <a:ext cx="2103120" cy="54864"/>
          </a:xfrm>
          <a:prstGeom prst="rect">
            <a:avLst/>
          </a:prstGeom>
          <a:solidFill>
            <a:srgbClr val="6BBF5A"/>
          </a:solidFill>
          <a:ln w="12700">
            <a:solidFill>
              <a:srgbClr val="6BBF5A"/>
            </a:solidFill>
            <a:prstDash val="solid"/>
          </a:ln>
        </p:spPr>
        <p:txBody>
          <a:bodyPr/>
          <a:lstStyle/>
          <a:p>
            <a:endParaRPr lang="en-AE"/>
          </a:p>
        </p:txBody>
      </p:sp>
      <p:sp>
        <p:nvSpPr>
          <p:cNvPr id="43" name="Text 40"/>
          <p:cNvSpPr/>
          <p:nvPr/>
        </p:nvSpPr>
        <p:spPr>
          <a:xfrm>
            <a:off x="7699248" y="5303520"/>
            <a:ext cx="1956816" cy="594360"/>
          </a:xfrm>
          <a:prstGeom prst="rect">
            <a:avLst/>
          </a:prstGeom>
          <a:noFill/>
          <a:ln/>
        </p:spPr>
        <p:txBody>
          <a:bodyPr wrap="square" lIns="0" tIns="0" rIns="0" bIns="0" rtlCol="0" anchor="ctr"/>
          <a:lstStyle/>
          <a:p>
            <a:pPr marL="0" indent="0" algn="ctr">
              <a:buNone/>
            </a:pPr>
            <a:r>
              <a:rPr lang="en-US" sz="1800" b="1" dirty="0">
                <a:solidFill>
                  <a:srgbClr val="6BBF5A"/>
                </a:solidFill>
                <a:latin typeface="Georgia" pitchFamily="34" charset="0"/>
                <a:ea typeface="Georgia" pitchFamily="34" charset="-122"/>
                <a:cs typeface="Georgia" pitchFamily="34" charset="-120"/>
              </a:rPr>
              <a:t>CISA · CFE</a:t>
            </a:r>
            <a:endParaRPr lang="en-US" sz="1800" dirty="0"/>
          </a:p>
        </p:txBody>
      </p:sp>
      <p:sp>
        <p:nvSpPr>
          <p:cNvPr id="44" name="Text 41"/>
          <p:cNvSpPr/>
          <p:nvPr/>
        </p:nvSpPr>
        <p:spPr>
          <a:xfrm>
            <a:off x="7699248" y="5943600"/>
            <a:ext cx="1956816" cy="658368"/>
          </a:xfrm>
          <a:prstGeom prst="rect">
            <a:avLst/>
          </a:prstGeom>
          <a:noFill/>
          <a:ln/>
        </p:spPr>
        <p:txBody>
          <a:bodyPr wrap="square" lIns="0" tIns="0" rIns="0" bIns="0" rtlCol="0" anchor="ctr"/>
          <a:lstStyle/>
          <a:p>
            <a:pPr marL="0" indent="0" algn="ctr">
              <a:lnSpc>
                <a:spcPct val="130000"/>
              </a:lnSpc>
              <a:buNone/>
            </a:pPr>
            <a:r>
              <a:rPr lang="en-US" sz="950" dirty="0">
                <a:solidFill>
                  <a:srgbClr val="AAAAAA"/>
                </a:solidFill>
              </a:rPr>
              <a:t>Professional</a:t>
            </a:r>
            <a:endParaRPr lang="en-US" sz="950" dirty="0"/>
          </a:p>
          <a:p>
            <a:pPr marL="0" indent="0" algn="ctr">
              <a:lnSpc>
                <a:spcPct val="130000"/>
              </a:lnSpc>
              <a:buNone/>
            </a:pPr>
            <a:r>
              <a:rPr lang="en-US" sz="950" dirty="0">
                <a:solidFill>
                  <a:srgbClr val="AAAAAA"/>
                </a:solidFill>
              </a:rPr>
              <a:t>Certifications</a:t>
            </a:r>
            <a:endParaRPr lang="en-US" sz="950" dirty="0"/>
          </a:p>
        </p:txBody>
      </p:sp>
      <p:sp>
        <p:nvSpPr>
          <p:cNvPr id="45" name="Shape 42"/>
          <p:cNvSpPr/>
          <p:nvPr/>
        </p:nvSpPr>
        <p:spPr>
          <a:xfrm>
            <a:off x="9838944" y="5193792"/>
            <a:ext cx="2103120" cy="1481328"/>
          </a:xfrm>
          <a:prstGeom prst="rect">
            <a:avLst/>
          </a:prstGeom>
          <a:solidFill>
            <a:srgbClr val="383838"/>
          </a:solidFill>
          <a:ln w="12700">
            <a:solidFill>
              <a:srgbClr val="484848"/>
            </a:solidFill>
            <a:prstDash val="solid"/>
          </a:ln>
        </p:spPr>
        <p:txBody>
          <a:bodyPr/>
          <a:lstStyle/>
          <a:p>
            <a:endParaRPr lang="en-AE"/>
          </a:p>
        </p:txBody>
      </p:sp>
      <p:sp>
        <p:nvSpPr>
          <p:cNvPr id="46" name="Shape 43"/>
          <p:cNvSpPr/>
          <p:nvPr/>
        </p:nvSpPr>
        <p:spPr>
          <a:xfrm>
            <a:off x="9838944" y="5193792"/>
            <a:ext cx="2103120" cy="54864"/>
          </a:xfrm>
          <a:prstGeom prst="rect">
            <a:avLst/>
          </a:prstGeom>
          <a:solidFill>
            <a:srgbClr val="6BBF5A"/>
          </a:solidFill>
          <a:ln w="12700">
            <a:solidFill>
              <a:srgbClr val="6BBF5A"/>
            </a:solidFill>
            <a:prstDash val="solid"/>
          </a:ln>
        </p:spPr>
        <p:txBody>
          <a:bodyPr/>
          <a:lstStyle/>
          <a:p>
            <a:endParaRPr lang="en-AE"/>
          </a:p>
        </p:txBody>
      </p:sp>
      <p:sp>
        <p:nvSpPr>
          <p:cNvPr id="47" name="Text 44"/>
          <p:cNvSpPr/>
          <p:nvPr/>
        </p:nvSpPr>
        <p:spPr>
          <a:xfrm>
            <a:off x="9912096" y="5303520"/>
            <a:ext cx="1956816" cy="594360"/>
          </a:xfrm>
          <a:prstGeom prst="rect">
            <a:avLst/>
          </a:prstGeom>
          <a:noFill/>
          <a:ln/>
        </p:spPr>
        <p:txBody>
          <a:bodyPr wrap="square" lIns="0" tIns="0" rIns="0" bIns="0" rtlCol="0" anchor="ctr"/>
          <a:lstStyle/>
          <a:p>
            <a:pPr marL="0" indent="0" algn="ctr">
              <a:buNone/>
            </a:pPr>
            <a:r>
              <a:rPr lang="en-US" sz="1800" b="1" dirty="0">
                <a:solidFill>
                  <a:srgbClr val="6BBF5A"/>
                </a:solidFill>
                <a:latin typeface="Georgia" pitchFamily="34" charset="0"/>
                <a:ea typeface="Georgia" pitchFamily="34" charset="-122"/>
                <a:cs typeface="Georgia" pitchFamily="34" charset="-120"/>
              </a:rPr>
              <a:t>MBZUH</a:t>
            </a:r>
            <a:endParaRPr lang="en-US" sz="1800" dirty="0"/>
          </a:p>
        </p:txBody>
      </p:sp>
      <p:sp>
        <p:nvSpPr>
          <p:cNvPr id="48" name="Text 45"/>
          <p:cNvSpPr/>
          <p:nvPr/>
        </p:nvSpPr>
        <p:spPr>
          <a:xfrm>
            <a:off x="9912096" y="5943600"/>
            <a:ext cx="1956816" cy="658368"/>
          </a:xfrm>
          <a:prstGeom prst="rect">
            <a:avLst/>
          </a:prstGeom>
          <a:noFill/>
          <a:ln/>
        </p:spPr>
        <p:txBody>
          <a:bodyPr wrap="square" lIns="0" tIns="0" rIns="0" bIns="0" rtlCol="0" anchor="ctr"/>
          <a:lstStyle/>
          <a:p>
            <a:pPr marL="0" indent="0" algn="ctr">
              <a:lnSpc>
                <a:spcPct val="130000"/>
              </a:lnSpc>
              <a:buNone/>
            </a:pPr>
            <a:r>
              <a:rPr lang="en-US" sz="950" dirty="0">
                <a:solidFill>
                  <a:srgbClr val="AAAAAA"/>
                </a:solidFill>
              </a:rPr>
              <a:t>Current</a:t>
            </a:r>
            <a:endParaRPr lang="en-US" sz="950" dirty="0"/>
          </a:p>
          <a:p>
            <a:pPr marL="0" indent="0" algn="ctr">
              <a:lnSpc>
                <a:spcPct val="130000"/>
              </a:lnSpc>
              <a:buNone/>
            </a:pPr>
            <a:r>
              <a:rPr lang="en-US" sz="950" dirty="0">
                <a:solidFill>
                  <a:srgbClr val="AAAAAA"/>
                </a:solidFill>
              </a:rPr>
              <a:t>Employer</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D6A32"/>
          </a:solidFill>
          <a:ln w="12700">
            <a:solidFill>
              <a:srgbClr val="2D6A32"/>
            </a:solidFill>
            <a:prstDash val="solid"/>
          </a:ln>
        </p:spPr>
        <p:txBody>
          <a:bodyPr/>
          <a:lstStyle/>
          <a:p>
            <a:endParaRPr lang="en-AE"/>
          </a:p>
        </p:txBody>
      </p:sp>
      <p:sp>
        <p:nvSpPr>
          <p:cNvPr id="3" name="Shape 1"/>
          <p:cNvSpPr/>
          <p:nvPr/>
        </p:nvSpPr>
        <p:spPr>
          <a:xfrm>
            <a:off x="109728" y="0"/>
            <a:ext cx="12051792" cy="1188720"/>
          </a:xfrm>
          <a:prstGeom prst="rect">
            <a:avLst/>
          </a:prstGeom>
          <a:solidFill>
            <a:srgbClr val="F5F5F3"/>
          </a:solidFill>
          <a:ln w="12700">
            <a:solidFill>
              <a:srgbClr val="F5F5F3"/>
            </a:solidFill>
            <a:prstDash val="solid"/>
          </a:ln>
        </p:spPr>
        <p:txBody>
          <a:bodyPr/>
          <a:lstStyle/>
          <a:p>
            <a:endParaRPr lang="en-AE"/>
          </a:p>
        </p:txBody>
      </p:sp>
      <p:pic>
        <p:nvPicPr>
          <p:cNvPr id="4" name="Image 0" descr="preencoded.png"/>
          <p:cNvPicPr>
            <a:picLocks noChangeAspect="1"/>
          </p:cNvPicPr>
          <p:nvPr/>
        </p:nvPicPr>
        <p:blipFill>
          <a:blip r:embed="rId3"/>
          <a:stretch>
            <a:fillRect/>
          </a:stretch>
        </p:blipFill>
        <p:spPr>
          <a:xfrm>
            <a:off x="320040" y="201168"/>
            <a:ext cx="2286000" cy="804672"/>
          </a:xfrm>
          <a:prstGeom prst="rect">
            <a:avLst/>
          </a:prstGeom>
        </p:spPr>
      </p:pic>
      <p:sp>
        <p:nvSpPr>
          <p:cNvPr id="5" name="Text 2"/>
          <p:cNvSpPr/>
          <p:nvPr/>
        </p:nvSpPr>
        <p:spPr>
          <a:xfrm>
            <a:off x="3200400" y="164592"/>
            <a:ext cx="7315200" cy="274320"/>
          </a:xfrm>
          <a:prstGeom prst="rect">
            <a:avLst/>
          </a:prstGeom>
          <a:noFill/>
          <a:ln/>
        </p:spPr>
        <p:txBody>
          <a:bodyPr wrap="square" lIns="0" tIns="0" rIns="0" bIns="0" rtlCol="0" anchor="ctr"/>
          <a:lstStyle/>
          <a:p>
            <a:pPr marL="0" indent="0">
              <a:buNone/>
            </a:pPr>
            <a:r>
              <a:rPr lang="en-US" sz="800" b="1" kern="0" spc="500" dirty="0">
                <a:solidFill>
                  <a:srgbClr val="2D6A32"/>
                </a:solidFill>
              </a:rPr>
              <a:t>PARTNER'S MESSAGE</a:t>
            </a:r>
            <a:endParaRPr lang="en-US" sz="800" dirty="0"/>
          </a:p>
        </p:txBody>
      </p:sp>
      <p:sp>
        <p:nvSpPr>
          <p:cNvPr id="6" name="Text 3"/>
          <p:cNvSpPr/>
          <p:nvPr/>
        </p:nvSpPr>
        <p:spPr>
          <a:xfrm>
            <a:off x="3200400" y="457200"/>
            <a:ext cx="8229600" cy="594360"/>
          </a:xfrm>
          <a:prstGeom prst="rect">
            <a:avLst/>
          </a:prstGeom>
          <a:noFill/>
          <a:ln/>
        </p:spPr>
        <p:txBody>
          <a:bodyPr wrap="square" lIns="0" tIns="0" rIns="0" bIns="0" rtlCol="0" anchor="ctr"/>
          <a:lstStyle/>
          <a:p>
            <a:pPr marL="0" indent="0">
              <a:buNone/>
            </a:pPr>
            <a:r>
              <a:rPr lang="en-US" sz="2400" b="1" dirty="0">
                <a:solidFill>
                  <a:srgbClr val="2D2D2D"/>
                </a:solidFill>
                <a:latin typeface="Georgia" pitchFamily="34" charset="0"/>
                <a:ea typeface="Georgia" pitchFamily="34" charset="-122"/>
                <a:cs typeface="Georgia" pitchFamily="34" charset="-120"/>
              </a:rPr>
              <a:t>Managing Partner</a:t>
            </a:r>
            <a:endParaRPr lang="en-US" sz="2400" dirty="0"/>
          </a:p>
        </p:txBody>
      </p:sp>
      <p:sp>
        <p:nvSpPr>
          <p:cNvPr id="7" name="Shape 4"/>
          <p:cNvSpPr/>
          <p:nvPr/>
        </p:nvSpPr>
        <p:spPr>
          <a:xfrm>
            <a:off x="365760" y="1417320"/>
            <a:ext cx="2560320" cy="2560320"/>
          </a:xfrm>
          <a:prstGeom prst="ellipse">
            <a:avLst/>
          </a:prstGeom>
          <a:solidFill>
            <a:srgbClr val="2D6A32"/>
          </a:solidFill>
          <a:ln w="12700">
            <a:solidFill>
              <a:srgbClr val="2D6A32"/>
            </a:solidFill>
            <a:prstDash val="solid"/>
          </a:ln>
        </p:spPr>
        <p:txBody>
          <a:bodyPr/>
          <a:lstStyle/>
          <a:p>
            <a:endParaRPr lang="en-AE"/>
          </a:p>
        </p:txBody>
      </p:sp>
      <p:sp>
        <p:nvSpPr>
          <p:cNvPr id="8" name="Text 5"/>
          <p:cNvSpPr/>
          <p:nvPr/>
        </p:nvSpPr>
        <p:spPr>
          <a:xfrm>
            <a:off x="365760" y="1417320"/>
            <a:ext cx="2560320" cy="2560320"/>
          </a:xfrm>
          <a:prstGeom prst="rect">
            <a:avLst/>
          </a:prstGeom>
          <a:noFill/>
          <a:ln/>
        </p:spPr>
        <p:txBody>
          <a:bodyPr wrap="square" lIns="0" tIns="0" rIns="0" bIns="0" rtlCol="0" anchor="ctr"/>
          <a:lstStyle/>
          <a:p>
            <a:pPr marL="0" indent="0" algn="ctr">
              <a:buNone/>
            </a:pPr>
            <a:r>
              <a:rPr lang="en-US" sz="5200" b="1" dirty="0">
                <a:solidFill>
                  <a:srgbClr val="FFFFFF"/>
                </a:solidFill>
                <a:latin typeface="Georgia" pitchFamily="34" charset="0"/>
                <a:ea typeface="Georgia" pitchFamily="34" charset="-122"/>
                <a:cs typeface="Georgia" pitchFamily="34" charset="-120"/>
              </a:rPr>
              <a:t>IZS</a:t>
            </a:r>
            <a:endParaRPr lang="en-US" sz="5200" dirty="0"/>
          </a:p>
        </p:txBody>
      </p:sp>
      <p:sp>
        <p:nvSpPr>
          <p:cNvPr id="9" name="Text 6"/>
          <p:cNvSpPr/>
          <p:nvPr/>
        </p:nvSpPr>
        <p:spPr>
          <a:xfrm>
            <a:off x="3200400" y="1417320"/>
            <a:ext cx="8595360" cy="658368"/>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Imran Zamir Sheikh</a:t>
            </a:r>
            <a:endParaRPr lang="en-US" sz="2600" dirty="0"/>
          </a:p>
        </p:txBody>
      </p:sp>
      <p:sp>
        <p:nvSpPr>
          <p:cNvPr id="10" name="Shape 7"/>
          <p:cNvSpPr/>
          <p:nvPr/>
        </p:nvSpPr>
        <p:spPr>
          <a:xfrm>
            <a:off x="3200400" y="2130552"/>
            <a:ext cx="3200400" cy="54864"/>
          </a:xfrm>
          <a:prstGeom prst="rect">
            <a:avLst/>
          </a:prstGeom>
          <a:solidFill>
            <a:srgbClr val="6BBF5A"/>
          </a:solidFill>
          <a:ln w="12700">
            <a:solidFill>
              <a:srgbClr val="6BBF5A"/>
            </a:solidFill>
            <a:prstDash val="solid"/>
          </a:ln>
        </p:spPr>
        <p:txBody>
          <a:bodyPr/>
          <a:lstStyle/>
          <a:p>
            <a:endParaRPr lang="en-AE"/>
          </a:p>
        </p:txBody>
      </p:sp>
      <p:sp>
        <p:nvSpPr>
          <p:cNvPr id="11" name="Text 8"/>
          <p:cNvSpPr/>
          <p:nvPr/>
        </p:nvSpPr>
        <p:spPr>
          <a:xfrm>
            <a:off x="3200400" y="2240280"/>
            <a:ext cx="5486400" cy="347472"/>
          </a:xfrm>
          <a:prstGeom prst="rect">
            <a:avLst/>
          </a:prstGeom>
          <a:noFill/>
          <a:ln/>
        </p:spPr>
        <p:txBody>
          <a:bodyPr wrap="square" lIns="0" tIns="0" rIns="0" bIns="0" rtlCol="0" anchor="ctr"/>
          <a:lstStyle/>
          <a:p>
            <a:pPr marL="0" indent="0">
              <a:buNone/>
            </a:pPr>
            <a:r>
              <a:rPr lang="en-US" sz="1400" b="1" dirty="0">
                <a:solidFill>
                  <a:srgbClr val="2D6A32"/>
                </a:solidFill>
                <a:latin typeface="Calibri" pitchFamily="34" charset="0"/>
                <a:ea typeface="Calibri" pitchFamily="34" charset="-122"/>
                <a:cs typeface="Calibri" pitchFamily="34" charset="-120"/>
              </a:rPr>
              <a:t>Managing Partner</a:t>
            </a:r>
            <a:endParaRPr lang="en-US" sz="1400" dirty="0"/>
          </a:p>
        </p:txBody>
      </p:sp>
      <p:sp>
        <p:nvSpPr>
          <p:cNvPr id="12" name="Text 9"/>
          <p:cNvSpPr/>
          <p:nvPr/>
        </p:nvSpPr>
        <p:spPr>
          <a:xfrm>
            <a:off x="3200400" y="2606040"/>
            <a:ext cx="8229600" cy="274320"/>
          </a:xfrm>
          <a:prstGeom prst="rect">
            <a:avLst/>
          </a:prstGeom>
          <a:noFill/>
          <a:ln/>
        </p:spPr>
        <p:txBody>
          <a:bodyPr wrap="square" lIns="0" tIns="0" rIns="0" bIns="0" rtlCol="0" anchor="ctr"/>
          <a:lstStyle/>
          <a:p>
            <a:pPr marL="0" indent="0">
              <a:buNone/>
            </a:pPr>
            <a:r>
              <a:rPr lang="en-US" sz="1100" i="1" dirty="0">
                <a:solidFill>
                  <a:srgbClr val="888888"/>
                </a:solidFill>
                <a:latin typeface="Calibri" pitchFamily="34" charset="0"/>
                <a:ea typeface="Calibri" pitchFamily="34" charset="-122"/>
                <a:cs typeface="Calibri" pitchFamily="34" charset="-120"/>
              </a:rPr>
              <a:t>Assurance Corp — Auditors &amp; Advisers  |  30+ Years Experience  |  Middle East &amp; Pakistan</a:t>
            </a:r>
            <a:endParaRPr lang="en-US" sz="1100" dirty="0"/>
          </a:p>
        </p:txBody>
      </p:sp>
      <p:sp>
        <p:nvSpPr>
          <p:cNvPr id="13" name="Text 10"/>
          <p:cNvSpPr/>
          <p:nvPr/>
        </p:nvSpPr>
        <p:spPr>
          <a:xfrm>
            <a:off x="3200400" y="3063240"/>
            <a:ext cx="8595360" cy="868680"/>
          </a:xfrm>
          <a:prstGeom prst="rect">
            <a:avLst/>
          </a:prstGeom>
          <a:noFill/>
          <a:ln/>
        </p:spPr>
        <p:txBody>
          <a:bodyPr wrap="square" lIns="0" tIns="0" rIns="0" bIns="0" rtlCol="0" anchor="ctr"/>
          <a:lstStyle/>
          <a:p>
            <a:pPr marL="0" indent="0">
              <a:lnSpc>
                <a:spcPct val="150000"/>
              </a:lnSpc>
              <a:buNone/>
            </a:pPr>
            <a:r>
              <a:rPr lang="en-US" sz="1200" dirty="0">
                <a:solidFill>
                  <a:srgbClr val="4A4A4A"/>
                </a:solidFill>
                <a:latin typeface="Calibri" pitchFamily="34" charset="0"/>
                <a:ea typeface="Calibri" pitchFamily="34" charset="-122"/>
                <a:cs typeface="Calibri" pitchFamily="34" charset="-120"/>
              </a:rPr>
              <a:t>Imran Zamir Sheikh boasts over three decades of experience in the audit, corporate finance, and business advisory fields, with a focus on the Middle East and Pakistan. He began his career at Ernst &amp; Young in 1988 and earned his Chartered Accountant qualification in 1996.</a:t>
            </a:r>
            <a:endParaRPr lang="en-US" sz="1200" dirty="0"/>
          </a:p>
        </p:txBody>
      </p:sp>
      <p:sp>
        <p:nvSpPr>
          <p:cNvPr id="14" name="Text 11"/>
          <p:cNvSpPr/>
          <p:nvPr/>
        </p:nvSpPr>
        <p:spPr>
          <a:xfrm>
            <a:off x="3200400" y="4041648"/>
            <a:ext cx="8595360" cy="868680"/>
          </a:xfrm>
          <a:prstGeom prst="rect">
            <a:avLst/>
          </a:prstGeom>
          <a:noFill/>
          <a:ln/>
        </p:spPr>
        <p:txBody>
          <a:bodyPr wrap="square" lIns="0" tIns="0" rIns="0" bIns="0" rtlCol="0" anchor="ctr"/>
          <a:lstStyle/>
          <a:p>
            <a:pPr marL="0" indent="0">
              <a:lnSpc>
                <a:spcPct val="150000"/>
              </a:lnSpc>
              <a:buNone/>
            </a:pPr>
            <a:r>
              <a:rPr lang="en-US" sz="1200" dirty="0">
                <a:solidFill>
                  <a:srgbClr val="4A4A4A"/>
                </a:solidFill>
                <a:latin typeface="Calibri" pitchFamily="34" charset="0"/>
                <a:ea typeface="Calibri" pitchFamily="34" charset="-122"/>
                <a:cs typeface="Calibri" pitchFamily="34" charset="-120"/>
              </a:rPr>
              <a:t>Throughout his career, Imran has worked with businesses of all sizes across a range of industries, including oil and gas, textiles, construction, and trading. He has conducted valuation assignments for the Privatization Commission and contributed to World Bank assignments related to the transport and power sectors.</a:t>
            </a:r>
            <a:endParaRPr lang="en-US" sz="1200" dirty="0"/>
          </a:p>
        </p:txBody>
      </p:sp>
      <p:sp>
        <p:nvSpPr>
          <p:cNvPr id="15" name="Text 12"/>
          <p:cNvSpPr/>
          <p:nvPr/>
        </p:nvSpPr>
        <p:spPr>
          <a:xfrm>
            <a:off x="320040" y="4251960"/>
            <a:ext cx="2651760" cy="274320"/>
          </a:xfrm>
          <a:prstGeom prst="rect">
            <a:avLst/>
          </a:prstGeom>
          <a:noFill/>
          <a:ln/>
        </p:spPr>
        <p:txBody>
          <a:bodyPr wrap="square" lIns="0" tIns="0" rIns="0" bIns="0" rtlCol="0" anchor="ctr"/>
          <a:lstStyle/>
          <a:p>
            <a:pPr marL="0" indent="0">
              <a:buNone/>
            </a:pPr>
            <a:r>
              <a:rPr lang="en-US" sz="800" b="1" kern="0" spc="300" dirty="0">
                <a:solidFill>
                  <a:srgbClr val="2D6A32"/>
                </a:solidFill>
              </a:rPr>
              <a:t>AREAS OF EXPERTISE</a:t>
            </a:r>
            <a:endParaRPr lang="en-US" sz="800" dirty="0"/>
          </a:p>
        </p:txBody>
      </p:sp>
      <p:sp>
        <p:nvSpPr>
          <p:cNvPr id="16" name="Shape 13"/>
          <p:cNvSpPr/>
          <p:nvPr/>
        </p:nvSpPr>
        <p:spPr>
          <a:xfrm>
            <a:off x="320040" y="4572000"/>
            <a:ext cx="1325880" cy="347472"/>
          </a:xfrm>
          <a:prstGeom prst="rect">
            <a:avLst/>
          </a:prstGeom>
          <a:solidFill>
            <a:srgbClr val="F5F5F3"/>
          </a:solidFill>
          <a:ln w="12700">
            <a:solidFill>
              <a:srgbClr val="E0E0D8"/>
            </a:solidFill>
            <a:prstDash val="solid"/>
          </a:ln>
        </p:spPr>
        <p:txBody>
          <a:bodyPr/>
          <a:lstStyle/>
          <a:p>
            <a:endParaRPr lang="en-AE"/>
          </a:p>
        </p:txBody>
      </p:sp>
      <p:sp>
        <p:nvSpPr>
          <p:cNvPr id="17" name="Shape 14"/>
          <p:cNvSpPr/>
          <p:nvPr/>
        </p:nvSpPr>
        <p:spPr>
          <a:xfrm>
            <a:off x="320040" y="4572000"/>
            <a:ext cx="64008" cy="347472"/>
          </a:xfrm>
          <a:prstGeom prst="rect">
            <a:avLst/>
          </a:prstGeom>
          <a:solidFill>
            <a:srgbClr val="6BBF5A"/>
          </a:solidFill>
          <a:ln w="12700">
            <a:solidFill>
              <a:srgbClr val="6BBF5A"/>
            </a:solidFill>
            <a:prstDash val="solid"/>
          </a:ln>
        </p:spPr>
        <p:txBody>
          <a:bodyPr/>
          <a:lstStyle/>
          <a:p>
            <a:endParaRPr lang="en-AE"/>
          </a:p>
        </p:txBody>
      </p:sp>
      <p:sp>
        <p:nvSpPr>
          <p:cNvPr id="18" name="Text 15"/>
          <p:cNvSpPr/>
          <p:nvPr/>
        </p:nvSpPr>
        <p:spPr>
          <a:xfrm>
            <a:off x="429768" y="4572000"/>
            <a:ext cx="1188720" cy="347472"/>
          </a:xfrm>
          <a:prstGeom prst="rect">
            <a:avLst/>
          </a:prstGeom>
          <a:noFill/>
          <a:ln/>
        </p:spPr>
        <p:txBody>
          <a:bodyPr wrap="square" lIns="0" tIns="0" rIns="0" bIns="0" rtlCol="0" anchor="ctr"/>
          <a:lstStyle/>
          <a:p>
            <a:pPr marL="0" indent="0">
              <a:buNone/>
            </a:pPr>
            <a:r>
              <a:rPr lang="en-US" sz="900" dirty="0">
                <a:solidFill>
                  <a:srgbClr val="4A4A4A"/>
                </a:solidFill>
              </a:rPr>
              <a:t>Audit &amp; Assurance</a:t>
            </a:r>
            <a:endParaRPr lang="en-US" sz="900" dirty="0"/>
          </a:p>
        </p:txBody>
      </p:sp>
      <p:sp>
        <p:nvSpPr>
          <p:cNvPr id="19" name="Shape 16"/>
          <p:cNvSpPr/>
          <p:nvPr/>
        </p:nvSpPr>
        <p:spPr>
          <a:xfrm>
            <a:off x="1737360" y="4572000"/>
            <a:ext cx="1325880" cy="347472"/>
          </a:xfrm>
          <a:prstGeom prst="rect">
            <a:avLst/>
          </a:prstGeom>
          <a:solidFill>
            <a:srgbClr val="F5F5F3"/>
          </a:solidFill>
          <a:ln w="12700">
            <a:solidFill>
              <a:srgbClr val="E0E0D8"/>
            </a:solidFill>
            <a:prstDash val="solid"/>
          </a:ln>
        </p:spPr>
        <p:txBody>
          <a:bodyPr/>
          <a:lstStyle/>
          <a:p>
            <a:endParaRPr lang="en-AE"/>
          </a:p>
        </p:txBody>
      </p:sp>
      <p:sp>
        <p:nvSpPr>
          <p:cNvPr id="20" name="Shape 17"/>
          <p:cNvSpPr/>
          <p:nvPr/>
        </p:nvSpPr>
        <p:spPr>
          <a:xfrm>
            <a:off x="1737360" y="4572000"/>
            <a:ext cx="64008" cy="347472"/>
          </a:xfrm>
          <a:prstGeom prst="rect">
            <a:avLst/>
          </a:prstGeom>
          <a:solidFill>
            <a:srgbClr val="6BBF5A"/>
          </a:solidFill>
          <a:ln w="12700">
            <a:solidFill>
              <a:srgbClr val="6BBF5A"/>
            </a:solidFill>
            <a:prstDash val="solid"/>
          </a:ln>
        </p:spPr>
        <p:txBody>
          <a:bodyPr/>
          <a:lstStyle/>
          <a:p>
            <a:endParaRPr lang="en-AE"/>
          </a:p>
        </p:txBody>
      </p:sp>
      <p:sp>
        <p:nvSpPr>
          <p:cNvPr id="21" name="Text 18"/>
          <p:cNvSpPr/>
          <p:nvPr/>
        </p:nvSpPr>
        <p:spPr>
          <a:xfrm>
            <a:off x="1847088" y="4572000"/>
            <a:ext cx="1188720" cy="347472"/>
          </a:xfrm>
          <a:prstGeom prst="rect">
            <a:avLst/>
          </a:prstGeom>
          <a:noFill/>
          <a:ln/>
        </p:spPr>
        <p:txBody>
          <a:bodyPr wrap="square" lIns="0" tIns="0" rIns="0" bIns="0" rtlCol="0" anchor="ctr"/>
          <a:lstStyle/>
          <a:p>
            <a:pPr marL="0" indent="0">
              <a:buNone/>
            </a:pPr>
            <a:r>
              <a:rPr lang="en-US" sz="900" dirty="0">
                <a:solidFill>
                  <a:srgbClr val="4A4A4A"/>
                </a:solidFill>
              </a:rPr>
              <a:t>Corporate Finance</a:t>
            </a:r>
            <a:endParaRPr lang="en-US" sz="900" dirty="0"/>
          </a:p>
        </p:txBody>
      </p:sp>
      <p:sp>
        <p:nvSpPr>
          <p:cNvPr id="22" name="Shape 19"/>
          <p:cNvSpPr/>
          <p:nvPr/>
        </p:nvSpPr>
        <p:spPr>
          <a:xfrm>
            <a:off x="320040" y="5047488"/>
            <a:ext cx="1325880" cy="347472"/>
          </a:xfrm>
          <a:prstGeom prst="rect">
            <a:avLst/>
          </a:prstGeom>
          <a:solidFill>
            <a:srgbClr val="F5F5F3"/>
          </a:solidFill>
          <a:ln w="12700">
            <a:solidFill>
              <a:srgbClr val="E0E0D8"/>
            </a:solidFill>
            <a:prstDash val="solid"/>
          </a:ln>
        </p:spPr>
        <p:txBody>
          <a:bodyPr/>
          <a:lstStyle/>
          <a:p>
            <a:endParaRPr lang="en-AE"/>
          </a:p>
        </p:txBody>
      </p:sp>
      <p:sp>
        <p:nvSpPr>
          <p:cNvPr id="23" name="Shape 20"/>
          <p:cNvSpPr/>
          <p:nvPr/>
        </p:nvSpPr>
        <p:spPr>
          <a:xfrm>
            <a:off x="320040" y="5047488"/>
            <a:ext cx="64008" cy="347472"/>
          </a:xfrm>
          <a:prstGeom prst="rect">
            <a:avLst/>
          </a:prstGeom>
          <a:solidFill>
            <a:srgbClr val="6BBF5A"/>
          </a:solidFill>
          <a:ln w="12700">
            <a:solidFill>
              <a:srgbClr val="6BBF5A"/>
            </a:solidFill>
            <a:prstDash val="solid"/>
          </a:ln>
        </p:spPr>
        <p:txBody>
          <a:bodyPr/>
          <a:lstStyle/>
          <a:p>
            <a:endParaRPr lang="en-AE"/>
          </a:p>
        </p:txBody>
      </p:sp>
      <p:sp>
        <p:nvSpPr>
          <p:cNvPr id="24" name="Text 21"/>
          <p:cNvSpPr/>
          <p:nvPr/>
        </p:nvSpPr>
        <p:spPr>
          <a:xfrm>
            <a:off x="429768" y="5047488"/>
            <a:ext cx="1188720" cy="347472"/>
          </a:xfrm>
          <a:prstGeom prst="rect">
            <a:avLst/>
          </a:prstGeom>
          <a:noFill/>
          <a:ln/>
        </p:spPr>
        <p:txBody>
          <a:bodyPr wrap="square" lIns="0" tIns="0" rIns="0" bIns="0" rtlCol="0" anchor="ctr"/>
          <a:lstStyle/>
          <a:p>
            <a:pPr marL="0" indent="0">
              <a:buNone/>
            </a:pPr>
            <a:r>
              <a:rPr lang="en-US" sz="900" dirty="0">
                <a:solidFill>
                  <a:srgbClr val="4A4A4A"/>
                </a:solidFill>
              </a:rPr>
              <a:t>Business Advisory</a:t>
            </a:r>
            <a:endParaRPr lang="en-US" sz="900" dirty="0"/>
          </a:p>
        </p:txBody>
      </p:sp>
      <p:sp>
        <p:nvSpPr>
          <p:cNvPr id="25" name="Shape 22"/>
          <p:cNvSpPr/>
          <p:nvPr/>
        </p:nvSpPr>
        <p:spPr>
          <a:xfrm>
            <a:off x="1737360" y="5047488"/>
            <a:ext cx="1325880" cy="347472"/>
          </a:xfrm>
          <a:prstGeom prst="rect">
            <a:avLst/>
          </a:prstGeom>
          <a:solidFill>
            <a:srgbClr val="F5F5F3"/>
          </a:solidFill>
          <a:ln w="12700">
            <a:solidFill>
              <a:srgbClr val="E0E0D8"/>
            </a:solidFill>
            <a:prstDash val="solid"/>
          </a:ln>
        </p:spPr>
        <p:txBody>
          <a:bodyPr/>
          <a:lstStyle/>
          <a:p>
            <a:endParaRPr lang="en-AE"/>
          </a:p>
        </p:txBody>
      </p:sp>
      <p:sp>
        <p:nvSpPr>
          <p:cNvPr id="26" name="Shape 23"/>
          <p:cNvSpPr/>
          <p:nvPr/>
        </p:nvSpPr>
        <p:spPr>
          <a:xfrm>
            <a:off x="1737360" y="5047488"/>
            <a:ext cx="64008" cy="347472"/>
          </a:xfrm>
          <a:prstGeom prst="rect">
            <a:avLst/>
          </a:prstGeom>
          <a:solidFill>
            <a:srgbClr val="6BBF5A"/>
          </a:solidFill>
          <a:ln w="12700">
            <a:solidFill>
              <a:srgbClr val="6BBF5A"/>
            </a:solidFill>
            <a:prstDash val="solid"/>
          </a:ln>
        </p:spPr>
        <p:txBody>
          <a:bodyPr/>
          <a:lstStyle/>
          <a:p>
            <a:endParaRPr lang="en-AE"/>
          </a:p>
        </p:txBody>
      </p:sp>
      <p:sp>
        <p:nvSpPr>
          <p:cNvPr id="27" name="Text 24"/>
          <p:cNvSpPr/>
          <p:nvPr/>
        </p:nvSpPr>
        <p:spPr>
          <a:xfrm>
            <a:off x="1847088" y="5047488"/>
            <a:ext cx="1188720" cy="347472"/>
          </a:xfrm>
          <a:prstGeom prst="rect">
            <a:avLst/>
          </a:prstGeom>
          <a:noFill/>
          <a:ln/>
        </p:spPr>
        <p:txBody>
          <a:bodyPr wrap="square" lIns="0" tIns="0" rIns="0" bIns="0" rtlCol="0" anchor="ctr"/>
          <a:lstStyle/>
          <a:p>
            <a:pPr marL="0" indent="0">
              <a:buNone/>
            </a:pPr>
            <a:r>
              <a:rPr lang="en-US" sz="900" dirty="0">
                <a:solidFill>
                  <a:srgbClr val="4A4A4A"/>
                </a:solidFill>
              </a:rPr>
              <a:t>Joint Ventures</a:t>
            </a:r>
            <a:endParaRPr lang="en-US" sz="900" dirty="0"/>
          </a:p>
        </p:txBody>
      </p:sp>
      <p:sp>
        <p:nvSpPr>
          <p:cNvPr id="28" name="Shape 25"/>
          <p:cNvSpPr/>
          <p:nvPr/>
        </p:nvSpPr>
        <p:spPr>
          <a:xfrm>
            <a:off x="320040" y="5522976"/>
            <a:ext cx="1325880" cy="347472"/>
          </a:xfrm>
          <a:prstGeom prst="rect">
            <a:avLst/>
          </a:prstGeom>
          <a:solidFill>
            <a:srgbClr val="F5F5F3"/>
          </a:solidFill>
          <a:ln w="12700">
            <a:solidFill>
              <a:srgbClr val="E0E0D8"/>
            </a:solidFill>
            <a:prstDash val="solid"/>
          </a:ln>
        </p:spPr>
        <p:txBody>
          <a:bodyPr/>
          <a:lstStyle/>
          <a:p>
            <a:endParaRPr lang="en-AE"/>
          </a:p>
        </p:txBody>
      </p:sp>
      <p:sp>
        <p:nvSpPr>
          <p:cNvPr id="29" name="Shape 26"/>
          <p:cNvSpPr/>
          <p:nvPr/>
        </p:nvSpPr>
        <p:spPr>
          <a:xfrm>
            <a:off x="320040" y="5522976"/>
            <a:ext cx="64008" cy="347472"/>
          </a:xfrm>
          <a:prstGeom prst="rect">
            <a:avLst/>
          </a:prstGeom>
          <a:solidFill>
            <a:srgbClr val="6BBF5A"/>
          </a:solidFill>
          <a:ln w="12700">
            <a:solidFill>
              <a:srgbClr val="6BBF5A"/>
            </a:solidFill>
            <a:prstDash val="solid"/>
          </a:ln>
        </p:spPr>
        <p:txBody>
          <a:bodyPr/>
          <a:lstStyle/>
          <a:p>
            <a:endParaRPr lang="en-AE"/>
          </a:p>
        </p:txBody>
      </p:sp>
      <p:sp>
        <p:nvSpPr>
          <p:cNvPr id="30" name="Text 27"/>
          <p:cNvSpPr/>
          <p:nvPr/>
        </p:nvSpPr>
        <p:spPr>
          <a:xfrm>
            <a:off x="429768" y="5522976"/>
            <a:ext cx="1188720" cy="347472"/>
          </a:xfrm>
          <a:prstGeom prst="rect">
            <a:avLst/>
          </a:prstGeom>
          <a:noFill/>
          <a:ln/>
        </p:spPr>
        <p:txBody>
          <a:bodyPr wrap="square" lIns="0" tIns="0" rIns="0" bIns="0" rtlCol="0" anchor="ctr"/>
          <a:lstStyle/>
          <a:p>
            <a:pPr marL="0" indent="0">
              <a:buNone/>
            </a:pPr>
            <a:r>
              <a:rPr lang="en-US" sz="900" dirty="0">
                <a:solidFill>
                  <a:srgbClr val="4A4A4A"/>
                </a:solidFill>
              </a:rPr>
              <a:t>Mergers &amp; Acquisitions</a:t>
            </a:r>
            <a:endParaRPr lang="en-US" sz="900" dirty="0"/>
          </a:p>
        </p:txBody>
      </p:sp>
      <p:sp>
        <p:nvSpPr>
          <p:cNvPr id="31" name="Shape 28"/>
          <p:cNvSpPr/>
          <p:nvPr/>
        </p:nvSpPr>
        <p:spPr>
          <a:xfrm>
            <a:off x="1737360" y="5522976"/>
            <a:ext cx="1325880" cy="347472"/>
          </a:xfrm>
          <a:prstGeom prst="rect">
            <a:avLst/>
          </a:prstGeom>
          <a:solidFill>
            <a:srgbClr val="F5F5F3"/>
          </a:solidFill>
          <a:ln w="12700">
            <a:solidFill>
              <a:srgbClr val="E0E0D8"/>
            </a:solidFill>
            <a:prstDash val="solid"/>
          </a:ln>
        </p:spPr>
        <p:txBody>
          <a:bodyPr/>
          <a:lstStyle/>
          <a:p>
            <a:endParaRPr lang="en-AE"/>
          </a:p>
        </p:txBody>
      </p:sp>
      <p:sp>
        <p:nvSpPr>
          <p:cNvPr id="32" name="Shape 29"/>
          <p:cNvSpPr/>
          <p:nvPr/>
        </p:nvSpPr>
        <p:spPr>
          <a:xfrm>
            <a:off x="1737360" y="5522976"/>
            <a:ext cx="64008" cy="347472"/>
          </a:xfrm>
          <a:prstGeom prst="rect">
            <a:avLst/>
          </a:prstGeom>
          <a:solidFill>
            <a:srgbClr val="6BBF5A"/>
          </a:solidFill>
          <a:ln w="12700">
            <a:solidFill>
              <a:srgbClr val="6BBF5A"/>
            </a:solidFill>
            <a:prstDash val="solid"/>
          </a:ln>
        </p:spPr>
        <p:txBody>
          <a:bodyPr/>
          <a:lstStyle/>
          <a:p>
            <a:endParaRPr lang="en-AE"/>
          </a:p>
        </p:txBody>
      </p:sp>
      <p:sp>
        <p:nvSpPr>
          <p:cNvPr id="33" name="Text 30"/>
          <p:cNvSpPr/>
          <p:nvPr/>
        </p:nvSpPr>
        <p:spPr>
          <a:xfrm>
            <a:off x="1847088" y="5522976"/>
            <a:ext cx="1188720" cy="347472"/>
          </a:xfrm>
          <a:prstGeom prst="rect">
            <a:avLst/>
          </a:prstGeom>
          <a:noFill/>
          <a:ln/>
        </p:spPr>
        <p:txBody>
          <a:bodyPr wrap="square" lIns="0" tIns="0" rIns="0" bIns="0" rtlCol="0" anchor="ctr"/>
          <a:lstStyle/>
          <a:p>
            <a:pPr marL="0" indent="0">
              <a:buNone/>
            </a:pPr>
            <a:r>
              <a:rPr lang="en-US" sz="900" dirty="0">
                <a:solidFill>
                  <a:srgbClr val="4A4A4A"/>
                </a:solidFill>
              </a:rPr>
              <a:t>Project Management</a:t>
            </a:r>
            <a:endParaRPr lang="en-US" sz="900" dirty="0"/>
          </a:p>
        </p:txBody>
      </p:sp>
      <p:sp>
        <p:nvSpPr>
          <p:cNvPr id="34" name="Shape 31"/>
          <p:cNvSpPr/>
          <p:nvPr/>
        </p:nvSpPr>
        <p:spPr>
          <a:xfrm>
            <a:off x="320040" y="5998464"/>
            <a:ext cx="1325880" cy="347472"/>
          </a:xfrm>
          <a:prstGeom prst="rect">
            <a:avLst/>
          </a:prstGeom>
          <a:solidFill>
            <a:srgbClr val="F5F5F3"/>
          </a:solidFill>
          <a:ln w="12700">
            <a:solidFill>
              <a:srgbClr val="E0E0D8"/>
            </a:solidFill>
            <a:prstDash val="solid"/>
          </a:ln>
        </p:spPr>
        <p:txBody>
          <a:bodyPr/>
          <a:lstStyle/>
          <a:p>
            <a:endParaRPr lang="en-AE"/>
          </a:p>
        </p:txBody>
      </p:sp>
      <p:sp>
        <p:nvSpPr>
          <p:cNvPr id="35" name="Shape 32"/>
          <p:cNvSpPr/>
          <p:nvPr/>
        </p:nvSpPr>
        <p:spPr>
          <a:xfrm>
            <a:off x="320040" y="5998464"/>
            <a:ext cx="64008" cy="347472"/>
          </a:xfrm>
          <a:prstGeom prst="rect">
            <a:avLst/>
          </a:prstGeom>
          <a:solidFill>
            <a:srgbClr val="6BBF5A"/>
          </a:solidFill>
          <a:ln w="12700">
            <a:solidFill>
              <a:srgbClr val="6BBF5A"/>
            </a:solidFill>
            <a:prstDash val="solid"/>
          </a:ln>
        </p:spPr>
        <p:txBody>
          <a:bodyPr/>
          <a:lstStyle/>
          <a:p>
            <a:endParaRPr lang="en-AE"/>
          </a:p>
        </p:txBody>
      </p:sp>
      <p:sp>
        <p:nvSpPr>
          <p:cNvPr id="36" name="Text 33"/>
          <p:cNvSpPr/>
          <p:nvPr/>
        </p:nvSpPr>
        <p:spPr>
          <a:xfrm>
            <a:off x="429768" y="5998464"/>
            <a:ext cx="1188720" cy="347472"/>
          </a:xfrm>
          <a:prstGeom prst="rect">
            <a:avLst/>
          </a:prstGeom>
          <a:noFill/>
          <a:ln/>
        </p:spPr>
        <p:txBody>
          <a:bodyPr wrap="square" lIns="0" tIns="0" rIns="0" bIns="0" rtlCol="0" anchor="ctr"/>
          <a:lstStyle/>
          <a:p>
            <a:pPr marL="0" indent="0">
              <a:buNone/>
            </a:pPr>
            <a:r>
              <a:rPr lang="en-US" sz="900" dirty="0">
                <a:solidFill>
                  <a:srgbClr val="4A4A4A"/>
                </a:solidFill>
              </a:rPr>
              <a:t>Budgeting &amp; Accounting</a:t>
            </a:r>
            <a:endParaRPr lang="en-US" sz="900" dirty="0"/>
          </a:p>
        </p:txBody>
      </p:sp>
      <p:sp>
        <p:nvSpPr>
          <p:cNvPr id="37" name="Shape 34"/>
          <p:cNvSpPr/>
          <p:nvPr/>
        </p:nvSpPr>
        <p:spPr>
          <a:xfrm>
            <a:off x="1737360" y="5998464"/>
            <a:ext cx="1325880" cy="347472"/>
          </a:xfrm>
          <a:prstGeom prst="rect">
            <a:avLst/>
          </a:prstGeom>
          <a:solidFill>
            <a:srgbClr val="F5F5F3"/>
          </a:solidFill>
          <a:ln w="12700">
            <a:solidFill>
              <a:srgbClr val="E0E0D8"/>
            </a:solidFill>
            <a:prstDash val="solid"/>
          </a:ln>
        </p:spPr>
        <p:txBody>
          <a:bodyPr/>
          <a:lstStyle/>
          <a:p>
            <a:endParaRPr lang="en-AE"/>
          </a:p>
        </p:txBody>
      </p:sp>
      <p:sp>
        <p:nvSpPr>
          <p:cNvPr id="38" name="Shape 35"/>
          <p:cNvSpPr/>
          <p:nvPr/>
        </p:nvSpPr>
        <p:spPr>
          <a:xfrm>
            <a:off x="1737360" y="5998464"/>
            <a:ext cx="64008" cy="347472"/>
          </a:xfrm>
          <a:prstGeom prst="rect">
            <a:avLst/>
          </a:prstGeom>
          <a:solidFill>
            <a:srgbClr val="6BBF5A"/>
          </a:solidFill>
          <a:ln w="12700">
            <a:solidFill>
              <a:srgbClr val="6BBF5A"/>
            </a:solidFill>
            <a:prstDash val="solid"/>
          </a:ln>
        </p:spPr>
        <p:txBody>
          <a:bodyPr/>
          <a:lstStyle/>
          <a:p>
            <a:endParaRPr lang="en-AE"/>
          </a:p>
        </p:txBody>
      </p:sp>
      <p:sp>
        <p:nvSpPr>
          <p:cNvPr id="39" name="Text 36"/>
          <p:cNvSpPr/>
          <p:nvPr/>
        </p:nvSpPr>
        <p:spPr>
          <a:xfrm>
            <a:off x="1847088" y="5998464"/>
            <a:ext cx="1188720" cy="347472"/>
          </a:xfrm>
          <a:prstGeom prst="rect">
            <a:avLst/>
          </a:prstGeom>
          <a:noFill/>
          <a:ln/>
        </p:spPr>
        <p:txBody>
          <a:bodyPr wrap="square" lIns="0" tIns="0" rIns="0" bIns="0" rtlCol="0" anchor="ctr"/>
          <a:lstStyle/>
          <a:p>
            <a:pPr marL="0" indent="0">
              <a:buNone/>
            </a:pPr>
            <a:r>
              <a:rPr lang="en-US" sz="900" dirty="0">
                <a:solidFill>
                  <a:srgbClr val="4A4A4A"/>
                </a:solidFill>
              </a:rPr>
              <a:t>Integrated Mgmt Systems</a:t>
            </a:r>
            <a:endParaRPr lang="en-US" sz="900" dirty="0"/>
          </a:p>
        </p:txBody>
      </p:sp>
      <p:sp>
        <p:nvSpPr>
          <p:cNvPr id="40" name="Shape 37"/>
          <p:cNvSpPr/>
          <p:nvPr/>
        </p:nvSpPr>
        <p:spPr>
          <a:xfrm>
            <a:off x="3200400" y="4983480"/>
            <a:ext cx="2103120" cy="1481328"/>
          </a:xfrm>
          <a:prstGeom prst="rect">
            <a:avLst/>
          </a:prstGeom>
          <a:solidFill>
            <a:srgbClr val="383838"/>
          </a:solidFill>
          <a:ln w="12700">
            <a:solidFill>
              <a:srgbClr val="484848"/>
            </a:solidFill>
            <a:prstDash val="solid"/>
          </a:ln>
        </p:spPr>
        <p:txBody>
          <a:bodyPr/>
          <a:lstStyle/>
          <a:p>
            <a:endParaRPr lang="en-AE"/>
          </a:p>
        </p:txBody>
      </p:sp>
      <p:sp>
        <p:nvSpPr>
          <p:cNvPr id="41" name="Shape 38"/>
          <p:cNvSpPr/>
          <p:nvPr/>
        </p:nvSpPr>
        <p:spPr>
          <a:xfrm>
            <a:off x="3200400" y="4983480"/>
            <a:ext cx="2103120" cy="54864"/>
          </a:xfrm>
          <a:prstGeom prst="rect">
            <a:avLst/>
          </a:prstGeom>
          <a:solidFill>
            <a:srgbClr val="6BBF5A"/>
          </a:solidFill>
          <a:ln w="12700">
            <a:solidFill>
              <a:srgbClr val="6BBF5A"/>
            </a:solidFill>
            <a:prstDash val="solid"/>
          </a:ln>
        </p:spPr>
        <p:txBody>
          <a:bodyPr/>
          <a:lstStyle/>
          <a:p>
            <a:endParaRPr lang="en-AE"/>
          </a:p>
        </p:txBody>
      </p:sp>
      <p:sp>
        <p:nvSpPr>
          <p:cNvPr id="42" name="Text 39"/>
          <p:cNvSpPr/>
          <p:nvPr/>
        </p:nvSpPr>
        <p:spPr>
          <a:xfrm>
            <a:off x="3273552" y="5093208"/>
            <a:ext cx="1956816" cy="594360"/>
          </a:xfrm>
          <a:prstGeom prst="rect">
            <a:avLst/>
          </a:prstGeom>
          <a:noFill/>
          <a:ln/>
        </p:spPr>
        <p:txBody>
          <a:bodyPr wrap="square" lIns="0" tIns="0" rIns="0" bIns="0" rtlCol="0" anchor="ctr"/>
          <a:lstStyle/>
          <a:p>
            <a:pPr marL="0" indent="0" algn="ctr">
              <a:buNone/>
            </a:pPr>
            <a:r>
              <a:rPr lang="en-US" sz="1800" b="1" dirty="0">
                <a:solidFill>
                  <a:srgbClr val="6BBF5A"/>
                </a:solidFill>
                <a:latin typeface="Georgia" pitchFamily="34" charset="0"/>
                <a:ea typeface="Georgia" pitchFamily="34" charset="-122"/>
                <a:cs typeface="Georgia" pitchFamily="34" charset="-120"/>
              </a:rPr>
              <a:t>1988</a:t>
            </a:r>
            <a:endParaRPr lang="en-US" sz="1800" dirty="0"/>
          </a:p>
        </p:txBody>
      </p:sp>
      <p:sp>
        <p:nvSpPr>
          <p:cNvPr id="43" name="Text 40"/>
          <p:cNvSpPr/>
          <p:nvPr/>
        </p:nvSpPr>
        <p:spPr>
          <a:xfrm>
            <a:off x="3273552" y="5733288"/>
            <a:ext cx="1956816" cy="658368"/>
          </a:xfrm>
          <a:prstGeom prst="rect">
            <a:avLst/>
          </a:prstGeom>
          <a:noFill/>
          <a:ln/>
        </p:spPr>
        <p:txBody>
          <a:bodyPr wrap="square" lIns="0" tIns="0" rIns="0" bIns="0" rtlCol="0" anchor="ctr"/>
          <a:lstStyle/>
          <a:p>
            <a:pPr marL="0" indent="0" algn="ctr">
              <a:lnSpc>
                <a:spcPct val="130000"/>
              </a:lnSpc>
              <a:buNone/>
            </a:pPr>
            <a:r>
              <a:rPr lang="en-US" sz="950" dirty="0">
                <a:solidFill>
                  <a:srgbClr val="AAAAAA"/>
                </a:solidFill>
              </a:rPr>
              <a:t>Started career at</a:t>
            </a:r>
            <a:endParaRPr lang="en-US" sz="950" dirty="0"/>
          </a:p>
          <a:p>
            <a:pPr marL="0" indent="0" algn="ctr">
              <a:lnSpc>
                <a:spcPct val="130000"/>
              </a:lnSpc>
              <a:buNone/>
            </a:pPr>
            <a:r>
              <a:rPr lang="en-US" sz="950" dirty="0">
                <a:solidFill>
                  <a:srgbClr val="AAAAAA"/>
                </a:solidFill>
              </a:rPr>
              <a:t>Ernst &amp; Young</a:t>
            </a:r>
            <a:endParaRPr lang="en-US" sz="950" dirty="0"/>
          </a:p>
        </p:txBody>
      </p:sp>
      <p:sp>
        <p:nvSpPr>
          <p:cNvPr id="44" name="Shape 41"/>
          <p:cNvSpPr/>
          <p:nvPr/>
        </p:nvSpPr>
        <p:spPr>
          <a:xfrm>
            <a:off x="5440680" y="4983480"/>
            <a:ext cx="2103120" cy="1481328"/>
          </a:xfrm>
          <a:prstGeom prst="rect">
            <a:avLst/>
          </a:prstGeom>
          <a:solidFill>
            <a:srgbClr val="383838"/>
          </a:solidFill>
          <a:ln w="12700">
            <a:solidFill>
              <a:srgbClr val="484848"/>
            </a:solidFill>
            <a:prstDash val="solid"/>
          </a:ln>
        </p:spPr>
        <p:txBody>
          <a:bodyPr/>
          <a:lstStyle/>
          <a:p>
            <a:endParaRPr lang="en-AE"/>
          </a:p>
        </p:txBody>
      </p:sp>
      <p:sp>
        <p:nvSpPr>
          <p:cNvPr id="45" name="Shape 42"/>
          <p:cNvSpPr/>
          <p:nvPr/>
        </p:nvSpPr>
        <p:spPr>
          <a:xfrm>
            <a:off x="5440680" y="4983480"/>
            <a:ext cx="2103120" cy="54864"/>
          </a:xfrm>
          <a:prstGeom prst="rect">
            <a:avLst/>
          </a:prstGeom>
          <a:solidFill>
            <a:srgbClr val="6BBF5A"/>
          </a:solidFill>
          <a:ln w="12700">
            <a:solidFill>
              <a:srgbClr val="6BBF5A"/>
            </a:solidFill>
            <a:prstDash val="solid"/>
          </a:ln>
        </p:spPr>
        <p:txBody>
          <a:bodyPr/>
          <a:lstStyle/>
          <a:p>
            <a:endParaRPr lang="en-AE"/>
          </a:p>
        </p:txBody>
      </p:sp>
      <p:sp>
        <p:nvSpPr>
          <p:cNvPr id="46" name="Text 43"/>
          <p:cNvSpPr/>
          <p:nvPr/>
        </p:nvSpPr>
        <p:spPr>
          <a:xfrm>
            <a:off x="5513832" y="5093208"/>
            <a:ext cx="1956816" cy="594360"/>
          </a:xfrm>
          <a:prstGeom prst="rect">
            <a:avLst/>
          </a:prstGeom>
          <a:noFill/>
          <a:ln/>
        </p:spPr>
        <p:txBody>
          <a:bodyPr wrap="square" lIns="0" tIns="0" rIns="0" bIns="0" rtlCol="0" anchor="ctr"/>
          <a:lstStyle/>
          <a:p>
            <a:pPr marL="0" indent="0" algn="ctr">
              <a:buNone/>
            </a:pPr>
            <a:r>
              <a:rPr lang="en-US" sz="1800" b="1" dirty="0">
                <a:solidFill>
                  <a:srgbClr val="6BBF5A"/>
                </a:solidFill>
                <a:latin typeface="Georgia" pitchFamily="34" charset="0"/>
                <a:ea typeface="Georgia" pitchFamily="34" charset="-122"/>
                <a:cs typeface="Georgia" pitchFamily="34" charset="-120"/>
              </a:rPr>
              <a:t>1996</a:t>
            </a:r>
            <a:endParaRPr lang="en-US" sz="1800" dirty="0"/>
          </a:p>
        </p:txBody>
      </p:sp>
      <p:sp>
        <p:nvSpPr>
          <p:cNvPr id="47" name="Text 44"/>
          <p:cNvSpPr/>
          <p:nvPr/>
        </p:nvSpPr>
        <p:spPr>
          <a:xfrm>
            <a:off x="5513832" y="5733288"/>
            <a:ext cx="1956816" cy="658368"/>
          </a:xfrm>
          <a:prstGeom prst="rect">
            <a:avLst/>
          </a:prstGeom>
          <a:noFill/>
          <a:ln/>
        </p:spPr>
        <p:txBody>
          <a:bodyPr wrap="square" lIns="0" tIns="0" rIns="0" bIns="0" rtlCol="0" anchor="ctr"/>
          <a:lstStyle/>
          <a:p>
            <a:pPr marL="0" indent="0" algn="ctr">
              <a:lnSpc>
                <a:spcPct val="130000"/>
              </a:lnSpc>
              <a:buNone/>
            </a:pPr>
            <a:r>
              <a:rPr lang="en-US" sz="950" dirty="0">
                <a:solidFill>
                  <a:srgbClr val="AAAAAA"/>
                </a:solidFill>
              </a:rPr>
              <a:t>Qualified as</a:t>
            </a:r>
            <a:endParaRPr lang="en-US" sz="950" dirty="0"/>
          </a:p>
          <a:p>
            <a:pPr marL="0" indent="0" algn="ctr">
              <a:lnSpc>
                <a:spcPct val="130000"/>
              </a:lnSpc>
              <a:buNone/>
            </a:pPr>
            <a:r>
              <a:rPr lang="en-US" sz="950" dirty="0">
                <a:solidFill>
                  <a:srgbClr val="AAAAAA"/>
                </a:solidFill>
              </a:rPr>
              <a:t>Chartered Accountant</a:t>
            </a:r>
            <a:endParaRPr lang="en-US" sz="950" dirty="0"/>
          </a:p>
        </p:txBody>
      </p:sp>
      <p:sp>
        <p:nvSpPr>
          <p:cNvPr id="48" name="Shape 45"/>
          <p:cNvSpPr/>
          <p:nvPr/>
        </p:nvSpPr>
        <p:spPr>
          <a:xfrm>
            <a:off x="7680960" y="4983480"/>
            <a:ext cx="2103120" cy="1481328"/>
          </a:xfrm>
          <a:prstGeom prst="rect">
            <a:avLst/>
          </a:prstGeom>
          <a:solidFill>
            <a:srgbClr val="383838"/>
          </a:solidFill>
          <a:ln w="12700">
            <a:solidFill>
              <a:srgbClr val="484848"/>
            </a:solidFill>
            <a:prstDash val="solid"/>
          </a:ln>
        </p:spPr>
        <p:txBody>
          <a:bodyPr/>
          <a:lstStyle/>
          <a:p>
            <a:endParaRPr lang="en-AE"/>
          </a:p>
        </p:txBody>
      </p:sp>
      <p:sp>
        <p:nvSpPr>
          <p:cNvPr id="49" name="Shape 46"/>
          <p:cNvSpPr/>
          <p:nvPr/>
        </p:nvSpPr>
        <p:spPr>
          <a:xfrm>
            <a:off x="7680960" y="4983480"/>
            <a:ext cx="2103120" cy="54864"/>
          </a:xfrm>
          <a:prstGeom prst="rect">
            <a:avLst/>
          </a:prstGeom>
          <a:solidFill>
            <a:srgbClr val="6BBF5A"/>
          </a:solidFill>
          <a:ln w="12700">
            <a:solidFill>
              <a:srgbClr val="6BBF5A"/>
            </a:solidFill>
            <a:prstDash val="solid"/>
          </a:ln>
        </p:spPr>
        <p:txBody>
          <a:bodyPr/>
          <a:lstStyle/>
          <a:p>
            <a:endParaRPr lang="en-AE"/>
          </a:p>
        </p:txBody>
      </p:sp>
      <p:sp>
        <p:nvSpPr>
          <p:cNvPr id="50" name="Text 47"/>
          <p:cNvSpPr/>
          <p:nvPr/>
        </p:nvSpPr>
        <p:spPr>
          <a:xfrm>
            <a:off x="7754112" y="5093208"/>
            <a:ext cx="1956816" cy="594360"/>
          </a:xfrm>
          <a:prstGeom prst="rect">
            <a:avLst/>
          </a:prstGeom>
          <a:noFill/>
          <a:ln/>
        </p:spPr>
        <p:txBody>
          <a:bodyPr wrap="square" lIns="0" tIns="0" rIns="0" bIns="0" rtlCol="0" anchor="ctr"/>
          <a:lstStyle/>
          <a:p>
            <a:pPr marL="0" indent="0" algn="ctr">
              <a:buNone/>
            </a:pPr>
            <a:r>
              <a:rPr lang="en-US" sz="1800" b="1" dirty="0">
                <a:solidFill>
                  <a:srgbClr val="6BBF5A"/>
                </a:solidFill>
                <a:latin typeface="Georgia" pitchFamily="34" charset="0"/>
                <a:ea typeface="Georgia" pitchFamily="34" charset="-122"/>
                <a:cs typeface="Georgia" pitchFamily="34" charset="-120"/>
              </a:rPr>
              <a:t>30+</a:t>
            </a:r>
            <a:endParaRPr lang="en-US" sz="1800" dirty="0"/>
          </a:p>
        </p:txBody>
      </p:sp>
      <p:sp>
        <p:nvSpPr>
          <p:cNvPr id="51" name="Text 48"/>
          <p:cNvSpPr/>
          <p:nvPr/>
        </p:nvSpPr>
        <p:spPr>
          <a:xfrm>
            <a:off x="7754112" y="5733288"/>
            <a:ext cx="1956816" cy="658368"/>
          </a:xfrm>
          <a:prstGeom prst="rect">
            <a:avLst/>
          </a:prstGeom>
          <a:noFill/>
          <a:ln/>
        </p:spPr>
        <p:txBody>
          <a:bodyPr wrap="square" lIns="0" tIns="0" rIns="0" bIns="0" rtlCol="0" anchor="ctr"/>
          <a:lstStyle/>
          <a:p>
            <a:pPr marL="0" indent="0" algn="ctr">
              <a:lnSpc>
                <a:spcPct val="130000"/>
              </a:lnSpc>
              <a:buNone/>
            </a:pPr>
            <a:r>
              <a:rPr lang="en-US" sz="950" dirty="0">
                <a:solidFill>
                  <a:srgbClr val="AAAAAA"/>
                </a:solidFill>
              </a:rPr>
              <a:t>Years of professional</a:t>
            </a:r>
            <a:endParaRPr lang="en-US" sz="950" dirty="0"/>
          </a:p>
          <a:p>
            <a:pPr marL="0" indent="0" algn="ctr">
              <a:lnSpc>
                <a:spcPct val="130000"/>
              </a:lnSpc>
              <a:buNone/>
            </a:pPr>
            <a:r>
              <a:rPr lang="en-US" sz="950" dirty="0">
                <a:solidFill>
                  <a:srgbClr val="AAAAAA"/>
                </a:solidFill>
              </a:rPr>
              <a:t>experience</a:t>
            </a:r>
            <a:endParaRPr lang="en-US" sz="950" dirty="0"/>
          </a:p>
        </p:txBody>
      </p:sp>
      <p:sp>
        <p:nvSpPr>
          <p:cNvPr id="52" name="Shape 49"/>
          <p:cNvSpPr/>
          <p:nvPr/>
        </p:nvSpPr>
        <p:spPr>
          <a:xfrm>
            <a:off x="9921240" y="4983480"/>
            <a:ext cx="2103120" cy="1481328"/>
          </a:xfrm>
          <a:prstGeom prst="rect">
            <a:avLst/>
          </a:prstGeom>
          <a:solidFill>
            <a:srgbClr val="383838"/>
          </a:solidFill>
          <a:ln w="12700">
            <a:solidFill>
              <a:srgbClr val="484848"/>
            </a:solidFill>
            <a:prstDash val="solid"/>
          </a:ln>
        </p:spPr>
        <p:txBody>
          <a:bodyPr/>
          <a:lstStyle/>
          <a:p>
            <a:endParaRPr lang="en-AE"/>
          </a:p>
        </p:txBody>
      </p:sp>
      <p:sp>
        <p:nvSpPr>
          <p:cNvPr id="53" name="Shape 50"/>
          <p:cNvSpPr/>
          <p:nvPr/>
        </p:nvSpPr>
        <p:spPr>
          <a:xfrm>
            <a:off x="9921240" y="4983480"/>
            <a:ext cx="2103120" cy="54864"/>
          </a:xfrm>
          <a:prstGeom prst="rect">
            <a:avLst/>
          </a:prstGeom>
          <a:solidFill>
            <a:srgbClr val="6BBF5A"/>
          </a:solidFill>
          <a:ln w="12700">
            <a:solidFill>
              <a:srgbClr val="6BBF5A"/>
            </a:solidFill>
            <a:prstDash val="solid"/>
          </a:ln>
        </p:spPr>
        <p:txBody>
          <a:bodyPr/>
          <a:lstStyle/>
          <a:p>
            <a:endParaRPr lang="en-AE"/>
          </a:p>
        </p:txBody>
      </p:sp>
      <p:sp>
        <p:nvSpPr>
          <p:cNvPr id="54" name="Text 51"/>
          <p:cNvSpPr/>
          <p:nvPr/>
        </p:nvSpPr>
        <p:spPr>
          <a:xfrm>
            <a:off x="9994392" y="5093208"/>
            <a:ext cx="1956816" cy="594360"/>
          </a:xfrm>
          <a:prstGeom prst="rect">
            <a:avLst/>
          </a:prstGeom>
          <a:noFill/>
          <a:ln/>
        </p:spPr>
        <p:txBody>
          <a:bodyPr wrap="square" lIns="0" tIns="0" rIns="0" bIns="0" rtlCol="0" anchor="ctr"/>
          <a:lstStyle/>
          <a:p>
            <a:pPr marL="0" indent="0" algn="ctr">
              <a:buNone/>
            </a:pPr>
            <a:r>
              <a:rPr lang="en-US" sz="1800" b="1" dirty="0">
                <a:solidFill>
                  <a:srgbClr val="6BBF5A"/>
                </a:solidFill>
                <a:latin typeface="Georgia" pitchFamily="34" charset="0"/>
                <a:ea typeface="Georgia" pitchFamily="34" charset="-122"/>
                <a:cs typeface="Georgia" pitchFamily="34" charset="-120"/>
              </a:rPr>
              <a:t>Middle East</a:t>
            </a:r>
            <a:endParaRPr lang="en-US" sz="1800" dirty="0"/>
          </a:p>
          <a:p>
            <a:pPr marL="0" indent="0" algn="ctr">
              <a:buNone/>
            </a:pPr>
            <a:r>
              <a:rPr lang="en-US" sz="1800" b="1" dirty="0">
                <a:solidFill>
                  <a:srgbClr val="6BBF5A"/>
                </a:solidFill>
                <a:latin typeface="Georgia" pitchFamily="34" charset="0"/>
                <a:ea typeface="Georgia" pitchFamily="34" charset="-122"/>
                <a:cs typeface="Georgia" pitchFamily="34" charset="-120"/>
              </a:rPr>
              <a:t>&amp; Pakistan</a:t>
            </a:r>
            <a:endParaRPr lang="en-US" sz="1800" dirty="0"/>
          </a:p>
        </p:txBody>
      </p:sp>
      <p:sp>
        <p:nvSpPr>
          <p:cNvPr id="55" name="Text 52"/>
          <p:cNvSpPr/>
          <p:nvPr/>
        </p:nvSpPr>
        <p:spPr>
          <a:xfrm>
            <a:off x="9994392" y="5733288"/>
            <a:ext cx="1956816" cy="658368"/>
          </a:xfrm>
          <a:prstGeom prst="rect">
            <a:avLst/>
          </a:prstGeom>
          <a:noFill/>
          <a:ln/>
        </p:spPr>
        <p:txBody>
          <a:bodyPr wrap="square" lIns="0" tIns="0" rIns="0" bIns="0" rtlCol="0" anchor="ctr"/>
          <a:lstStyle/>
          <a:p>
            <a:pPr marL="0" indent="0" algn="ctr">
              <a:lnSpc>
                <a:spcPct val="130000"/>
              </a:lnSpc>
              <a:buNone/>
            </a:pPr>
            <a:r>
              <a:rPr lang="en-US" sz="950" dirty="0">
                <a:solidFill>
                  <a:srgbClr val="AAAAAA"/>
                </a:solidFill>
              </a:rPr>
              <a:t>Primary focus</a:t>
            </a:r>
            <a:endParaRPr lang="en-US" sz="950" dirty="0"/>
          </a:p>
          <a:p>
            <a:pPr marL="0" indent="0" algn="ctr">
              <a:lnSpc>
                <a:spcPct val="130000"/>
              </a:lnSpc>
              <a:buNone/>
            </a:pPr>
            <a:r>
              <a:rPr lang="en-US" sz="950" dirty="0">
                <a:solidFill>
                  <a:srgbClr val="AAAAAA"/>
                </a:solidFill>
              </a:rPr>
              <a:t>region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D6A32"/>
          </a:solidFill>
          <a:ln w="12700">
            <a:solidFill>
              <a:srgbClr val="2D6A32"/>
            </a:solidFill>
            <a:prstDash val="solid"/>
          </a:ln>
        </p:spPr>
        <p:txBody>
          <a:bodyPr/>
          <a:lstStyle/>
          <a:p>
            <a:endParaRPr lang="en-AE"/>
          </a:p>
        </p:txBody>
      </p:sp>
      <p:sp>
        <p:nvSpPr>
          <p:cNvPr id="3" name="Shape 1"/>
          <p:cNvSpPr/>
          <p:nvPr/>
        </p:nvSpPr>
        <p:spPr>
          <a:xfrm>
            <a:off x="109728" y="0"/>
            <a:ext cx="12051792" cy="1188720"/>
          </a:xfrm>
          <a:prstGeom prst="rect">
            <a:avLst/>
          </a:prstGeom>
          <a:solidFill>
            <a:srgbClr val="F5F5F3"/>
          </a:solidFill>
          <a:ln w="12700">
            <a:solidFill>
              <a:srgbClr val="F5F5F3"/>
            </a:solidFill>
            <a:prstDash val="solid"/>
          </a:ln>
        </p:spPr>
        <p:txBody>
          <a:bodyPr/>
          <a:lstStyle/>
          <a:p>
            <a:endParaRPr lang="en-AE"/>
          </a:p>
        </p:txBody>
      </p:sp>
      <p:pic>
        <p:nvPicPr>
          <p:cNvPr id="4" name="Image 0" descr="preencoded.png"/>
          <p:cNvPicPr>
            <a:picLocks noChangeAspect="1"/>
          </p:cNvPicPr>
          <p:nvPr/>
        </p:nvPicPr>
        <p:blipFill>
          <a:blip r:embed="rId3"/>
          <a:stretch>
            <a:fillRect/>
          </a:stretch>
        </p:blipFill>
        <p:spPr>
          <a:xfrm>
            <a:off x="320040" y="201168"/>
            <a:ext cx="2286000" cy="804672"/>
          </a:xfrm>
          <a:prstGeom prst="rect">
            <a:avLst/>
          </a:prstGeom>
        </p:spPr>
      </p:pic>
      <p:sp>
        <p:nvSpPr>
          <p:cNvPr id="5" name="Text 2"/>
          <p:cNvSpPr/>
          <p:nvPr/>
        </p:nvSpPr>
        <p:spPr>
          <a:xfrm>
            <a:off x="3200400" y="164592"/>
            <a:ext cx="7315200" cy="274320"/>
          </a:xfrm>
          <a:prstGeom prst="rect">
            <a:avLst/>
          </a:prstGeom>
          <a:noFill/>
          <a:ln/>
        </p:spPr>
        <p:txBody>
          <a:bodyPr wrap="square" lIns="0" tIns="0" rIns="0" bIns="0" rtlCol="0" anchor="ctr"/>
          <a:lstStyle/>
          <a:p>
            <a:pPr marL="0" indent="0">
              <a:buNone/>
            </a:pPr>
            <a:r>
              <a:rPr lang="en-US" sz="800" b="1" kern="0" spc="500" dirty="0">
                <a:solidFill>
                  <a:srgbClr val="2D6A32"/>
                </a:solidFill>
              </a:rPr>
              <a:t>LEADERSHIP PROFILE</a:t>
            </a:r>
            <a:endParaRPr lang="en-US" sz="800" dirty="0"/>
          </a:p>
        </p:txBody>
      </p:sp>
      <p:sp>
        <p:nvSpPr>
          <p:cNvPr id="6" name="Text 3"/>
          <p:cNvSpPr/>
          <p:nvPr/>
        </p:nvSpPr>
        <p:spPr>
          <a:xfrm>
            <a:off x="3200400" y="457200"/>
            <a:ext cx="8229600" cy="594360"/>
          </a:xfrm>
          <a:prstGeom prst="rect">
            <a:avLst/>
          </a:prstGeom>
          <a:noFill/>
          <a:ln/>
        </p:spPr>
        <p:txBody>
          <a:bodyPr wrap="square" lIns="0" tIns="0" rIns="0" bIns="0" rtlCol="0" anchor="ctr"/>
          <a:lstStyle/>
          <a:p>
            <a:pPr marL="0" indent="0">
              <a:buNone/>
            </a:pPr>
            <a:r>
              <a:rPr lang="en-US" sz="2400" b="1" dirty="0">
                <a:solidFill>
                  <a:srgbClr val="2D2D2D"/>
                </a:solidFill>
                <a:latin typeface="Georgia" pitchFamily="34" charset="0"/>
                <a:ea typeface="Georgia" pitchFamily="34" charset="-122"/>
                <a:cs typeface="Georgia" pitchFamily="34" charset="-120"/>
              </a:rPr>
              <a:t>Director — Consulting &amp; Advisory</a:t>
            </a:r>
            <a:endParaRPr lang="en-US" sz="2400" dirty="0"/>
          </a:p>
        </p:txBody>
      </p:sp>
      <p:sp>
        <p:nvSpPr>
          <p:cNvPr id="7" name="Shape 4"/>
          <p:cNvSpPr/>
          <p:nvPr/>
        </p:nvSpPr>
        <p:spPr>
          <a:xfrm>
            <a:off x="320040" y="1353312"/>
            <a:ext cx="2651760" cy="2651760"/>
          </a:xfrm>
          <a:prstGeom prst="ellipse">
            <a:avLst/>
          </a:prstGeom>
          <a:solidFill>
            <a:srgbClr val="2D2D2D"/>
          </a:solidFill>
          <a:ln w="12700">
            <a:solidFill>
              <a:srgbClr val="2D2D2D"/>
            </a:solidFill>
            <a:prstDash val="solid"/>
          </a:ln>
        </p:spPr>
        <p:txBody>
          <a:bodyPr/>
          <a:lstStyle/>
          <a:p>
            <a:endParaRPr lang="en-AE"/>
          </a:p>
        </p:txBody>
      </p:sp>
      <p:sp>
        <p:nvSpPr>
          <p:cNvPr id="8" name="Text 5"/>
          <p:cNvSpPr/>
          <p:nvPr/>
        </p:nvSpPr>
        <p:spPr>
          <a:xfrm>
            <a:off x="320040" y="1353312"/>
            <a:ext cx="2651760" cy="2651760"/>
          </a:xfrm>
          <a:prstGeom prst="rect">
            <a:avLst/>
          </a:prstGeom>
          <a:noFill/>
          <a:ln/>
        </p:spPr>
        <p:txBody>
          <a:bodyPr wrap="square" lIns="0" tIns="0" rIns="0" bIns="0" rtlCol="0" anchor="ctr"/>
          <a:lstStyle/>
          <a:p>
            <a:pPr marL="0" indent="0" algn="ctr">
              <a:buNone/>
            </a:pPr>
            <a:r>
              <a:rPr lang="en-US" sz="6000" b="1" dirty="0">
                <a:solidFill>
                  <a:srgbClr val="FFFFFF"/>
                </a:solidFill>
                <a:latin typeface="Georgia" pitchFamily="34" charset="0"/>
                <a:ea typeface="Georgia" pitchFamily="34" charset="-122"/>
                <a:cs typeface="Georgia" pitchFamily="34" charset="-120"/>
              </a:rPr>
              <a:t>IT</a:t>
            </a:r>
            <a:endParaRPr lang="en-US" sz="6000" dirty="0"/>
          </a:p>
        </p:txBody>
      </p:sp>
      <p:sp>
        <p:nvSpPr>
          <p:cNvPr id="9" name="Text 6"/>
          <p:cNvSpPr/>
          <p:nvPr/>
        </p:nvSpPr>
        <p:spPr>
          <a:xfrm>
            <a:off x="3200400" y="1371600"/>
            <a:ext cx="8641080" cy="658368"/>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Irfan Tanwir, FCA</a:t>
            </a:r>
            <a:endParaRPr lang="en-US" sz="2600" dirty="0"/>
          </a:p>
        </p:txBody>
      </p:sp>
      <p:sp>
        <p:nvSpPr>
          <p:cNvPr id="10" name="Shape 7"/>
          <p:cNvSpPr/>
          <p:nvPr/>
        </p:nvSpPr>
        <p:spPr>
          <a:xfrm>
            <a:off x="3200400" y="2066544"/>
            <a:ext cx="3840480" cy="54864"/>
          </a:xfrm>
          <a:prstGeom prst="rect">
            <a:avLst/>
          </a:prstGeom>
          <a:solidFill>
            <a:srgbClr val="6BBF5A"/>
          </a:solidFill>
          <a:ln w="12700">
            <a:solidFill>
              <a:srgbClr val="6BBF5A"/>
            </a:solidFill>
            <a:prstDash val="solid"/>
          </a:ln>
        </p:spPr>
        <p:txBody>
          <a:bodyPr/>
          <a:lstStyle/>
          <a:p>
            <a:endParaRPr lang="en-AE"/>
          </a:p>
        </p:txBody>
      </p:sp>
      <p:sp>
        <p:nvSpPr>
          <p:cNvPr id="11" name="Text 8"/>
          <p:cNvSpPr/>
          <p:nvPr/>
        </p:nvSpPr>
        <p:spPr>
          <a:xfrm>
            <a:off x="3200400" y="2176272"/>
            <a:ext cx="6400800" cy="320040"/>
          </a:xfrm>
          <a:prstGeom prst="rect">
            <a:avLst/>
          </a:prstGeom>
          <a:noFill/>
          <a:ln/>
        </p:spPr>
        <p:txBody>
          <a:bodyPr wrap="square" lIns="0" tIns="0" rIns="0" bIns="0" rtlCol="0" anchor="ctr"/>
          <a:lstStyle/>
          <a:p>
            <a:pPr marL="0" indent="0">
              <a:buNone/>
            </a:pPr>
            <a:r>
              <a:rPr lang="en-US" sz="1400" b="1" dirty="0">
                <a:solidFill>
                  <a:srgbClr val="2D6A32"/>
                </a:solidFill>
                <a:latin typeface="Calibri" pitchFamily="34" charset="0"/>
                <a:ea typeface="Calibri" pitchFamily="34" charset="-122"/>
                <a:cs typeface="Calibri" pitchFamily="34" charset="-120"/>
              </a:rPr>
              <a:t>Director — Consulting &amp; Advisory</a:t>
            </a:r>
            <a:endParaRPr lang="en-US" sz="1400" dirty="0"/>
          </a:p>
        </p:txBody>
      </p:sp>
      <p:sp>
        <p:nvSpPr>
          <p:cNvPr id="12" name="Text 9"/>
          <p:cNvSpPr/>
          <p:nvPr/>
        </p:nvSpPr>
        <p:spPr>
          <a:xfrm>
            <a:off x="3200400" y="2523744"/>
            <a:ext cx="8229600" cy="274320"/>
          </a:xfrm>
          <a:prstGeom prst="rect">
            <a:avLst/>
          </a:prstGeom>
          <a:noFill/>
          <a:ln/>
        </p:spPr>
        <p:txBody>
          <a:bodyPr wrap="square" lIns="0" tIns="0" rIns="0" bIns="0" rtlCol="0" anchor="ctr"/>
          <a:lstStyle/>
          <a:p>
            <a:pPr marL="0" indent="0">
              <a:buNone/>
            </a:pPr>
            <a:r>
              <a:rPr lang="en-US" sz="1100" i="1" dirty="0">
                <a:solidFill>
                  <a:srgbClr val="888888"/>
                </a:solidFill>
                <a:latin typeface="Calibri" pitchFamily="34" charset="0"/>
                <a:ea typeface="Calibri" pitchFamily="34" charset="-122"/>
                <a:cs typeface="Calibri" pitchFamily="34" charset="-120"/>
              </a:rPr>
              <a:t>FCA (ICAP)  |  25+ Years Experience  |  UAE · KSA · Pakistan</a:t>
            </a:r>
            <a:endParaRPr lang="en-US" sz="1100" dirty="0"/>
          </a:p>
        </p:txBody>
      </p:sp>
      <p:sp>
        <p:nvSpPr>
          <p:cNvPr id="13" name="Text 10"/>
          <p:cNvSpPr/>
          <p:nvPr/>
        </p:nvSpPr>
        <p:spPr>
          <a:xfrm>
            <a:off x="3200400" y="2926080"/>
            <a:ext cx="8641080" cy="1874520"/>
          </a:xfrm>
          <a:prstGeom prst="rect">
            <a:avLst/>
          </a:prstGeom>
          <a:noFill/>
          <a:ln/>
        </p:spPr>
        <p:txBody>
          <a:bodyPr wrap="square" lIns="0" tIns="0" rIns="0" bIns="0" rtlCol="0" anchor="ctr"/>
          <a:lstStyle/>
          <a:p>
            <a:pPr marL="0" indent="0">
              <a:lnSpc>
                <a:spcPct val="150000"/>
              </a:lnSpc>
              <a:buNone/>
            </a:pPr>
            <a:r>
              <a:rPr lang="en-US" sz="1150" dirty="0">
                <a:solidFill>
                  <a:srgbClr val="4A4A4A"/>
                </a:solidFill>
                <a:latin typeface="Calibri" pitchFamily="34" charset="0"/>
                <a:ea typeface="Calibri" pitchFamily="34" charset="-122"/>
                <a:cs typeface="Calibri" pitchFamily="34" charset="-120"/>
              </a:rPr>
              <a:t>A Fellow Chartered Accountant (ICAP) with 25+ years of post-qualification experience spanning business planning, investment analysis, M&amp;A, treasury, IFRS reporting, taxation, and ERP implementation. Served 11 years at Aldar Properties PJSC (Abu Dhabi's largest asset-based group, ~$18Bn) as VP Finance and Financial Controller. Previously Senior Manager Finance at Al Hokair Group (KSA) and Finance Lead at Monsanto Pakistan. Deep expertise across real estate, retail, agro-chemical, and manufacturing sectors across the GCC and Pakistan.</a:t>
            </a:r>
            <a:endParaRPr lang="en-US" sz="1150" dirty="0"/>
          </a:p>
        </p:txBody>
      </p:sp>
      <p:sp>
        <p:nvSpPr>
          <p:cNvPr id="14" name="Text 11"/>
          <p:cNvSpPr/>
          <p:nvPr/>
        </p:nvSpPr>
        <p:spPr>
          <a:xfrm>
            <a:off x="320040" y="4187952"/>
            <a:ext cx="2651760" cy="256032"/>
          </a:xfrm>
          <a:prstGeom prst="rect">
            <a:avLst/>
          </a:prstGeom>
          <a:noFill/>
          <a:ln/>
        </p:spPr>
        <p:txBody>
          <a:bodyPr wrap="square" lIns="0" tIns="0" rIns="0" bIns="0" rtlCol="0" anchor="ctr"/>
          <a:lstStyle/>
          <a:p>
            <a:pPr marL="0" indent="0">
              <a:buNone/>
            </a:pPr>
            <a:r>
              <a:rPr lang="en-US" sz="750" b="1" kern="0" spc="300" dirty="0">
                <a:solidFill>
                  <a:srgbClr val="2D6A32"/>
                </a:solidFill>
              </a:rPr>
              <a:t>AREAS OF EXPERTISE</a:t>
            </a:r>
            <a:endParaRPr lang="en-US" sz="750" dirty="0"/>
          </a:p>
        </p:txBody>
      </p:sp>
      <p:sp>
        <p:nvSpPr>
          <p:cNvPr id="15" name="Shape 12"/>
          <p:cNvSpPr/>
          <p:nvPr/>
        </p:nvSpPr>
        <p:spPr>
          <a:xfrm>
            <a:off x="320040" y="4498848"/>
            <a:ext cx="2651760" cy="347472"/>
          </a:xfrm>
          <a:prstGeom prst="rect">
            <a:avLst/>
          </a:prstGeom>
          <a:solidFill>
            <a:srgbClr val="F5F5F3"/>
          </a:solidFill>
          <a:ln w="12700">
            <a:solidFill>
              <a:srgbClr val="E0E0D8"/>
            </a:solidFill>
            <a:prstDash val="solid"/>
          </a:ln>
        </p:spPr>
        <p:txBody>
          <a:bodyPr/>
          <a:lstStyle/>
          <a:p>
            <a:endParaRPr lang="en-AE"/>
          </a:p>
        </p:txBody>
      </p:sp>
      <p:sp>
        <p:nvSpPr>
          <p:cNvPr id="16" name="Shape 13"/>
          <p:cNvSpPr/>
          <p:nvPr/>
        </p:nvSpPr>
        <p:spPr>
          <a:xfrm>
            <a:off x="320040" y="4498848"/>
            <a:ext cx="64008" cy="347472"/>
          </a:xfrm>
          <a:prstGeom prst="rect">
            <a:avLst/>
          </a:prstGeom>
          <a:solidFill>
            <a:srgbClr val="6BBF5A"/>
          </a:solidFill>
          <a:ln w="12700">
            <a:solidFill>
              <a:srgbClr val="6BBF5A"/>
            </a:solidFill>
            <a:prstDash val="solid"/>
          </a:ln>
        </p:spPr>
        <p:txBody>
          <a:bodyPr/>
          <a:lstStyle/>
          <a:p>
            <a:endParaRPr lang="en-AE"/>
          </a:p>
        </p:txBody>
      </p:sp>
      <p:sp>
        <p:nvSpPr>
          <p:cNvPr id="17" name="Text 14"/>
          <p:cNvSpPr/>
          <p:nvPr/>
        </p:nvSpPr>
        <p:spPr>
          <a:xfrm>
            <a:off x="429768" y="4498848"/>
            <a:ext cx="2514600" cy="347472"/>
          </a:xfrm>
          <a:prstGeom prst="rect">
            <a:avLst/>
          </a:prstGeom>
          <a:noFill/>
          <a:ln/>
        </p:spPr>
        <p:txBody>
          <a:bodyPr wrap="square" lIns="0" tIns="0" rIns="0" bIns="0" rtlCol="0" anchor="ctr"/>
          <a:lstStyle/>
          <a:p>
            <a:pPr marL="0" indent="0">
              <a:buNone/>
            </a:pPr>
            <a:r>
              <a:rPr lang="en-US" sz="900" dirty="0">
                <a:solidFill>
                  <a:srgbClr val="4A4A4A"/>
                </a:solidFill>
              </a:rPr>
              <a:t>Business Planning &amp; Feasibility</a:t>
            </a:r>
            <a:endParaRPr lang="en-US" sz="900" dirty="0"/>
          </a:p>
        </p:txBody>
      </p:sp>
      <p:sp>
        <p:nvSpPr>
          <p:cNvPr id="18" name="Shape 15"/>
          <p:cNvSpPr/>
          <p:nvPr/>
        </p:nvSpPr>
        <p:spPr>
          <a:xfrm>
            <a:off x="320040" y="4892040"/>
            <a:ext cx="2651760" cy="347472"/>
          </a:xfrm>
          <a:prstGeom prst="rect">
            <a:avLst/>
          </a:prstGeom>
          <a:solidFill>
            <a:srgbClr val="F5F5F3"/>
          </a:solidFill>
          <a:ln w="12700">
            <a:solidFill>
              <a:srgbClr val="E0E0D8"/>
            </a:solidFill>
            <a:prstDash val="solid"/>
          </a:ln>
        </p:spPr>
        <p:txBody>
          <a:bodyPr/>
          <a:lstStyle/>
          <a:p>
            <a:endParaRPr lang="en-AE"/>
          </a:p>
        </p:txBody>
      </p:sp>
      <p:sp>
        <p:nvSpPr>
          <p:cNvPr id="19" name="Shape 16"/>
          <p:cNvSpPr/>
          <p:nvPr/>
        </p:nvSpPr>
        <p:spPr>
          <a:xfrm>
            <a:off x="320040" y="4892040"/>
            <a:ext cx="64008" cy="347472"/>
          </a:xfrm>
          <a:prstGeom prst="rect">
            <a:avLst/>
          </a:prstGeom>
          <a:solidFill>
            <a:srgbClr val="6BBF5A"/>
          </a:solidFill>
          <a:ln w="12700">
            <a:solidFill>
              <a:srgbClr val="6BBF5A"/>
            </a:solidFill>
            <a:prstDash val="solid"/>
          </a:ln>
        </p:spPr>
        <p:txBody>
          <a:bodyPr/>
          <a:lstStyle/>
          <a:p>
            <a:endParaRPr lang="en-AE"/>
          </a:p>
        </p:txBody>
      </p:sp>
      <p:sp>
        <p:nvSpPr>
          <p:cNvPr id="20" name="Text 17"/>
          <p:cNvSpPr/>
          <p:nvPr/>
        </p:nvSpPr>
        <p:spPr>
          <a:xfrm>
            <a:off x="429768" y="4892040"/>
            <a:ext cx="2514600" cy="347472"/>
          </a:xfrm>
          <a:prstGeom prst="rect">
            <a:avLst/>
          </a:prstGeom>
          <a:noFill/>
          <a:ln/>
        </p:spPr>
        <p:txBody>
          <a:bodyPr wrap="square" lIns="0" tIns="0" rIns="0" bIns="0" rtlCol="0" anchor="ctr"/>
          <a:lstStyle/>
          <a:p>
            <a:pPr marL="0" indent="0">
              <a:buNone/>
            </a:pPr>
            <a:r>
              <a:rPr lang="en-US" sz="900" dirty="0">
                <a:solidFill>
                  <a:srgbClr val="4A4A4A"/>
                </a:solidFill>
              </a:rPr>
              <a:t>Mergers &amp; Acquisitions</a:t>
            </a:r>
            <a:endParaRPr lang="en-US" sz="900" dirty="0"/>
          </a:p>
        </p:txBody>
      </p:sp>
      <p:sp>
        <p:nvSpPr>
          <p:cNvPr id="21" name="Shape 18"/>
          <p:cNvSpPr/>
          <p:nvPr/>
        </p:nvSpPr>
        <p:spPr>
          <a:xfrm>
            <a:off x="320040" y="5285232"/>
            <a:ext cx="2651760" cy="347472"/>
          </a:xfrm>
          <a:prstGeom prst="rect">
            <a:avLst/>
          </a:prstGeom>
          <a:solidFill>
            <a:srgbClr val="F5F5F3"/>
          </a:solidFill>
          <a:ln w="12700">
            <a:solidFill>
              <a:srgbClr val="E0E0D8"/>
            </a:solidFill>
            <a:prstDash val="solid"/>
          </a:ln>
        </p:spPr>
        <p:txBody>
          <a:bodyPr/>
          <a:lstStyle/>
          <a:p>
            <a:endParaRPr lang="en-AE"/>
          </a:p>
        </p:txBody>
      </p:sp>
      <p:sp>
        <p:nvSpPr>
          <p:cNvPr id="22" name="Shape 19"/>
          <p:cNvSpPr/>
          <p:nvPr/>
        </p:nvSpPr>
        <p:spPr>
          <a:xfrm>
            <a:off x="320040" y="5285232"/>
            <a:ext cx="64008" cy="347472"/>
          </a:xfrm>
          <a:prstGeom prst="rect">
            <a:avLst/>
          </a:prstGeom>
          <a:solidFill>
            <a:srgbClr val="6BBF5A"/>
          </a:solidFill>
          <a:ln w="12700">
            <a:solidFill>
              <a:srgbClr val="6BBF5A"/>
            </a:solidFill>
            <a:prstDash val="solid"/>
          </a:ln>
        </p:spPr>
        <p:txBody>
          <a:bodyPr/>
          <a:lstStyle/>
          <a:p>
            <a:endParaRPr lang="en-AE"/>
          </a:p>
        </p:txBody>
      </p:sp>
      <p:sp>
        <p:nvSpPr>
          <p:cNvPr id="23" name="Text 20"/>
          <p:cNvSpPr/>
          <p:nvPr/>
        </p:nvSpPr>
        <p:spPr>
          <a:xfrm>
            <a:off x="429768" y="5285232"/>
            <a:ext cx="2514600" cy="347472"/>
          </a:xfrm>
          <a:prstGeom prst="rect">
            <a:avLst/>
          </a:prstGeom>
          <a:noFill/>
          <a:ln/>
        </p:spPr>
        <p:txBody>
          <a:bodyPr wrap="square" lIns="0" tIns="0" rIns="0" bIns="0" rtlCol="0" anchor="ctr"/>
          <a:lstStyle/>
          <a:p>
            <a:pPr marL="0" indent="0">
              <a:buNone/>
            </a:pPr>
            <a:r>
              <a:rPr lang="en-US" sz="900" dirty="0">
                <a:solidFill>
                  <a:srgbClr val="4A4A4A"/>
                </a:solidFill>
              </a:rPr>
              <a:t>Investment Portfolio &amp; Valuation</a:t>
            </a:r>
            <a:endParaRPr lang="en-US" sz="900" dirty="0"/>
          </a:p>
        </p:txBody>
      </p:sp>
      <p:sp>
        <p:nvSpPr>
          <p:cNvPr id="24" name="Shape 21"/>
          <p:cNvSpPr/>
          <p:nvPr/>
        </p:nvSpPr>
        <p:spPr>
          <a:xfrm>
            <a:off x="320040" y="5678424"/>
            <a:ext cx="2651760" cy="347472"/>
          </a:xfrm>
          <a:prstGeom prst="rect">
            <a:avLst/>
          </a:prstGeom>
          <a:solidFill>
            <a:srgbClr val="F5F5F3"/>
          </a:solidFill>
          <a:ln w="12700">
            <a:solidFill>
              <a:srgbClr val="E0E0D8"/>
            </a:solidFill>
            <a:prstDash val="solid"/>
          </a:ln>
        </p:spPr>
        <p:txBody>
          <a:bodyPr/>
          <a:lstStyle/>
          <a:p>
            <a:endParaRPr lang="en-AE"/>
          </a:p>
        </p:txBody>
      </p:sp>
      <p:sp>
        <p:nvSpPr>
          <p:cNvPr id="25" name="Shape 22"/>
          <p:cNvSpPr/>
          <p:nvPr/>
        </p:nvSpPr>
        <p:spPr>
          <a:xfrm>
            <a:off x="320040" y="5678424"/>
            <a:ext cx="64008" cy="347472"/>
          </a:xfrm>
          <a:prstGeom prst="rect">
            <a:avLst/>
          </a:prstGeom>
          <a:solidFill>
            <a:srgbClr val="6BBF5A"/>
          </a:solidFill>
          <a:ln w="12700">
            <a:solidFill>
              <a:srgbClr val="6BBF5A"/>
            </a:solidFill>
            <a:prstDash val="solid"/>
          </a:ln>
        </p:spPr>
        <p:txBody>
          <a:bodyPr/>
          <a:lstStyle/>
          <a:p>
            <a:endParaRPr lang="en-AE"/>
          </a:p>
        </p:txBody>
      </p:sp>
      <p:sp>
        <p:nvSpPr>
          <p:cNvPr id="26" name="Text 23"/>
          <p:cNvSpPr/>
          <p:nvPr/>
        </p:nvSpPr>
        <p:spPr>
          <a:xfrm>
            <a:off x="429768" y="5678424"/>
            <a:ext cx="2514600" cy="347472"/>
          </a:xfrm>
          <a:prstGeom prst="rect">
            <a:avLst/>
          </a:prstGeom>
          <a:noFill/>
          <a:ln/>
        </p:spPr>
        <p:txBody>
          <a:bodyPr wrap="square" lIns="0" tIns="0" rIns="0" bIns="0" rtlCol="0" anchor="ctr"/>
          <a:lstStyle/>
          <a:p>
            <a:pPr marL="0" indent="0">
              <a:buNone/>
            </a:pPr>
            <a:r>
              <a:rPr lang="en-US" sz="900" dirty="0">
                <a:solidFill>
                  <a:srgbClr val="4A4A4A"/>
                </a:solidFill>
              </a:rPr>
              <a:t>Treasury &amp; Working Capital Mgmt</a:t>
            </a:r>
            <a:endParaRPr lang="en-US" sz="900" dirty="0"/>
          </a:p>
        </p:txBody>
      </p:sp>
      <p:sp>
        <p:nvSpPr>
          <p:cNvPr id="27" name="Shape 24"/>
          <p:cNvSpPr/>
          <p:nvPr/>
        </p:nvSpPr>
        <p:spPr>
          <a:xfrm>
            <a:off x="320040" y="6071616"/>
            <a:ext cx="2651760" cy="347472"/>
          </a:xfrm>
          <a:prstGeom prst="rect">
            <a:avLst/>
          </a:prstGeom>
          <a:solidFill>
            <a:srgbClr val="F5F5F3"/>
          </a:solidFill>
          <a:ln w="12700">
            <a:solidFill>
              <a:srgbClr val="E0E0D8"/>
            </a:solidFill>
            <a:prstDash val="solid"/>
          </a:ln>
        </p:spPr>
        <p:txBody>
          <a:bodyPr/>
          <a:lstStyle/>
          <a:p>
            <a:endParaRPr lang="en-AE"/>
          </a:p>
        </p:txBody>
      </p:sp>
      <p:sp>
        <p:nvSpPr>
          <p:cNvPr id="28" name="Shape 25"/>
          <p:cNvSpPr/>
          <p:nvPr/>
        </p:nvSpPr>
        <p:spPr>
          <a:xfrm>
            <a:off x="320040" y="6071616"/>
            <a:ext cx="64008" cy="347472"/>
          </a:xfrm>
          <a:prstGeom prst="rect">
            <a:avLst/>
          </a:prstGeom>
          <a:solidFill>
            <a:srgbClr val="6BBF5A"/>
          </a:solidFill>
          <a:ln w="12700">
            <a:solidFill>
              <a:srgbClr val="6BBF5A"/>
            </a:solidFill>
            <a:prstDash val="solid"/>
          </a:ln>
        </p:spPr>
        <p:txBody>
          <a:bodyPr/>
          <a:lstStyle/>
          <a:p>
            <a:endParaRPr lang="en-AE"/>
          </a:p>
        </p:txBody>
      </p:sp>
      <p:sp>
        <p:nvSpPr>
          <p:cNvPr id="29" name="Text 26"/>
          <p:cNvSpPr/>
          <p:nvPr/>
        </p:nvSpPr>
        <p:spPr>
          <a:xfrm>
            <a:off x="429768" y="6071616"/>
            <a:ext cx="2514600" cy="347472"/>
          </a:xfrm>
          <a:prstGeom prst="rect">
            <a:avLst/>
          </a:prstGeom>
          <a:noFill/>
          <a:ln/>
        </p:spPr>
        <p:txBody>
          <a:bodyPr wrap="square" lIns="0" tIns="0" rIns="0" bIns="0" rtlCol="0" anchor="ctr"/>
          <a:lstStyle/>
          <a:p>
            <a:pPr marL="0" indent="0">
              <a:buNone/>
            </a:pPr>
            <a:r>
              <a:rPr lang="en-US" sz="900" dirty="0">
                <a:solidFill>
                  <a:srgbClr val="4A4A4A"/>
                </a:solidFill>
              </a:rPr>
              <a:t>IFRS Reporting &amp; Statutory Audit</a:t>
            </a:r>
            <a:endParaRPr lang="en-US" sz="900" dirty="0"/>
          </a:p>
        </p:txBody>
      </p:sp>
      <p:sp>
        <p:nvSpPr>
          <p:cNvPr id="30" name="Shape 27"/>
          <p:cNvSpPr/>
          <p:nvPr/>
        </p:nvSpPr>
        <p:spPr>
          <a:xfrm>
            <a:off x="320040" y="6464808"/>
            <a:ext cx="2651760" cy="347472"/>
          </a:xfrm>
          <a:prstGeom prst="rect">
            <a:avLst/>
          </a:prstGeom>
          <a:solidFill>
            <a:srgbClr val="F5F5F3"/>
          </a:solidFill>
          <a:ln w="12700">
            <a:solidFill>
              <a:srgbClr val="E0E0D8"/>
            </a:solidFill>
            <a:prstDash val="solid"/>
          </a:ln>
        </p:spPr>
        <p:txBody>
          <a:bodyPr/>
          <a:lstStyle/>
          <a:p>
            <a:endParaRPr lang="en-AE"/>
          </a:p>
        </p:txBody>
      </p:sp>
      <p:sp>
        <p:nvSpPr>
          <p:cNvPr id="31" name="Shape 28"/>
          <p:cNvSpPr/>
          <p:nvPr/>
        </p:nvSpPr>
        <p:spPr>
          <a:xfrm>
            <a:off x="320040" y="6464808"/>
            <a:ext cx="64008" cy="347472"/>
          </a:xfrm>
          <a:prstGeom prst="rect">
            <a:avLst/>
          </a:prstGeom>
          <a:solidFill>
            <a:srgbClr val="6BBF5A"/>
          </a:solidFill>
          <a:ln w="12700">
            <a:solidFill>
              <a:srgbClr val="6BBF5A"/>
            </a:solidFill>
            <a:prstDash val="solid"/>
          </a:ln>
        </p:spPr>
        <p:txBody>
          <a:bodyPr/>
          <a:lstStyle/>
          <a:p>
            <a:endParaRPr lang="en-AE"/>
          </a:p>
        </p:txBody>
      </p:sp>
      <p:sp>
        <p:nvSpPr>
          <p:cNvPr id="32" name="Text 29"/>
          <p:cNvSpPr/>
          <p:nvPr/>
        </p:nvSpPr>
        <p:spPr>
          <a:xfrm>
            <a:off x="429768" y="6464808"/>
            <a:ext cx="2514600" cy="347472"/>
          </a:xfrm>
          <a:prstGeom prst="rect">
            <a:avLst/>
          </a:prstGeom>
          <a:noFill/>
          <a:ln/>
        </p:spPr>
        <p:txBody>
          <a:bodyPr wrap="square" lIns="0" tIns="0" rIns="0" bIns="0" rtlCol="0" anchor="ctr"/>
          <a:lstStyle/>
          <a:p>
            <a:pPr marL="0" indent="0">
              <a:buNone/>
            </a:pPr>
            <a:r>
              <a:rPr lang="en-US" sz="900" dirty="0">
                <a:solidFill>
                  <a:srgbClr val="4A4A4A"/>
                </a:solidFill>
              </a:rPr>
              <a:t>ERP Systems (Oracle, SAP, Hyperion)</a:t>
            </a:r>
            <a:endParaRPr lang="en-US" sz="900" dirty="0"/>
          </a:p>
        </p:txBody>
      </p:sp>
      <p:sp>
        <p:nvSpPr>
          <p:cNvPr id="33" name="Shape 30"/>
          <p:cNvSpPr/>
          <p:nvPr/>
        </p:nvSpPr>
        <p:spPr>
          <a:xfrm>
            <a:off x="3200400" y="5193792"/>
            <a:ext cx="2103120" cy="1481328"/>
          </a:xfrm>
          <a:prstGeom prst="rect">
            <a:avLst/>
          </a:prstGeom>
          <a:solidFill>
            <a:srgbClr val="383838"/>
          </a:solidFill>
          <a:ln w="12700">
            <a:solidFill>
              <a:srgbClr val="484848"/>
            </a:solidFill>
            <a:prstDash val="solid"/>
          </a:ln>
        </p:spPr>
        <p:txBody>
          <a:bodyPr/>
          <a:lstStyle/>
          <a:p>
            <a:endParaRPr lang="en-AE"/>
          </a:p>
        </p:txBody>
      </p:sp>
      <p:sp>
        <p:nvSpPr>
          <p:cNvPr id="34" name="Shape 31"/>
          <p:cNvSpPr/>
          <p:nvPr/>
        </p:nvSpPr>
        <p:spPr>
          <a:xfrm>
            <a:off x="3200400" y="5193792"/>
            <a:ext cx="2103120" cy="54864"/>
          </a:xfrm>
          <a:prstGeom prst="rect">
            <a:avLst/>
          </a:prstGeom>
          <a:solidFill>
            <a:srgbClr val="6BBF5A"/>
          </a:solidFill>
          <a:ln w="12700">
            <a:solidFill>
              <a:srgbClr val="6BBF5A"/>
            </a:solidFill>
            <a:prstDash val="solid"/>
          </a:ln>
        </p:spPr>
        <p:txBody>
          <a:bodyPr/>
          <a:lstStyle/>
          <a:p>
            <a:endParaRPr lang="en-AE"/>
          </a:p>
        </p:txBody>
      </p:sp>
      <p:sp>
        <p:nvSpPr>
          <p:cNvPr id="35" name="Text 32"/>
          <p:cNvSpPr/>
          <p:nvPr/>
        </p:nvSpPr>
        <p:spPr>
          <a:xfrm>
            <a:off x="3273552" y="5303520"/>
            <a:ext cx="1956816" cy="594360"/>
          </a:xfrm>
          <a:prstGeom prst="rect">
            <a:avLst/>
          </a:prstGeom>
          <a:noFill/>
          <a:ln/>
        </p:spPr>
        <p:txBody>
          <a:bodyPr wrap="square" lIns="0" tIns="0" rIns="0" bIns="0" rtlCol="0" anchor="ctr"/>
          <a:lstStyle/>
          <a:p>
            <a:pPr marL="0" indent="0" algn="ctr">
              <a:buNone/>
            </a:pPr>
            <a:r>
              <a:rPr lang="en-US" sz="1800" b="1" dirty="0">
                <a:solidFill>
                  <a:srgbClr val="6BBF5A"/>
                </a:solidFill>
                <a:latin typeface="Georgia" pitchFamily="34" charset="0"/>
                <a:ea typeface="Georgia" pitchFamily="34" charset="-122"/>
                <a:cs typeface="Georgia" pitchFamily="34" charset="-120"/>
              </a:rPr>
              <a:t>25+</a:t>
            </a:r>
            <a:endParaRPr lang="en-US" sz="1800" dirty="0"/>
          </a:p>
        </p:txBody>
      </p:sp>
      <p:sp>
        <p:nvSpPr>
          <p:cNvPr id="36" name="Text 33"/>
          <p:cNvSpPr/>
          <p:nvPr/>
        </p:nvSpPr>
        <p:spPr>
          <a:xfrm>
            <a:off x="3273552" y="5943600"/>
            <a:ext cx="1956816" cy="658368"/>
          </a:xfrm>
          <a:prstGeom prst="rect">
            <a:avLst/>
          </a:prstGeom>
          <a:noFill/>
          <a:ln/>
        </p:spPr>
        <p:txBody>
          <a:bodyPr wrap="square" lIns="0" tIns="0" rIns="0" bIns="0" rtlCol="0" anchor="ctr"/>
          <a:lstStyle/>
          <a:p>
            <a:pPr marL="0" indent="0" algn="ctr">
              <a:lnSpc>
                <a:spcPct val="130000"/>
              </a:lnSpc>
              <a:buNone/>
            </a:pPr>
            <a:r>
              <a:rPr lang="en-US" sz="950" dirty="0">
                <a:solidFill>
                  <a:srgbClr val="AAAAAA"/>
                </a:solidFill>
              </a:rPr>
              <a:t>Years Post-</a:t>
            </a:r>
            <a:endParaRPr lang="en-US" sz="950" dirty="0"/>
          </a:p>
          <a:p>
            <a:pPr marL="0" indent="0" algn="ctr">
              <a:lnSpc>
                <a:spcPct val="130000"/>
              </a:lnSpc>
              <a:buNone/>
            </a:pPr>
            <a:r>
              <a:rPr lang="en-US" sz="950" dirty="0">
                <a:solidFill>
                  <a:srgbClr val="AAAAAA"/>
                </a:solidFill>
              </a:rPr>
              <a:t>Qualification</a:t>
            </a:r>
            <a:endParaRPr lang="en-US" sz="950" dirty="0"/>
          </a:p>
        </p:txBody>
      </p:sp>
      <p:sp>
        <p:nvSpPr>
          <p:cNvPr id="37" name="Shape 34"/>
          <p:cNvSpPr/>
          <p:nvPr/>
        </p:nvSpPr>
        <p:spPr>
          <a:xfrm>
            <a:off x="5413248" y="5193792"/>
            <a:ext cx="2103120" cy="1481328"/>
          </a:xfrm>
          <a:prstGeom prst="rect">
            <a:avLst/>
          </a:prstGeom>
          <a:solidFill>
            <a:srgbClr val="383838"/>
          </a:solidFill>
          <a:ln w="12700">
            <a:solidFill>
              <a:srgbClr val="484848"/>
            </a:solidFill>
            <a:prstDash val="solid"/>
          </a:ln>
        </p:spPr>
        <p:txBody>
          <a:bodyPr/>
          <a:lstStyle/>
          <a:p>
            <a:endParaRPr lang="en-AE"/>
          </a:p>
        </p:txBody>
      </p:sp>
      <p:sp>
        <p:nvSpPr>
          <p:cNvPr id="38" name="Shape 35"/>
          <p:cNvSpPr/>
          <p:nvPr/>
        </p:nvSpPr>
        <p:spPr>
          <a:xfrm>
            <a:off x="5413248" y="5193792"/>
            <a:ext cx="2103120" cy="54864"/>
          </a:xfrm>
          <a:prstGeom prst="rect">
            <a:avLst/>
          </a:prstGeom>
          <a:solidFill>
            <a:srgbClr val="6BBF5A"/>
          </a:solidFill>
          <a:ln w="12700">
            <a:solidFill>
              <a:srgbClr val="6BBF5A"/>
            </a:solidFill>
            <a:prstDash val="solid"/>
          </a:ln>
        </p:spPr>
        <p:txBody>
          <a:bodyPr/>
          <a:lstStyle/>
          <a:p>
            <a:endParaRPr lang="en-AE"/>
          </a:p>
        </p:txBody>
      </p:sp>
      <p:sp>
        <p:nvSpPr>
          <p:cNvPr id="39" name="Text 36"/>
          <p:cNvSpPr/>
          <p:nvPr/>
        </p:nvSpPr>
        <p:spPr>
          <a:xfrm>
            <a:off x="5486400" y="5303520"/>
            <a:ext cx="1956816" cy="594360"/>
          </a:xfrm>
          <a:prstGeom prst="rect">
            <a:avLst/>
          </a:prstGeom>
          <a:noFill/>
          <a:ln/>
        </p:spPr>
        <p:txBody>
          <a:bodyPr wrap="square" lIns="0" tIns="0" rIns="0" bIns="0" rtlCol="0" anchor="ctr"/>
          <a:lstStyle/>
          <a:p>
            <a:pPr marL="0" indent="0" algn="ctr">
              <a:buNone/>
            </a:pPr>
            <a:r>
              <a:rPr lang="en-US" sz="1800" b="1" dirty="0">
                <a:solidFill>
                  <a:srgbClr val="6BBF5A"/>
                </a:solidFill>
                <a:latin typeface="Georgia" pitchFamily="34" charset="0"/>
                <a:ea typeface="Georgia" pitchFamily="34" charset="-122"/>
                <a:cs typeface="Georgia" pitchFamily="34" charset="-120"/>
              </a:rPr>
              <a:t>Aldar</a:t>
            </a:r>
            <a:endParaRPr lang="en-US" sz="1800" dirty="0"/>
          </a:p>
          <a:p>
            <a:pPr marL="0" indent="0" algn="ctr">
              <a:buNone/>
            </a:pPr>
            <a:r>
              <a:rPr lang="en-US" sz="1800" b="1" dirty="0">
                <a:solidFill>
                  <a:srgbClr val="6BBF5A"/>
                </a:solidFill>
                <a:latin typeface="Georgia" pitchFamily="34" charset="0"/>
                <a:ea typeface="Georgia" pitchFamily="34" charset="-122"/>
                <a:cs typeface="Georgia" pitchFamily="34" charset="-120"/>
              </a:rPr>
              <a:t>Properties</a:t>
            </a:r>
            <a:endParaRPr lang="en-US" sz="1800" dirty="0"/>
          </a:p>
        </p:txBody>
      </p:sp>
      <p:sp>
        <p:nvSpPr>
          <p:cNvPr id="40" name="Text 37"/>
          <p:cNvSpPr/>
          <p:nvPr/>
        </p:nvSpPr>
        <p:spPr>
          <a:xfrm>
            <a:off x="5486400" y="5943600"/>
            <a:ext cx="1956816" cy="658368"/>
          </a:xfrm>
          <a:prstGeom prst="rect">
            <a:avLst/>
          </a:prstGeom>
          <a:noFill/>
          <a:ln/>
        </p:spPr>
        <p:txBody>
          <a:bodyPr wrap="square" lIns="0" tIns="0" rIns="0" bIns="0" rtlCol="0" anchor="ctr"/>
          <a:lstStyle/>
          <a:p>
            <a:pPr marL="0" indent="0" algn="ctr">
              <a:lnSpc>
                <a:spcPct val="130000"/>
              </a:lnSpc>
              <a:buNone/>
            </a:pPr>
            <a:r>
              <a:rPr lang="en-US" sz="950" dirty="0">
                <a:solidFill>
                  <a:srgbClr val="AAAAAA"/>
                </a:solidFill>
              </a:rPr>
              <a:t>11 Years</a:t>
            </a:r>
            <a:endParaRPr lang="en-US" sz="950" dirty="0"/>
          </a:p>
          <a:p>
            <a:pPr marL="0" indent="0" algn="ctr">
              <a:lnSpc>
                <a:spcPct val="130000"/>
              </a:lnSpc>
              <a:buNone/>
            </a:pPr>
            <a:r>
              <a:rPr lang="en-US" sz="950" dirty="0">
                <a:solidFill>
                  <a:srgbClr val="AAAAAA"/>
                </a:solidFill>
              </a:rPr>
              <a:t>UAE Experience</a:t>
            </a:r>
            <a:endParaRPr lang="en-US" sz="950" dirty="0"/>
          </a:p>
        </p:txBody>
      </p:sp>
      <p:sp>
        <p:nvSpPr>
          <p:cNvPr id="41" name="Shape 38"/>
          <p:cNvSpPr/>
          <p:nvPr/>
        </p:nvSpPr>
        <p:spPr>
          <a:xfrm>
            <a:off x="7626096" y="5193792"/>
            <a:ext cx="2103120" cy="1481328"/>
          </a:xfrm>
          <a:prstGeom prst="rect">
            <a:avLst/>
          </a:prstGeom>
          <a:solidFill>
            <a:srgbClr val="383838"/>
          </a:solidFill>
          <a:ln w="12700">
            <a:solidFill>
              <a:srgbClr val="484848"/>
            </a:solidFill>
            <a:prstDash val="solid"/>
          </a:ln>
        </p:spPr>
        <p:txBody>
          <a:bodyPr/>
          <a:lstStyle/>
          <a:p>
            <a:endParaRPr lang="en-AE"/>
          </a:p>
        </p:txBody>
      </p:sp>
      <p:sp>
        <p:nvSpPr>
          <p:cNvPr id="42" name="Shape 39"/>
          <p:cNvSpPr/>
          <p:nvPr/>
        </p:nvSpPr>
        <p:spPr>
          <a:xfrm>
            <a:off x="7626096" y="5193792"/>
            <a:ext cx="2103120" cy="54864"/>
          </a:xfrm>
          <a:prstGeom prst="rect">
            <a:avLst/>
          </a:prstGeom>
          <a:solidFill>
            <a:srgbClr val="6BBF5A"/>
          </a:solidFill>
          <a:ln w="12700">
            <a:solidFill>
              <a:srgbClr val="6BBF5A"/>
            </a:solidFill>
            <a:prstDash val="solid"/>
          </a:ln>
        </p:spPr>
        <p:txBody>
          <a:bodyPr/>
          <a:lstStyle/>
          <a:p>
            <a:endParaRPr lang="en-AE"/>
          </a:p>
        </p:txBody>
      </p:sp>
      <p:sp>
        <p:nvSpPr>
          <p:cNvPr id="43" name="Text 40"/>
          <p:cNvSpPr/>
          <p:nvPr/>
        </p:nvSpPr>
        <p:spPr>
          <a:xfrm>
            <a:off x="7699248" y="5303520"/>
            <a:ext cx="1956816" cy="594360"/>
          </a:xfrm>
          <a:prstGeom prst="rect">
            <a:avLst/>
          </a:prstGeom>
          <a:noFill/>
          <a:ln/>
        </p:spPr>
        <p:txBody>
          <a:bodyPr wrap="square" lIns="0" tIns="0" rIns="0" bIns="0" rtlCol="0" anchor="ctr"/>
          <a:lstStyle/>
          <a:p>
            <a:pPr marL="0" indent="0" algn="ctr">
              <a:buNone/>
            </a:pPr>
            <a:r>
              <a:rPr lang="en-US" sz="1800" b="1" dirty="0">
                <a:solidFill>
                  <a:srgbClr val="6BBF5A"/>
                </a:solidFill>
                <a:latin typeface="Georgia" pitchFamily="34" charset="0"/>
                <a:ea typeface="Georgia" pitchFamily="34" charset="-122"/>
                <a:cs typeface="Georgia" pitchFamily="34" charset="-120"/>
              </a:rPr>
              <a:t>FCA</a:t>
            </a:r>
            <a:endParaRPr lang="en-US" sz="1800" dirty="0"/>
          </a:p>
          <a:p>
            <a:pPr marL="0" indent="0" algn="ctr">
              <a:buNone/>
            </a:pPr>
            <a:r>
              <a:rPr lang="en-US" sz="1800" b="1" dirty="0">
                <a:solidFill>
                  <a:srgbClr val="6BBF5A"/>
                </a:solidFill>
                <a:latin typeface="Georgia" pitchFamily="34" charset="0"/>
                <a:ea typeface="Georgia" pitchFamily="34" charset="-122"/>
                <a:cs typeface="Georgia" pitchFamily="34" charset="-120"/>
              </a:rPr>
              <a:t>ICAP</a:t>
            </a:r>
            <a:endParaRPr lang="en-US" sz="1800" dirty="0"/>
          </a:p>
        </p:txBody>
      </p:sp>
      <p:sp>
        <p:nvSpPr>
          <p:cNvPr id="44" name="Text 41"/>
          <p:cNvSpPr/>
          <p:nvPr/>
        </p:nvSpPr>
        <p:spPr>
          <a:xfrm>
            <a:off x="7699248" y="5943600"/>
            <a:ext cx="1956816" cy="658368"/>
          </a:xfrm>
          <a:prstGeom prst="rect">
            <a:avLst/>
          </a:prstGeom>
          <a:noFill/>
          <a:ln/>
        </p:spPr>
        <p:txBody>
          <a:bodyPr wrap="square" lIns="0" tIns="0" rIns="0" bIns="0" rtlCol="0" anchor="ctr"/>
          <a:lstStyle/>
          <a:p>
            <a:pPr marL="0" indent="0" algn="ctr">
              <a:lnSpc>
                <a:spcPct val="130000"/>
              </a:lnSpc>
              <a:buNone/>
            </a:pPr>
            <a:r>
              <a:rPr lang="en-US" sz="950" dirty="0">
                <a:solidFill>
                  <a:srgbClr val="AAAAAA"/>
                </a:solidFill>
              </a:rPr>
              <a:t>Fellow Chartered</a:t>
            </a:r>
            <a:endParaRPr lang="en-US" sz="950" dirty="0"/>
          </a:p>
          <a:p>
            <a:pPr marL="0" indent="0" algn="ctr">
              <a:lnSpc>
                <a:spcPct val="130000"/>
              </a:lnSpc>
              <a:buNone/>
            </a:pPr>
            <a:r>
              <a:rPr lang="en-US" sz="950" dirty="0">
                <a:solidFill>
                  <a:srgbClr val="AAAAAA"/>
                </a:solidFill>
              </a:rPr>
              <a:t>Accountant</a:t>
            </a:r>
            <a:endParaRPr lang="en-US" sz="950" dirty="0"/>
          </a:p>
        </p:txBody>
      </p:sp>
      <p:sp>
        <p:nvSpPr>
          <p:cNvPr id="45" name="Shape 42"/>
          <p:cNvSpPr/>
          <p:nvPr/>
        </p:nvSpPr>
        <p:spPr>
          <a:xfrm>
            <a:off x="9838944" y="5193792"/>
            <a:ext cx="2103120" cy="1481328"/>
          </a:xfrm>
          <a:prstGeom prst="rect">
            <a:avLst/>
          </a:prstGeom>
          <a:solidFill>
            <a:srgbClr val="383838"/>
          </a:solidFill>
          <a:ln w="12700">
            <a:solidFill>
              <a:srgbClr val="484848"/>
            </a:solidFill>
            <a:prstDash val="solid"/>
          </a:ln>
        </p:spPr>
        <p:txBody>
          <a:bodyPr/>
          <a:lstStyle/>
          <a:p>
            <a:endParaRPr lang="en-AE"/>
          </a:p>
        </p:txBody>
      </p:sp>
      <p:sp>
        <p:nvSpPr>
          <p:cNvPr id="46" name="Shape 43"/>
          <p:cNvSpPr/>
          <p:nvPr/>
        </p:nvSpPr>
        <p:spPr>
          <a:xfrm>
            <a:off x="9838944" y="5193792"/>
            <a:ext cx="2103120" cy="54864"/>
          </a:xfrm>
          <a:prstGeom prst="rect">
            <a:avLst/>
          </a:prstGeom>
          <a:solidFill>
            <a:srgbClr val="6BBF5A"/>
          </a:solidFill>
          <a:ln w="12700">
            <a:solidFill>
              <a:srgbClr val="6BBF5A"/>
            </a:solidFill>
            <a:prstDash val="solid"/>
          </a:ln>
        </p:spPr>
        <p:txBody>
          <a:bodyPr/>
          <a:lstStyle/>
          <a:p>
            <a:endParaRPr lang="en-AE"/>
          </a:p>
        </p:txBody>
      </p:sp>
      <p:sp>
        <p:nvSpPr>
          <p:cNvPr id="47" name="Text 44"/>
          <p:cNvSpPr/>
          <p:nvPr/>
        </p:nvSpPr>
        <p:spPr>
          <a:xfrm>
            <a:off x="9912096" y="5303520"/>
            <a:ext cx="1956816" cy="594360"/>
          </a:xfrm>
          <a:prstGeom prst="rect">
            <a:avLst/>
          </a:prstGeom>
          <a:noFill/>
          <a:ln/>
        </p:spPr>
        <p:txBody>
          <a:bodyPr wrap="square" lIns="0" tIns="0" rIns="0" bIns="0" rtlCol="0" anchor="ctr"/>
          <a:lstStyle/>
          <a:p>
            <a:pPr marL="0" indent="0" algn="ctr">
              <a:buNone/>
            </a:pPr>
            <a:r>
              <a:rPr lang="en-US" sz="1800" b="1" dirty="0">
                <a:solidFill>
                  <a:srgbClr val="6BBF5A"/>
                </a:solidFill>
                <a:latin typeface="Georgia" pitchFamily="34" charset="0"/>
                <a:ea typeface="Georgia" pitchFamily="34" charset="-122"/>
                <a:cs typeface="Georgia" pitchFamily="34" charset="-120"/>
              </a:rPr>
              <a:t>AED 8Bn+</a:t>
            </a:r>
            <a:endParaRPr lang="en-US" sz="1800" dirty="0"/>
          </a:p>
        </p:txBody>
      </p:sp>
      <p:sp>
        <p:nvSpPr>
          <p:cNvPr id="48" name="Text 45"/>
          <p:cNvSpPr/>
          <p:nvPr/>
        </p:nvSpPr>
        <p:spPr>
          <a:xfrm>
            <a:off x="9912096" y="5943600"/>
            <a:ext cx="1956816" cy="658368"/>
          </a:xfrm>
          <a:prstGeom prst="rect">
            <a:avLst/>
          </a:prstGeom>
          <a:noFill/>
          <a:ln/>
        </p:spPr>
        <p:txBody>
          <a:bodyPr wrap="square" lIns="0" tIns="0" rIns="0" bIns="0" rtlCol="0" anchor="ctr"/>
          <a:lstStyle/>
          <a:p>
            <a:pPr marL="0" indent="0" algn="ctr">
              <a:lnSpc>
                <a:spcPct val="130000"/>
              </a:lnSpc>
              <a:buNone/>
            </a:pPr>
            <a:r>
              <a:rPr lang="en-US" sz="950" dirty="0">
                <a:solidFill>
                  <a:srgbClr val="AAAAAA"/>
                </a:solidFill>
              </a:rPr>
              <a:t>Projects</a:t>
            </a:r>
            <a:endParaRPr lang="en-US" sz="950" dirty="0"/>
          </a:p>
          <a:p>
            <a:pPr marL="0" indent="0" algn="ctr">
              <a:lnSpc>
                <a:spcPct val="130000"/>
              </a:lnSpc>
              <a:buNone/>
            </a:pPr>
            <a:r>
              <a:rPr lang="en-US" sz="950" dirty="0">
                <a:solidFill>
                  <a:srgbClr val="AAAAAA"/>
                </a:solidFill>
              </a:rPr>
              <a:t>Supervised</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D6A32"/>
          </a:solidFill>
          <a:ln w="12700">
            <a:solidFill>
              <a:srgbClr val="2D6A32"/>
            </a:solidFill>
            <a:prstDash val="solid"/>
          </a:ln>
        </p:spPr>
        <p:txBody>
          <a:bodyPr/>
          <a:lstStyle/>
          <a:p>
            <a:endParaRPr lang="en-AE"/>
          </a:p>
        </p:txBody>
      </p:sp>
      <p:sp>
        <p:nvSpPr>
          <p:cNvPr id="3" name="Shape 1"/>
          <p:cNvSpPr/>
          <p:nvPr/>
        </p:nvSpPr>
        <p:spPr>
          <a:xfrm>
            <a:off x="109728" y="0"/>
            <a:ext cx="12051792" cy="1188720"/>
          </a:xfrm>
          <a:prstGeom prst="rect">
            <a:avLst/>
          </a:prstGeom>
          <a:solidFill>
            <a:srgbClr val="F5F5F3"/>
          </a:solidFill>
          <a:ln w="12700">
            <a:solidFill>
              <a:srgbClr val="F5F5F3"/>
            </a:solidFill>
            <a:prstDash val="solid"/>
          </a:ln>
        </p:spPr>
        <p:txBody>
          <a:bodyPr/>
          <a:lstStyle/>
          <a:p>
            <a:endParaRPr lang="en-AE"/>
          </a:p>
        </p:txBody>
      </p:sp>
      <p:pic>
        <p:nvPicPr>
          <p:cNvPr id="4" name="Image 0" descr="preencoded.png"/>
          <p:cNvPicPr>
            <a:picLocks noChangeAspect="1"/>
          </p:cNvPicPr>
          <p:nvPr/>
        </p:nvPicPr>
        <p:blipFill>
          <a:blip r:embed="rId3"/>
          <a:stretch>
            <a:fillRect/>
          </a:stretch>
        </p:blipFill>
        <p:spPr>
          <a:xfrm>
            <a:off x="320040" y="201168"/>
            <a:ext cx="2286000" cy="804672"/>
          </a:xfrm>
          <a:prstGeom prst="rect">
            <a:avLst/>
          </a:prstGeom>
        </p:spPr>
      </p:pic>
      <p:sp>
        <p:nvSpPr>
          <p:cNvPr id="5" name="Text 2"/>
          <p:cNvSpPr/>
          <p:nvPr/>
        </p:nvSpPr>
        <p:spPr>
          <a:xfrm>
            <a:off x="3200400" y="164592"/>
            <a:ext cx="7315200" cy="274320"/>
          </a:xfrm>
          <a:prstGeom prst="rect">
            <a:avLst/>
          </a:prstGeom>
          <a:noFill/>
          <a:ln/>
        </p:spPr>
        <p:txBody>
          <a:bodyPr wrap="square" lIns="0" tIns="0" rIns="0" bIns="0" rtlCol="0" anchor="ctr"/>
          <a:lstStyle/>
          <a:p>
            <a:pPr marL="0" indent="0">
              <a:buNone/>
            </a:pPr>
            <a:r>
              <a:rPr lang="en-US" sz="800" b="1" kern="0" spc="500" dirty="0">
                <a:solidFill>
                  <a:srgbClr val="2D6A32"/>
                </a:solidFill>
              </a:rPr>
              <a:t>OUR SERVICES</a:t>
            </a:r>
            <a:endParaRPr lang="en-US" sz="800" dirty="0"/>
          </a:p>
        </p:txBody>
      </p:sp>
      <p:sp>
        <p:nvSpPr>
          <p:cNvPr id="6" name="Text 3"/>
          <p:cNvSpPr/>
          <p:nvPr/>
        </p:nvSpPr>
        <p:spPr>
          <a:xfrm>
            <a:off x="3200400" y="457200"/>
            <a:ext cx="8229600" cy="594360"/>
          </a:xfrm>
          <a:prstGeom prst="rect">
            <a:avLst/>
          </a:prstGeom>
          <a:noFill/>
          <a:ln/>
        </p:spPr>
        <p:txBody>
          <a:bodyPr wrap="square" lIns="0" tIns="0" rIns="0" bIns="0" rtlCol="0" anchor="ctr"/>
          <a:lstStyle/>
          <a:p>
            <a:pPr marL="0" indent="0">
              <a:buNone/>
            </a:pPr>
            <a:r>
              <a:rPr lang="en-US" sz="2400" b="1" dirty="0">
                <a:solidFill>
                  <a:srgbClr val="2D2D2D"/>
                </a:solidFill>
                <a:latin typeface="Georgia" pitchFamily="34" charset="0"/>
                <a:ea typeface="Georgia" pitchFamily="34" charset="-122"/>
                <a:cs typeface="Georgia" pitchFamily="34" charset="-120"/>
              </a:rPr>
              <a:t>Diversity of Portfolio</a:t>
            </a:r>
            <a:endParaRPr lang="en-US" sz="2400" dirty="0"/>
          </a:p>
        </p:txBody>
      </p:sp>
      <p:sp>
        <p:nvSpPr>
          <p:cNvPr id="7" name="Shape 4"/>
          <p:cNvSpPr/>
          <p:nvPr/>
        </p:nvSpPr>
        <p:spPr>
          <a:xfrm>
            <a:off x="182880" y="1353312"/>
            <a:ext cx="2834640" cy="2514600"/>
          </a:xfrm>
          <a:prstGeom prst="rect">
            <a:avLst/>
          </a:prstGeom>
          <a:solidFill>
            <a:srgbClr val="F5F5F3"/>
          </a:solidFill>
          <a:ln w="12700">
            <a:solidFill>
              <a:srgbClr val="E0E0D8"/>
            </a:solidFill>
            <a:prstDash val="solid"/>
          </a:ln>
        </p:spPr>
        <p:txBody>
          <a:bodyPr/>
          <a:lstStyle/>
          <a:p>
            <a:endParaRPr lang="en-AE"/>
          </a:p>
        </p:txBody>
      </p:sp>
      <p:sp>
        <p:nvSpPr>
          <p:cNvPr id="8" name="Shape 5"/>
          <p:cNvSpPr/>
          <p:nvPr/>
        </p:nvSpPr>
        <p:spPr>
          <a:xfrm>
            <a:off x="182880" y="1353312"/>
            <a:ext cx="2834640" cy="384048"/>
          </a:xfrm>
          <a:prstGeom prst="rect">
            <a:avLst/>
          </a:prstGeom>
          <a:solidFill>
            <a:srgbClr val="2D6A32"/>
          </a:solidFill>
          <a:ln w="12700">
            <a:solidFill>
              <a:srgbClr val="2D6A32"/>
            </a:solidFill>
            <a:prstDash val="solid"/>
          </a:ln>
        </p:spPr>
        <p:txBody>
          <a:bodyPr/>
          <a:lstStyle/>
          <a:p>
            <a:endParaRPr lang="en-AE"/>
          </a:p>
        </p:txBody>
      </p:sp>
      <p:sp>
        <p:nvSpPr>
          <p:cNvPr id="9" name="Text 6"/>
          <p:cNvSpPr/>
          <p:nvPr/>
        </p:nvSpPr>
        <p:spPr>
          <a:xfrm>
            <a:off x="292608" y="1371600"/>
            <a:ext cx="2615184"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Audit &amp; Assurance</a:t>
            </a:r>
            <a:endParaRPr lang="en-US" sz="1200" dirty="0"/>
          </a:p>
        </p:txBody>
      </p:sp>
      <p:sp>
        <p:nvSpPr>
          <p:cNvPr id="10" name="Text 7"/>
          <p:cNvSpPr/>
          <p:nvPr/>
        </p:nvSpPr>
        <p:spPr>
          <a:xfrm>
            <a:off x="292608" y="1810512"/>
            <a:ext cx="2615184" cy="1965960"/>
          </a:xfrm>
          <a:prstGeom prst="rect">
            <a:avLst/>
          </a:prstGeom>
          <a:noFill/>
          <a:ln/>
        </p:spPr>
        <p:txBody>
          <a:bodyPr wrap="square" lIns="0" tIns="0" rIns="0" bIns="0" rtlCol="0" anchor="ctr"/>
          <a:lstStyle/>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Financial Statement Audits</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Revenue Audits</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Agreed upon procedures</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Liquidation reports</a:t>
            </a:r>
            <a:endParaRPr lang="en-US" sz="1100" dirty="0"/>
          </a:p>
        </p:txBody>
      </p:sp>
      <p:sp>
        <p:nvSpPr>
          <p:cNvPr id="11" name="Shape 8"/>
          <p:cNvSpPr/>
          <p:nvPr/>
        </p:nvSpPr>
        <p:spPr>
          <a:xfrm>
            <a:off x="3154680" y="1353312"/>
            <a:ext cx="2834640" cy="2514600"/>
          </a:xfrm>
          <a:prstGeom prst="rect">
            <a:avLst/>
          </a:prstGeom>
          <a:solidFill>
            <a:srgbClr val="F5F5F3"/>
          </a:solidFill>
          <a:ln w="12700">
            <a:solidFill>
              <a:srgbClr val="E0E0D8"/>
            </a:solidFill>
            <a:prstDash val="solid"/>
          </a:ln>
        </p:spPr>
        <p:txBody>
          <a:bodyPr/>
          <a:lstStyle/>
          <a:p>
            <a:endParaRPr lang="en-AE"/>
          </a:p>
        </p:txBody>
      </p:sp>
      <p:sp>
        <p:nvSpPr>
          <p:cNvPr id="12" name="Shape 9"/>
          <p:cNvSpPr/>
          <p:nvPr/>
        </p:nvSpPr>
        <p:spPr>
          <a:xfrm>
            <a:off x="3154680" y="1353312"/>
            <a:ext cx="2834640" cy="384048"/>
          </a:xfrm>
          <a:prstGeom prst="rect">
            <a:avLst/>
          </a:prstGeom>
          <a:solidFill>
            <a:srgbClr val="2D6A32"/>
          </a:solidFill>
          <a:ln w="12700">
            <a:solidFill>
              <a:srgbClr val="2D6A32"/>
            </a:solidFill>
            <a:prstDash val="solid"/>
          </a:ln>
        </p:spPr>
        <p:txBody>
          <a:bodyPr/>
          <a:lstStyle/>
          <a:p>
            <a:endParaRPr lang="en-AE"/>
          </a:p>
        </p:txBody>
      </p:sp>
      <p:sp>
        <p:nvSpPr>
          <p:cNvPr id="13" name="Text 10"/>
          <p:cNvSpPr/>
          <p:nvPr/>
        </p:nvSpPr>
        <p:spPr>
          <a:xfrm>
            <a:off x="3264408" y="1371600"/>
            <a:ext cx="2615184"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Risk Advisory</a:t>
            </a:r>
            <a:endParaRPr lang="en-US" sz="1200" dirty="0"/>
          </a:p>
        </p:txBody>
      </p:sp>
      <p:sp>
        <p:nvSpPr>
          <p:cNvPr id="14" name="Text 11"/>
          <p:cNvSpPr/>
          <p:nvPr/>
        </p:nvSpPr>
        <p:spPr>
          <a:xfrm>
            <a:off x="3264408" y="1810512"/>
            <a:ext cx="2615184" cy="1965960"/>
          </a:xfrm>
          <a:prstGeom prst="rect">
            <a:avLst/>
          </a:prstGeom>
          <a:noFill/>
          <a:ln/>
        </p:spPr>
        <p:txBody>
          <a:bodyPr wrap="square" lIns="0" tIns="0" rIns="0" bIns="0" rtlCol="0" anchor="ctr"/>
          <a:lstStyle/>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Internal Audit Outsourcing &amp; Co-Sourcing</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IT Audits (System &amp; Application)</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Forensic &amp; Investigation Services</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Governance Framework – Dev &amp; Impl</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Enterprise Risk Management</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AML Compliance &amp; Implementation</a:t>
            </a:r>
            <a:endParaRPr lang="en-US" sz="1100" dirty="0"/>
          </a:p>
        </p:txBody>
      </p:sp>
      <p:sp>
        <p:nvSpPr>
          <p:cNvPr id="15" name="Text 12"/>
          <p:cNvSpPr/>
          <p:nvPr/>
        </p:nvSpPr>
        <p:spPr>
          <a:xfrm>
            <a:off x="3264408" y="3685032"/>
            <a:ext cx="2286000" cy="164592"/>
          </a:xfrm>
          <a:prstGeom prst="rect">
            <a:avLst/>
          </a:prstGeom>
          <a:noFill/>
          <a:ln/>
        </p:spPr>
        <p:txBody>
          <a:bodyPr wrap="square" lIns="0" tIns="0" rIns="0" bIns="0" rtlCol="0" anchor="ctr"/>
          <a:lstStyle/>
          <a:p>
            <a:pPr marL="0" indent="0">
              <a:buNone/>
            </a:pPr>
            <a:r>
              <a:rPr lang="en-US" sz="800" i="1" dirty="0">
                <a:solidFill>
                  <a:srgbClr val="4A9952"/>
                </a:solidFill>
              </a:rPr>
              <a:t>+2 more</a:t>
            </a:r>
            <a:endParaRPr lang="en-US" sz="800" dirty="0"/>
          </a:p>
        </p:txBody>
      </p:sp>
      <p:sp>
        <p:nvSpPr>
          <p:cNvPr id="16" name="Shape 13"/>
          <p:cNvSpPr/>
          <p:nvPr/>
        </p:nvSpPr>
        <p:spPr>
          <a:xfrm>
            <a:off x="6126480" y="1353312"/>
            <a:ext cx="2834640" cy="2514600"/>
          </a:xfrm>
          <a:prstGeom prst="rect">
            <a:avLst/>
          </a:prstGeom>
          <a:solidFill>
            <a:srgbClr val="F5F5F3"/>
          </a:solidFill>
          <a:ln w="12700">
            <a:solidFill>
              <a:srgbClr val="E0E0D8"/>
            </a:solidFill>
            <a:prstDash val="solid"/>
          </a:ln>
        </p:spPr>
        <p:txBody>
          <a:bodyPr/>
          <a:lstStyle/>
          <a:p>
            <a:endParaRPr lang="en-AE"/>
          </a:p>
        </p:txBody>
      </p:sp>
      <p:sp>
        <p:nvSpPr>
          <p:cNvPr id="17" name="Shape 14"/>
          <p:cNvSpPr/>
          <p:nvPr/>
        </p:nvSpPr>
        <p:spPr>
          <a:xfrm>
            <a:off x="6126480" y="1353312"/>
            <a:ext cx="2834640" cy="384048"/>
          </a:xfrm>
          <a:prstGeom prst="rect">
            <a:avLst/>
          </a:prstGeom>
          <a:solidFill>
            <a:srgbClr val="2D6A32"/>
          </a:solidFill>
          <a:ln w="12700">
            <a:solidFill>
              <a:srgbClr val="2D6A32"/>
            </a:solidFill>
            <a:prstDash val="solid"/>
          </a:ln>
        </p:spPr>
        <p:txBody>
          <a:bodyPr/>
          <a:lstStyle/>
          <a:p>
            <a:endParaRPr lang="en-AE" sz="1200"/>
          </a:p>
        </p:txBody>
      </p:sp>
      <p:sp>
        <p:nvSpPr>
          <p:cNvPr id="18" name="Text 15"/>
          <p:cNvSpPr/>
          <p:nvPr/>
        </p:nvSpPr>
        <p:spPr>
          <a:xfrm>
            <a:off x="6236208" y="1371600"/>
            <a:ext cx="2615184" cy="34747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Strategy Consulting</a:t>
            </a:r>
            <a:endParaRPr lang="en-US" sz="1050" dirty="0"/>
          </a:p>
        </p:txBody>
      </p:sp>
      <p:sp>
        <p:nvSpPr>
          <p:cNvPr id="19" name="Text 16"/>
          <p:cNvSpPr/>
          <p:nvPr/>
        </p:nvSpPr>
        <p:spPr>
          <a:xfrm>
            <a:off x="6236208" y="1810512"/>
            <a:ext cx="2615184" cy="1965960"/>
          </a:xfrm>
          <a:prstGeom prst="rect">
            <a:avLst/>
          </a:prstGeom>
          <a:noFill/>
          <a:ln/>
        </p:spPr>
        <p:txBody>
          <a:bodyPr wrap="square" lIns="0" tIns="0" rIns="0" bIns="0" rtlCol="0" anchor="ctr"/>
          <a:lstStyle/>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Corporate Strategy</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Operational Strategy</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Marketing Strategy &amp; Planning</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Market Research and surveys</a:t>
            </a:r>
            <a:endParaRPr lang="en-US" sz="1100" dirty="0"/>
          </a:p>
        </p:txBody>
      </p:sp>
      <p:sp>
        <p:nvSpPr>
          <p:cNvPr id="20" name="Shape 17"/>
          <p:cNvSpPr/>
          <p:nvPr/>
        </p:nvSpPr>
        <p:spPr>
          <a:xfrm>
            <a:off x="9098280" y="1353312"/>
            <a:ext cx="2834640" cy="2514600"/>
          </a:xfrm>
          <a:prstGeom prst="rect">
            <a:avLst/>
          </a:prstGeom>
          <a:solidFill>
            <a:srgbClr val="F5F5F3"/>
          </a:solidFill>
          <a:ln w="12700">
            <a:solidFill>
              <a:srgbClr val="E0E0D8"/>
            </a:solidFill>
            <a:prstDash val="solid"/>
          </a:ln>
        </p:spPr>
        <p:txBody>
          <a:bodyPr/>
          <a:lstStyle/>
          <a:p>
            <a:endParaRPr lang="en-AE"/>
          </a:p>
        </p:txBody>
      </p:sp>
      <p:sp>
        <p:nvSpPr>
          <p:cNvPr id="21" name="Shape 18"/>
          <p:cNvSpPr/>
          <p:nvPr/>
        </p:nvSpPr>
        <p:spPr>
          <a:xfrm>
            <a:off x="9098280" y="1353312"/>
            <a:ext cx="2834640" cy="384048"/>
          </a:xfrm>
          <a:prstGeom prst="rect">
            <a:avLst/>
          </a:prstGeom>
          <a:solidFill>
            <a:srgbClr val="2D6A32"/>
          </a:solidFill>
          <a:ln w="12700">
            <a:solidFill>
              <a:srgbClr val="2D6A32"/>
            </a:solidFill>
            <a:prstDash val="solid"/>
          </a:ln>
        </p:spPr>
        <p:txBody>
          <a:bodyPr/>
          <a:lstStyle/>
          <a:p>
            <a:endParaRPr lang="en-AE"/>
          </a:p>
        </p:txBody>
      </p:sp>
      <p:sp>
        <p:nvSpPr>
          <p:cNvPr id="22" name="Text 19"/>
          <p:cNvSpPr/>
          <p:nvPr/>
        </p:nvSpPr>
        <p:spPr>
          <a:xfrm>
            <a:off x="9208008" y="1371600"/>
            <a:ext cx="2615184"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Human Resource Consulting</a:t>
            </a:r>
            <a:endParaRPr lang="en-US" sz="1200" dirty="0"/>
          </a:p>
        </p:txBody>
      </p:sp>
      <p:sp>
        <p:nvSpPr>
          <p:cNvPr id="23" name="Text 20"/>
          <p:cNvSpPr/>
          <p:nvPr/>
        </p:nvSpPr>
        <p:spPr>
          <a:xfrm>
            <a:off x="9208008" y="1810512"/>
            <a:ext cx="2615184" cy="1965960"/>
          </a:xfrm>
          <a:prstGeom prst="rect">
            <a:avLst/>
          </a:prstGeom>
          <a:noFill/>
          <a:ln/>
        </p:spPr>
        <p:txBody>
          <a:bodyPr wrap="square" lIns="0" tIns="0" rIns="0" bIns="0" rtlCol="0" anchor="ctr"/>
          <a:lstStyle/>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Organisation Structure Analyses &amp; Design</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HR Due Diligence &amp; Audits</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HRM Diagnostic Analysis</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Salary &amp; Compensation Survey</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Talent Development</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Executive Leasing</a:t>
            </a:r>
            <a:endParaRPr lang="en-US" sz="1100" dirty="0"/>
          </a:p>
        </p:txBody>
      </p:sp>
      <p:sp>
        <p:nvSpPr>
          <p:cNvPr id="24" name="Shape 21"/>
          <p:cNvSpPr/>
          <p:nvPr/>
        </p:nvSpPr>
        <p:spPr>
          <a:xfrm>
            <a:off x="182880" y="4050792"/>
            <a:ext cx="2834640" cy="2514600"/>
          </a:xfrm>
          <a:prstGeom prst="rect">
            <a:avLst/>
          </a:prstGeom>
          <a:solidFill>
            <a:srgbClr val="F5F5F3"/>
          </a:solidFill>
          <a:ln w="12700">
            <a:solidFill>
              <a:srgbClr val="E0E0D8"/>
            </a:solidFill>
            <a:prstDash val="solid"/>
          </a:ln>
        </p:spPr>
        <p:txBody>
          <a:bodyPr/>
          <a:lstStyle/>
          <a:p>
            <a:endParaRPr lang="en-AE"/>
          </a:p>
        </p:txBody>
      </p:sp>
      <p:sp>
        <p:nvSpPr>
          <p:cNvPr id="25" name="Shape 22"/>
          <p:cNvSpPr/>
          <p:nvPr/>
        </p:nvSpPr>
        <p:spPr>
          <a:xfrm>
            <a:off x="182880" y="4050792"/>
            <a:ext cx="2834640" cy="384048"/>
          </a:xfrm>
          <a:prstGeom prst="rect">
            <a:avLst/>
          </a:prstGeom>
          <a:solidFill>
            <a:srgbClr val="2D6A32"/>
          </a:solidFill>
          <a:ln w="12700">
            <a:solidFill>
              <a:srgbClr val="2D6A32"/>
            </a:solidFill>
            <a:prstDash val="solid"/>
          </a:ln>
        </p:spPr>
        <p:txBody>
          <a:bodyPr/>
          <a:lstStyle/>
          <a:p>
            <a:endParaRPr lang="en-AE"/>
          </a:p>
        </p:txBody>
      </p:sp>
      <p:sp>
        <p:nvSpPr>
          <p:cNvPr id="26" name="Text 23"/>
          <p:cNvSpPr/>
          <p:nvPr/>
        </p:nvSpPr>
        <p:spPr>
          <a:xfrm>
            <a:off x="292608" y="4069080"/>
            <a:ext cx="2615184"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Information Technology</a:t>
            </a:r>
            <a:endParaRPr lang="en-US" sz="1200" dirty="0"/>
          </a:p>
        </p:txBody>
      </p:sp>
      <p:sp>
        <p:nvSpPr>
          <p:cNvPr id="27" name="Text 24"/>
          <p:cNvSpPr/>
          <p:nvPr/>
        </p:nvSpPr>
        <p:spPr>
          <a:xfrm>
            <a:off x="292608" y="4507992"/>
            <a:ext cx="2615184" cy="1965960"/>
          </a:xfrm>
          <a:prstGeom prst="rect">
            <a:avLst/>
          </a:prstGeom>
          <a:noFill/>
          <a:ln/>
        </p:spPr>
        <p:txBody>
          <a:bodyPr wrap="square" lIns="0" tIns="0" rIns="0" bIns="0" rtlCol="0" anchor="ctr"/>
          <a:lstStyle/>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IT Strategy</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IT Operational Modelling</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IT Architecture &amp; Design</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Information Security</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IT Operations Management</a:t>
            </a:r>
            <a:endParaRPr lang="en-US" sz="1100" dirty="0"/>
          </a:p>
        </p:txBody>
      </p:sp>
      <p:sp>
        <p:nvSpPr>
          <p:cNvPr id="28" name="Shape 25"/>
          <p:cNvSpPr/>
          <p:nvPr/>
        </p:nvSpPr>
        <p:spPr>
          <a:xfrm>
            <a:off x="3154680" y="4050792"/>
            <a:ext cx="2834640" cy="2514600"/>
          </a:xfrm>
          <a:prstGeom prst="rect">
            <a:avLst/>
          </a:prstGeom>
          <a:solidFill>
            <a:srgbClr val="F5F5F3"/>
          </a:solidFill>
          <a:ln w="12700">
            <a:solidFill>
              <a:srgbClr val="E0E0D8"/>
            </a:solidFill>
            <a:prstDash val="solid"/>
          </a:ln>
        </p:spPr>
        <p:txBody>
          <a:bodyPr/>
          <a:lstStyle/>
          <a:p>
            <a:endParaRPr lang="en-AE"/>
          </a:p>
        </p:txBody>
      </p:sp>
      <p:sp>
        <p:nvSpPr>
          <p:cNvPr id="29" name="Shape 26"/>
          <p:cNvSpPr/>
          <p:nvPr/>
        </p:nvSpPr>
        <p:spPr>
          <a:xfrm>
            <a:off x="3154680" y="4050792"/>
            <a:ext cx="2834640" cy="384048"/>
          </a:xfrm>
          <a:prstGeom prst="rect">
            <a:avLst/>
          </a:prstGeom>
          <a:solidFill>
            <a:srgbClr val="2D6A32"/>
          </a:solidFill>
          <a:ln w="12700">
            <a:solidFill>
              <a:srgbClr val="2D6A32"/>
            </a:solidFill>
            <a:prstDash val="solid"/>
          </a:ln>
        </p:spPr>
        <p:txBody>
          <a:bodyPr/>
          <a:lstStyle/>
          <a:p>
            <a:endParaRPr lang="en-AE"/>
          </a:p>
        </p:txBody>
      </p:sp>
      <p:sp>
        <p:nvSpPr>
          <p:cNvPr id="30" name="Text 27"/>
          <p:cNvSpPr/>
          <p:nvPr/>
        </p:nvSpPr>
        <p:spPr>
          <a:xfrm>
            <a:off x="3264408" y="4069080"/>
            <a:ext cx="2615184"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Health Care</a:t>
            </a:r>
            <a:endParaRPr lang="en-US" sz="1200" dirty="0"/>
          </a:p>
        </p:txBody>
      </p:sp>
      <p:sp>
        <p:nvSpPr>
          <p:cNvPr id="31" name="Text 28"/>
          <p:cNvSpPr/>
          <p:nvPr/>
        </p:nvSpPr>
        <p:spPr>
          <a:xfrm>
            <a:off x="3264408" y="4507992"/>
            <a:ext cx="2615184" cy="1965960"/>
          </a:xfrm>
          <a:prstGeom prst="rect">
            <a:avLst/>
          </a:prstGeom>
          <a:noFill/>
          <a:ln/>
        </p:spPr>
        <p:txBody>
          <a:bodyPr wrap="square" lIns="0" tIns="0" rIns="0" bIns="0" rtlCol="0" anchor="ctr"/>
          <a:lstStyle/>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Revenue Cycle Management</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Regulatory Compliance &amp; Internal Audits</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Finance Function Outsourcing</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Health Information Systems</a:t>
            </a:r>
            <a:endParaRPr lang="en-US" sz="1100" dirty="0"/>
          </a:p>
        </p:txBody>
      </p:sp>
      <p:sp>
        <p:nvSpPr>
          <p:cNvPr id="32" name="Shape 29"/>
          <p:cNvSpPr/>
          <p:nvPr/>
        </p:nvSpPr>
        <p:spPr>
          <a:xfrm>
            <a:off x="6126480" y="4050792"/>
            <a:ext cx="2834640" cy="2514600"/>
          </a:xfrm>
          <a:prstGeom prst="rect">
            <a:avLst/>
          </a:prstGeom>
          <a:solidFill>
            <a:srgbClr val="F5F5F3"/>
          </a:solidFill>
          <a:ln w="12700">
            <a:solidFill>
              <a:srgbClr val="E0E0D8"/>
            </a:solidFill>
            <a:prstDash val="solid"/>
          </a:ln>
        </p:spPr>
        <p:txBody>
          <a:bodyPr/>
          <a:lstStyle/>
          <a:p>
            <a:endParaRPr lang="en-AE"/>
          </a:p>
        </p:txBody>
      </p:sp>
      <p:sp>
        <p:nvSpPr>
          <p:cNvPr id="33" name="Shape 30"/>
          <p:cNvSpPr/>
          <p:nvPr/>
        </p:nvSpPr>
        <p:spPr>
          <a:xfrm>
            <a:off x="6126480" y="4050792"/>
            <a:ext cx="2834640" cy="384048"/>
          </a:xfrm>
          <a:prstGeom prst="rect">
            <a:avLst/>
          </a:prstGeom>
          <a:solidFill>
            <a:srgbClr val="2D6A32"/>
          </a:solidFill>
          <a:ln w="12700">
            <a:solidFill>
              <a:srgbClr val="2D6A32"/>
            </a:solidFill>
            <a:prstDash val="solid"/>
          </a:ln>
        </p:spPr>
        <p:txBody>
          <a:bodyPr/>
          <a:lstStyle/>
          <a:p>
            <a:endParaRPr lang="en-AE"/>
          </a:p>
        </p:txBody>
      </p:sp>
      <p:sp>
        <p:nvSpPr>
          <p:cNvPr id="34" name="Text 31"/>
          <p:cNvSpPr/>
          <p:nvPr/>
        </p:nvSpPr>
        <p:spPr>
          <a:xfrm>
            <a:off x="6236208" y="4069080"/>
            <a:ext cx="2615184"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Financial Advisory</a:t>
            </a:r>
            <a:endParaRPr lang="en-US" sz="1200" dirty="0"/>
          </a:p>
        </p:txBody>
      </p:sp>
      <p:sp>
        <p:nvSpPr>
          <p:cNvPr id="35" name="Text 32"/>
          <p:cNvSpPr/>
          <p:nvPr/>
        </p:nvSpPr>
        <p:spPr>
          <a:xfrm>
            <a:off x="6236208" y="4507992"/>
            <a:ext cx="2615184" cy="1965960"/>
          </a:xfrm>
          <a:prstGeom prst="rect">
            <a:avLst/>
          </a:prstGeom>
          <a:noFill/>
          <a:ln/>
        </p:spPr>
        <p:txBody>
          <a:bodyPr wrap="square" lIns="0" tIns="0" rIns="0" bIns="0" rtlCol="0" anchor="ctr"/>
          <a:lstStyle/>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Financial Due Diligence</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Fund Raising</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Mergers &amp; Acquisitions</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Investment Advisory &amp; Wealth Mgmt</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Business Valuations</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Private Equity</a:t>
            </a:r>
            <a:endParaRPr lang="en-US" sz="1100" dirty="0"/>
          </a:p>
        </p:txBody>
      </p:sp>
      <p:sp>
        <p:nvSpPr>
          <p:cNvPr id="36" name="Text 33"/>
          <p:cNvSpPr/>
          <p:nvPr/>
        </p:nvSpPr>
        <p:spPr>
          <a:xfrm>
            <a:off x="6236208" y="6382512"/>
            <a:ext cx="2286000" cy="164592"/>
          </a:xfrm>
          <a:prstGeom prst="rect">
            <a:avLst/>
          </a:prstGeom>
          <a:noFill/>
          <a:ln/>
        </p:spPr>
        <p:txBody>
          <a:bodyPr wrap="square" lIns="0" tIns="0" rIns="0" bIns="0" rtlCol="0" anchor="ctr"/>
          <a:lstStyle/>
          <a:p>
            <a:pPr marL="0" indent="0">
              <a:buNone/>
            </a:pPr>
            <a:r>
              <a:rPr lang="en-US" sz="800" i="1" dirty="0">
                <a:solidFill>
                  <a:srgbClr val="4A9952"/>
                </a:solidFill>
              </a:rPr>
              <a:t>+3 more</a:t>
            </a:r>
            <a:endParaRPr lang="en-US" sz="800" dirty="0"/>
          </a:p>
        </p:txBody>
      </p:sp>
      <p:sp>
        <p:nvSpPr>
          <p:cNvPr id="37" name="Shape 34"/>
          <p:cNvSpPr/>
          <p:nvPr/>
        </p:nvSpPr>
        <p:spPr>
          <a:xfrm>
            <a:off x="9098280" y="4050792"/>
            <a:ext cx="2834640" cy="2514600"/>
          </a:xfrm>
          <a:prstGeom prst="rect">
            <a:avLst/>
          </a:prstGeom>
          <a:solidFill>
            <a:srgbClr val="F5F5F3"/>
          </a:solidFill>
          <a:ln w="12700">
            <a:solidFill>
              <a:srgbClr val="E0E0D8"/>
            </a:solidFill>
            <a:prstDash val="solid"/>
          </a:ln>
        </p:spPr>
        <p:txBody>
          <a:bodyPr/>
          <a:lstStyle/>
          <a:p>
            <a:endParaRPr lang="en-AE"/>
          </a:p>
        </p:txBody>
      </p:sp>
      <p:sp>
        <p:nvSpPr>
          <p:cNvPr id="38" name="Shape 35"/>
          <p:cNvSpPr/>
          <p:nvPr/>
        </p:nvSpPr>
        <p:spPr>
          <a:xfrm>
            <a:off x="9098280" y="4050792"/>
            <a:ext cx="2834640" cy="384048"/>
          </a:xfrm>
          <a:prstGeom prst="rect">
            <a:avLst/>
          </a:prstGeom>
          <a:solidFill>
            <a:srgbClr val="2D6A32"/>
          </a:solidFill>
          <a:ln w="12700">
            <a:solidFill>
              <a:srgbClr val="2D6A32"/>
            </a:solidFill>
            <a:prstDash val="solid"/>
          </a:ln>
        </p:spPr>
        <p:txBody>
          <a:bodyPr/>
          <a:lstStyle/>
          <a:p>
            <a:endParaRPr lang="en-AE"/>
          </a:p>
        </p:txBody>
      </p:sp>
      <p:sp>
        <p:nvSpPr>
          <p:cNvPr id="39" name="Text 36"/>
          <p:cNvSpPr/>
          <p:nvPr/>
        </p:nvSpPr>
        <p:spPr>
          <a:xfrm>
            <a:off x="9208008" y="4069080"/>
            <a:ext cx="2615184"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Accounting &amp; Systems</a:t>
            </a:r>
            <a:endParaRPr lang="en-US" sz="1200" dirty="0"/>
          </a:p>
        </p:txBody>
      </p:sp>
      <p:sp>
        <p:nvSpPr>
          <p:cNvPr id="40" name="Text 37"/>
          <p:cNvSpPr/>
          <p:nvPr/>
        </p:nvSpPr>
        <p:spPr>
          <a:xfrm>
            <a:off x="9208008" y="4507992"/>
            <a:ext cx="2615184" cy="1965960"/>
          </a:xfrm>
          <a:prstGeom prst="rect">
            <a:avLst/>
          </a:prstGeom>
          <a:noFill/>
          <a:ln/>
        </p:spPr>
        <p:txBody>
          <a:bodyPr wrap="square" lIns="0" tIns="0" rIns="0" bIns="0" rtlCol="0" anchor="ctr"/>
          <a:lstStyle/>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Complete ERP System</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Accounting Outsourcing &amp; CFO Services</a:t>
            </a:r>
            <a:endParaRPr lang="en-US" sz="1100" dirty="0"/>
          </a:p>
          <a:p>
            <a:pPr marL="342900" indent="-342900">
              <a:lnSpc>
                <a:spcPct val="130000"/>
              </a:lnSpc>
              <a:buSzPct val="100000"/>
              <a:buChar char="•"/>
            </a:pPr>
            <a:r>
              <a:rPr lang="en-US" sz="1100" dirty="0">
                <a:solidFill>
                  <a:srgbClr val="4A4A4A"/>
                </a:solidFill>
                <a:latin typeface="Calibri" pitchFamily="34" charset="0"/>
                <a:ea typeface="Calibri" pitchFamily="34" charset="-122"/>
                <a:cs typeface="Calibri" pitchFamily="34" charset="-120"/>
              </a:rPr>
              <a:t>Development of Policy and Procedures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D6A32"/>
          </a:solidFill>
          <a:ln w="12700">
            <a:solidFill>
              <a:srgbClr val="2D6A32"/>
            </a:solidFill>
            <a:prstDash val="solid"/>
          </a:ln>
        </p:spPr>
        <p:txBody>
          <a:bodyPr/>
          <a:lstStyle/>
          <a:p>
            <a:endParaRPr lang="en-AE"/>
          </a:p>
        </p:txBody>
      </p:sp>
      <p:sp>
        <p:nvSpPr>
          <p:cNvPr id="3" name="Shape 1"/>
          <p:cNvSpPr/>
          <p:nvPr/>
        </p:nvSpPr>
        <p:spPr>
          <a:xfrm>
            <a:off x="109728" y="0"/>
            <a:ext cx="12051792" cy="1188720"/>
          </a:xfrm>
          <a:prstGeom prst="rect">
            <a:avLst/>
          </a:prstGeom>
          <a:solidFill>
            <a:srgbClr val="F5F5F3"/>
          </a:solidFill>
          <a:ln w="12700">
            <a:solidFill>
              <a:srgbClr val="F5F5F3"/>
            </a:solidFill>
            <a:prstDash val="solid"/>
          </a:ln>
        </p:spPr>
        <p:txBody>
          <a:bodyPr/>
          <a:lstStyle/>
          <a:p>
            <a:endParaRPr lang="en-AE"/>
          </a:p>
        </p:txBody>
      </p:sp>
      <p:pic>
        <p:nvPicPr>
          <p:cNvPr id="4" name="Image 0" descr="preencoded.png"/>
          <p:cNvPicPr>
            <a:picLocks noChangeAspect="1"/>
          </p:cNvPicPr>
          <p:nvPr/>
        </p:nvPicPr>
        <p:blipFill>
          <a:blip r:embed="rId3"/>
          <a:stretch>
            <a:fillRect/>
          </a:stretch>
        </p:blipFill>
        <p:spPr>
          <a:xfrm>
            <a:off x="320040" y="201168"/>
            <a:ext cx="2286000" cy="804672"/>
          </a:xfrm>
          <a:prstGeom prst="rect">
            <a:avLst/>
          </a:prstGeom>
        </p:spPr>
      </p:pic>
      <p:sp>
        <p:nvSpPr>
          <p:cNvPr id="5" name="Text 2"/>
          <p:cNvSpPr/>
          <p:nvPr/>
        </p:nvSpPr>
        <p:spPr>
          <a:xfrm>
            <a:off x="3200400" y="164592"/>
            <a:ext cx="7315200" cy="274320"/>
          </a:xfrm>
          <a:prstGeom prst="rect">
            <a:avLst/>
          </a:prstGeom>
          <a:noFill/>
          <a:ln/>
        </p:spPr>
        <p:txBody>
          <a:bodyPr wrap="square" lIns="0" tIns="0" rIns="0" bIns="0" rtlCol="0" anchor="ctr"/>
          <a:lstStyle/>
          <a:p>
            <a:pPr marL="0" indent="0">
              <a:buNone/>
            </a:pPr>
            <a:r>
              <a:rPr lang="en-US" sz="800" b="1" kern="0" spc="500" dirty="0">
                <a:solidFill>
                  <a:srgbClr val="2D6A32"/>
                </a:solidFill>
              </a:rPr>
              <a:t>SECTOR EXPERTISE</a:t>
            </a:r>
            <a:endParaRPr lang="en-US" sz="800" dirty="0"/>
          </a:p>
        </p:txBody>
      </p:sp>
      <p:sp>
        <p:nvSpPr>
          <p:cNvPr id="6" name="Text 3"/>
          <p:cNvSpPr/>
          <p:nvPr/>
        </p:nvSpPr>
        <p:spPr>
          <a:xfrm>
            <a:off x="3200400" y="457200"/>
            <a:ext cx="8229600" cy="594360"/>
          </a:xfrm>
          <a:prstGeom prst="rect">
            <a:avLst/>
          </a:prstGeom>
          <a:noFill/>
          <a:ln/>
        </p:spPr>
        <p:txBody>
          <a:bodyPr wrap="square" lIns="0" tIns="0" rIns="0" bIns="0" rtlCol="0" anchor="ctr"/>
          <a:lstStyle/>
          <a:p>
            <a:pPr marL="0" indent="0">
              <a:buNone/>
            </a:pPr>
            <a:r>
              <a:rPr lang="en-US" sz="2400" b="1" dirty="0">
                <a:solidFill>
                  <a:srgbClr val="2D2D2D"/>
                </a:solidFill>
                <a:latin typeface="Georgia" pitchFamily="34" charset="0"/>
                <a:ea typeface="Georgia" pitchFamily="34" charset="-122"/>
                <a:cs typeface="Georgia" pitchFamily="34" charset="-120"/>
              </a:rPr>
              <a:t>Industries We Serve</a:t>
            </a:r>
            <a:endParaRPr lang="en-US" sz="2400" dirty="0"/>
          </a:p>
        </p:txBody>
      </p:sp>
      <p:sp>
        <p:nvSpPr>
          <p:cNvPr id="7" name="Text 4"/>
          <p:cNvSpPr/>
          <p:nvPr/>
        </p:nvSpPr>
        <p:spPr>
          <a:xfrm>
            <a:off x="320040" y="1325880"/>
            <a:ext cx="11521440" cy="457200"/>
          </a:xfrm>
          <a:prstGeom prst="rect">
            <a:avLst/>
          </a:prstGeom>
          <a:noFill/>
          <a:ln/>
        </p:spPr>
        <p:txBody>
          <a:bodyPr wrap="square" lIns="0" tIns="0" rIns="0" bIns="0" rtlCol="0" anchor="ctr"/>
          <a:lstStyle/>
          <a:p>
            <a:pPr marL="0" indent="0">
              <a:buNone/>
            </a:pPr>
            <a:r>
              <a:rPr lang="en-US" sz="1400" dirty="0">
                <a:solidFill>
                  <a:srgbClr val="4A4A4A"/>
                </a:solidFill>
                <a:latin typeface="Calibri" pitchFamily="34" charset="0"/>
                <a:ea typeface="Calibri" pitchFamily="34" charset="-122"/>
                <a:cs typeface="Calibri" pitchFamily="34" charset="-120"/>
              </a:rPr>
              <a:t>We bring proven expertise across 19 diverse industries — enabling us to deliver contextually informed, sector-specific solutions to clients worldwide.</a:t>
            </a:r>
            <a:endParaRPr lang="en-US" sz="1400" dirty="0"/>
          </a:p>
        </p:txBody>
      </p:sp>
      <p:sp>
        <p:nvSpPr>
          <p:cNvPr id="8" name="Shape 5"/>
          <p:cNvSpPr/>
          <p:nvPr/>
        </p:nvSpPr>
        <p:spPr>
          <a:xfrm>
            <a:off x="182880" y="1920240"/>
            <a:ext cx="2267712" cy="987552"/>
          </a:xfrm>
          <a:prstGeom prst="rect">
            <a:avLst/>
          </a:prstGeom>
          <a:solidFill>
            <a:srgbClr val="F5F5F3"/>
          </a:solidFill>
          <a:ln w="12700">
            <a:solidFill>
              <a:srgbClr val="E0E0D8"/>
            </a:solidFill>
            <a:prstDash val="solid"/>
          </a:ln>
        </p:spPr>
        <p:txBody>
          <a:bodyPr/>
          <a:lstStyle/>
          <a:p>
            <a:endParaRPr lang="en-AE"/>
          </a:p>
        </p:txBody>
      </p:sp>
      <p:sp>
        <p:nvSpPr>
          <p:cNvPr id="9" name="Shape 6"/>
          <p:cNvSpPr/>
          <p:nvPr/>
        </p:nvSpPr>
        <p:spPr>
          <a:xfrm>
            <a:off x="182880" y="2670048"/>
            <a:ext cx="2267712" cy="237744"/>
          </a:xfrm>
          <a:prstGeom prst="rect">
            <a:avLst/>
          </a:prstGeom>
          <a:solidFill>
            <a:srgbClr val="2D6A32"/>
          </a:solidFill>
          <a:ln w="12700">
            <a:solidFill>
              <a:srgbClr val="2D6A32"/>
            </a:solidFill>
            <a:prstDash val="solid"/>
          </a:ln>
        </p:spPr>
        <p:txBody>
          <a:bodyPr/>
          <a:lstStyle/>
          <a:p>
            <a:endParaRPr lang="en-AE"/>
          </a:p>
        </p:txBody>
      </p:sp>
      <p:sp>
        <p:nvSpPr>
          <p:cNvPr id="10" name="Shape 7"/>
          <p:cNvSpPr/>
          <p:nvPr/>
        </p:nvSpPr>
        <p:spPr>
          <a:xfrm>
            <a:off x="310896" y="2029968"/>
            <a:ext cx="182880" cy="182880"/>
          </a:xfrm>
          <a:prstGeom prst="ellipse">
            <a:avLst/>
          </a:prstGeom>
          <a:solidFill>
            <a:srgbClr val="6BBF5A"/>
          </a:solidFill>
          <a:ln w="12700">
            <a:solidFill>
              <a:srgbClr val="6BBF5A"/>
            </a:solidFill>
            <a:prstDash val="solid"/>
          </a:ln>
        </p:spPr>
        <p:txBody>
          <a:bodyPr/>
          <a:lstStyle/>
          <a:p>
            <a:endParaRPr lang="en-AE"/>
          </a:p>
        </p:txBody>
      </p:sp>
      <p:sp>
        <p:nvSpPr>
          <p:cNvPr id="11" name="Text 8"/>
          <p:cNvSpPr/>
          <p:nvPr/>
        </p:nvSpPr>
        <p:spPr>
          <a:xfrm>
            <a:off x="566928" y="1956816"/>
            <a:ext cx="1783080" cy="658368"/>
          </a:xfrm>
          <a:prstGeom prst="rect">
            <a:avLst/>
          </a:prstGeom>
          <a:noFill/>
          <a:ln/>
        </p:spPr>
        <p:txBody>
          <a:bodyPr wrap="square" lIns="0" tIns="0" rIns="0" bIns="0" rtlCol="0" anchor="ctr"/>
          <a:lstStyle/>
          <a:p>
            <a:pPr marL="0" indent="0">
              <a:lnSpc>
                <a:spcPct val="120000"/>
              </a:lnSpc>
              <a:buNone/>
            </a:pPr>
            <a:r>
              <a:rPr lang="en-US" sz="1200" dirty="0">
                <a:solidFill>
                  <a:srgbClr val="2D2D2D"/>
                </a:solidFill>
                <a:latin typeface="Calibri" pitchFamily="34" charset="0"/>
                <a:ea typeface="Calibri" pitchFamily="34" charset="-122"/>
                <a:cs typeface="Calibri" pitchFamily="34" charset="-120"/>
              </a:rPr>
              <a:t>Oil &amp; Gas</a:t>
            </a:r>
            <a:endParaRPr lang="en-US" sz="1200" dirty="0"/>
          </a:p>
        </p:txBody>
      </p:sp>
      <p:sp>
        <p:nvSpPr>
          <p:cNvPr id="12" name="Shape 9"/>
          <p:cNvSpPr/>
          <p:nvPr/>
        </p:nvSpPr>
        <p:spPr>
          <a:xfrm>
            <a:off x="2560320" y="1920240"/>
            <a:ext cx="2267712" cy="987552"/>
          </a:xfrm>
          <a:prstGeom prst="rect">
            <a:avLst/>
          </a:prstGeom>
          <a:solidFill>
            <a:srgbClr val="F5F5F3"/>
          </a:solidFill>
          <a:ln w="12700">
            <a:solidFill>
              <a:srgbClr val="E0E0D8"/>
            </a:solidFill>
            <a:prstDash val="solid"/>
          </a:ln>
        </p:spPr>
        <p:txBody>
          <a:bodyPr/>
          <a:lstStyle/>
          <a:p>
            <a:endParaRPr lang="en-AE"/>
          </a:p>
        </p:txBody>
      </p:sp>
      <p:sp>
        <p:nvSpPr>
          <p:cNvPr id="13" name="Shape 10"/>
          <p:cNvSpPr/>
          <p:nvPr/>
        </p:nvSpPr>
        <p:spPr>
          <a:xfrm>
            <a:off x="2560320" y="2670048"/>
            <a:ext cx="2267712" cy="237744"/>
          </a:xfrm>
          <a:prstGeom prst="rect">
            <a:avLst/>
          </a:prstGeom>
          <a:solidFill>
            <a:srgbClr val="2D6A32"/>
          </a:solidFill>
          <a:ln w="12700">
            <a:solidFill>
              <a:srgbClr val="2D6A32"/>
            </a:solidFill>
            <a:prstDash val="solid"/>
          </a:ln>
        </p:spPr>
        <p:txBody>
          <a:bodyPr/>
          <a:lstStyle/>
          <a:p>
            <a:endParaRPr lang="en-AE"/>
          </a:p>
        </p:txBody>
      </p:sp>
      <p:sp>
        <p:nvSpPr>
          <p:cNvPr id="14" name="Shape 11"/>
          <p:cNvSpPr/>
          <p:nvPr/>
        </p:nvSpPr>
        <p:spPr>
          <a:xfrm>
            <a:off x="2688336" y="2029968"/>
            <a:ext cx="182880" cy="182880"/>
          </a:xfrm>
          <a:prstGeom prst="ellipse">
            <a:avLst/>
          </a:prstGeom>
          <a:solidFill>
            <a:srgbClr val="6BBF5A"/>
          </a:solidFill>
          <a:ln w="12700">
            <a:solidFill>
              <a:srgbClr val="6BBF5A"/>
            </a:solidFill>
            <a:prstDash val="solid"/>
          </a:ln>
        </p:spPr>
        <p:txBody>
          <a:bodyPr/>
          <a:lstStyle/>
          <a:p>
            <a:endParaRPr lang="en-AE"/>
          </a:p>
        </p:txBody>
      </p:sp>
      <p:sp>
        <p:nvSpPr>
          <p:cNvPr id="15" name="Text 12"/>
          <p:cNvSpPr/>
          <p:nvPr/>
        </p:nvSpPr>
        <p:spPr>
          <a:xfrm>
            <a:off x="2944368" y="1956816"/>
            <a:ext cx="1783080" cy="658368"/>
          </a:xfrm>
          <a:prstGeom prst="rect">
            <a:avLst/>
          </a:prstGeom>
          <a:noFill/>
          <a:ln/>
        </p:spPr>
        <p:txBody>
          <a:bodyPr wrap="square" lIns="0" tIns="0" rIns="0" bIns="0" rtlCol="0" anchor="ctr"/>
          <a:lstStyle/>
          <a:p>
            <a:pPr marL="0" indent="0">
              <a:lnSpc>
                <a:spcPct val="120000"/>
              </a:lnSpc>
              <a:buNone/>
            </a:pPr>
            <a:r>
              <a:rPr lang="en-US" sz="1200" dirty="0">
                <a:solidFill>
                  <a:srgbClr val="2D2D2D"/>
                </a:solidFill>
                <a:latin typeface="Calibri" pitchFamily="34" charset="0"/>
                <a:ea typeface="Calibri" pitchFamily="34" charset="-122"/>
                <a:cs typeface="Calibri" pitchFamily="34" charset="-120"/>
              </a:rPr>
              <a:t>Food &amp; Beverages</a:t>
            </a:r>
            <a:endParaRPr lang="en-US" sz="1200" dirty="0"/>
          </a:p>
        </p:txBody>
      </p:sp>
      <p:sp>
        <p:nvSpPr>
          <p:cNvPr id="16" name="Shape 13"/>
          <p:cNvSpPr/>
          <p:nvPr/>
        </p:nvSpPr>
        <p:spPr>
          <a:xfrm>
            <a:off x="4937760" y="1920240"/>
            <a:ext cx="2267712" cy="987552"/>
          </a:xfrm>
          <a:prstGeom prst="rect">
            <a:avLst/>
          </a:prstGeom>
          <a:solidFill>
            <a:srgbClr val="F5F5F3"/>
          </a:solidFill>
          <a:ln w="12700">
            <a:solidFill>
              <a:srgbClr val="E0E0D8"/>
            </a:solidFill>
            <a:prstDash val="solid"/>
          </a:ln>
        </p:spPr>
        <p:txBody>
          <a:bodyPr/>
          <a:lstStyle/>
          <a:p>
            <a:endParaRPr lang="en-AE"/>
          </a:p>
        </p:txBody>
      </p:sp>
      <p:sp>
        <p:nvSpPr>
          <p:cNvPr id="17" name="Shape 14"/>
          <p:cNvSpPr/>
          <p:nvPr/>
        </p:nvSpPr>
        <p:spPr>
          <a:xfrm>
            <a:off x="4937760" y="2670048"/>
            <a:ext cx="2267712" cy="237744"/>
          </a:xfrm>
          <a:prstGeom prst="rect">
            <a:avLst/>
          </a:prstGeom>
          <a:solidFill>
            <a:srgbClr val="2D6A32"/>
          </a:solidFill>
          <a:ln w="12700">
            <a:solidFill>
              <a:srgbClr val="2D6A32"/>
            </a:solidFill>
            <a:prstDash val="solid"/>
          </a:ln>
        </p:spPr>
        <p:txBody>
          <a:bodyPr/>
          <a:lstStyle/>
          <a:p>
            <a:endParaRPr lang="en-AE"/>
          </a:p>
        </p:txBody>
      </p:sp>
      <p:sp>
        <p:nvSpPr>
          <p:cNvPr id="18" name="Shape 15"/>
          <p:cNvSpPr/>
          <p:nvPr/>
        </p:nvSpPr>
        <p:spPr>
          <a:xfrm>
            <a:off x="5065776" y="2029968"/>
            <a:ext cx="182880" cy="182880"/>
          </a:xfrm>
          <a:prstGeom prst="ellipse">
            <a:avLst/>
          </a:prstGeom>
          <a:solidFill>
            <a:srgbClr val="6BBF5A"/>
          </a:solidFill>
          <a:ln w="12700">
            <a:solidFill>
              <a:srgbClr val="6BBF5A"/>
            </a:solidFill>
            <a:prstDash val="solid"/>
          </a:ln>
        </p:spPr>
        <p:txBody>
          <a:bodyPr/>
          <a:lstStyle/>
          <a:p>
            <a:endParaRPr lang="en-AE"/>
          </a:p>
        </p:txBody>
      </p:sp>
      <p:sp>
        <p:nvSpPr>
          <p:cNvPr id="19" name="Text 16"/>
          <p:cNvSpPr/>
          <p:nvPr/>
        </p:nvSpPr>
        <p:spPr>
          <a:xfrm>
            <a:off x="5321808" y="1956816"/>
            <a:ext cx="1783080" cy="658368"/>
          </a:xfrm>
          <a:prstGeom prst="rect">
            <a:avLst/>
          </a:prstGeom>
          <a:noFill/>
          <a:ln/>
        </p:spPr>
        <p:txBody>
          <a:bodyPr wrap="square" lIns="0" tIns="0" rIns="0" bIns="0" rtlCol="0" anchor="ctr"/>
          <a:lstStyle/>
          <a:p>
            <a:pPr marL="0" indent="0">
              <a:lnSpc>
                <a:spcPct val="120000"/>
              </a:lnSpc>
              <a:buNone/>
            </a:pPr>
            <a:r>
              <a:rPr lang="en-US" sz="1200" dirty="0">
                <a:solidFill>
                  <a:srgbClr val="2D2D2D"/>
                </a:solidFill>
                <a:latin typeface="Calibri" pitchFamily="34" charset="0"/>
                <a:ea typeface="Calibri" pitchFamily="34" charset="-122"/>
                <a:cs typeface="Calibri" pitchFamily="34" charset="-120"/>
              </a:rPr>
              <a:t>Manufacturing</a:t>
            </a:r>
            <a:endParaRPr lang="en-US" sz="1200" dirty="0"/>
          </a:p>
        </p:txBody>
      </p:sp>
      <p:sp>
        <p:nvSpPr>
          <p:cNvPr id="20" name="Shape 17"/>
          <p:cNvSpPr/>
          <p:nvPr/>
        </p:nvSpPr>
        <p:spPr>
          <a:xfrm>
            <a:off x="7315200" y="1920240"/>
            <a:ext cx="2267712" cy="987552"/>
          </a:xfrm>
          <a:prstGeom prst="rect">
            <a:avLst/>
          </a:prstGeom>
          <a:solidFill>
            <a:srgbClr val="F5F5F3"/>
          </a:solidFill>
          <a:ln w="12700">
            <a:solidFill>
              <a:srgbClr val="E0E0D8"/>
            </a:solidFill>
            <a:prstDash val="solid"/>
          </a:ln>
        </p:spPr>
        <p:txBody>
          <a:bodyPr/>
          <a:lstStyle/>
          <a:p>
            <a:endParaRPr lang="en-AE"/>
          </a:p>
        </p:txBody>
      </p:sp>
      <p:sp>
        <p:nvSpPr>
          <p:cNvPr id="21" name="Shape 18"/>
          <p:cNvSpPr/>
          <p:nvPr/>
        </p:nvSpPr>
        <p:spPr>
          <a:xfrm>
            <a:off x="7315200" y="2670048"/>
            <a:ext cx="2267712" cy="237744"/>
          </a:xfrm>
          <a:prstGeom prst="rect">
            <a:avLst/>
          </a:prstGeom>
          <a:solidFill>
            <a:srgbClr val="2D6A32"/>
          </a:solidFill>
          <a:ln w="12700">
            <a:solidFill>
              <a:srgbClr val="2D6A32"/>
            </a:solidFill>
            <a:prstDash val="solid"/>
          </a:ln>
        </p:spPr>
        <p:txBody>
          <a:bodyPr/>
          <a:lstStyle/>
          <a:p>
            <a:endParaRPr lang="en-AE"/>
          </a:p>
        </p:txBody>
      </p:sp>
      <p:sp>
        <p:nvSpPr>
          <p:cNvPr id="22" name="Shape 19"/>
          <p:cNvSpPr/>
          <p:nvPr/>
        </p:nvSpPr>
        <p:spPr>
          <a:xfrm>
            <a:off x="7443216" y="2029968"/>
            <a:ext cx="182880" cy="182880"/>
          </a:xfrm>
          <a:prstGeom prst="ellipse">
            <a:avLst/>
          </a:prstGeom>
          <a:solidFill>
            <a:srgbClr val="6BBF5A"/>
          </a:solidFill>
          <a:ln w="12700">
            <a:solidFill>
              <a:srgbClr val="6BBF5A"/>
            </a:solidFill>
            <a:prstDash val="solid"/>
          </a:ln>
        </p:spPr>
        <p:txBody>
          <a:bodyPr/>
          <a:lstStyle/>
          <a:p>
            <a:endParaRPr lang="en-AE"/>
          </a:p>
        </p:txBody>
      </p:sp>
      <p:sp>
        <p:nvSpPr>
          <p:cNvPr id="23" name="Text 20"/>
          <p:cNvSpPr/>
          <p:nvPr/>
        </p:nvSpPr>
        <p:spPr>
          <a:xfrm>
            <a:off x="7699248" y="1956816"/>
            <a:ext cx="1783080" cy="658368"/>
          </a:xfrm>
          <a:prstGeom prst="rect">
            <a:avLst/>
          </a:prstGeom>
          <a:noFill/>
          <a:ln/>
        </p:spPr>
        <p:txBody>
          <a:bodyPr wrap="square" lIns="0" tIns="0" rIns="0" bIns="0" rtlCol="0" anchor="ctr"/>
          <a:lstStyle/>
          <a:p>
            <a:pPr marL="0" indent="0">
              <a:lnSpc>
                <a:spcPct val="120000"/>
              </a:lnSpc>
              <a:buNone/>
            </a:pPr>
            <a:r>
              <a:rPr lang="en-US" sz="1200" dirty="0">
                <a:solidFill>
                  <a:srgbClr val="2D2D2D"/>
                </a:solidFill>
                <a:latin typeface="Calibri" pitchFamily="34" charset="0"/>
                <a:ea typeface="Calibri" pitchFamily="34" charset="-122"/>
                <a:cs typeface="Calibri" pitchFamily="34" charset="-120"/>
              </a:rPr>
              <a:t>Energy &amp; Power</a:t>
            </a:r>
            <a:endParaRPr lang="en-US" sz="1200" dirty="0"/>
          </a:p>
        </p:txBody>
      </p:sp>
      <p:sp>
        <p:nvSpPr>
          <p:cNvPr id="24" name="Shape 21"/>
          <p:cNvSpPr/>
          <p:nvPr/>
        </p:nvSpPr>
        <p:spPr>
          <a:xfrm>
            <a:off x="9692640" y="1920240"/>
            <a:ext cx="2267712" cy="987552"/>
          </a:xfrm>
          <a:prstGeom prst="rect">
            <a:avLst/>
          </a:prstGeom>
          <a:solidFill>
            <a:srgbClr val="F5F5F3"/>
          </a:solidFill>
          <a:ln w="12700">
            <a:solidFill>
              <a:srgbClr val="E0E0D8"/>
            </a:solidFill>
            <a:prstDash val="solid"/>
          </a:ln>
        </p:spPr>
        <p:txBody>
          <a:bodyPr/>
          <a:lstStyle/>
          <a:p>
            <a:endParaRPr lang="en-AE"/>
          </a:p>
        </p:txBody>
      </p:sp>
      <p:sp>
        <p:nvSpPr>
          <p:cNvPr id="25" name="Shape 22"/>
          <p:cNvSpPr/>
          <p:nvPr/>
        </p:nvSpPr>
        <p:spPr>
          <a:xfrm>
            <a:off x="9692640" y="2670048"/>
            <a:ext cx="2267712" cy="237744"/>
          </a:xfrm>
          <a:prstGeom prst="rect">
            <a:avLst/>
          </a:prstGeom>
          <a:solidFill>
            <a:srgbClr val="2D6A32"/>
          </a:solidFill>
          <a:ln w="12700">
            <a:solidFill>
              <a:srgbClr val="2D6A32"/>
            </a:solidFill>
            <a:prstDash val="solid"/>
          </a:ln>
        </p:spPr>
        <p:txBody>
          <a:bodyPr/>
          <a:lstStyle/>
          <a:p>
            <a:endParaRPr lang="en-AE"/>
          </a:p>
        </p:txBody>
      </p:sp>
      <p:sp>
        <p:nvSpPr>
          <p:cNvPr id="26" name="Shape 23"/>
          <p:cNvSpPr/>
          <p:nvPr/>
        </p:nvSpPr>
        <p:spPr>
          <a:xfrm>
            <a:off x="9820656" y="2029968"/>
            <a:ext cx="182880" cy="182880"/>
          </a:xfrm>
          <a:prstGeom prst="ellipse">
            <a:avLst/>
          </a:prstGeom>
          <a:solidFill>
            <a:srgbClr val="6BBF5A"/>
          </a:solidFill>
          <a:ln w="12700">
            <a:solidFill>
              <a:srgbClr val="6BBF5A"/>
            </a:solidFill>
            <a:prstDash val="solid"/>
          </a:ln>
        </p:spPr>
        <p:txBody>
          <a:bodyPr/>
          <a:lstStyle/>
          <a:p>
            <a:endParaRPr lang="en-AE"/>
          </a:p>
        </p:txBody>
      </p:sp>
      <p:sp>
        <p:nvSpPr>
          <p:cNvPr id="27" name="Text 24"/>
          <p:cNvSpPr/>
          <p:nvPr/>
        </p:nvSpPr>
        <p:spPr>
          <a:xfrm>
            <a:off x="10076688" y="1956816"/>
            <a:ext cx="1783080" cy="658368"/>
          </a:xfrm>
          <a:prstGeom prst="rect">
            <a:avLst/>
          </a:prstGeom>
          <a:noFill/>
          <a:ln/>
        </p:spPr>
        <p:txBody>
          <a:bodyPr wrap="square" lIns="0" tIns="0" rIns="0" bIns="0" rtlCol="0" anchor="ctr"/>
          <a:lstStyle/>
          <a:p>
            <a:pPr marL="0" indent="0">
              <a:lnSpc>
                <a:spcPct val="120000"/>
              </a:lnSpc>
              <a:buNone/>
            </a:pPr>
            <a:r>
              <a:rPr lang="en-US" sz="1200" dirty="0">
                <a:solidFill>
                  <a:srgbClr val="2D2D2D"/>
                </a:solidFill>
                <a:latin typeface="Calibri" pitchFamily="34" charset="0"/>
                <a:ea typeface="Calibri" pitchFamily="34" charset="-122"/>
                <a:cs typeface="Calibri" pitchFamily="34" charset="-120"/>
              </a:rPr>
              <a:t>Software &amp; IT</a:t>
            </a:r>
            <a:endParaRPr lang="en-US" sz="1200" dirty="0"/>
          </a:p>
        </p:txBody>
      </p:sp>
      <p:sp>
        <p:nvSpPr>
          <p:cNvPr id="28" name="Shape 25"/>
          <p:cNvSpPr/>
          <p:nvPr/>
        </p:nvSpPr>
        <p:spPr>
          <a:xfrm>
            <a:off x="182880" y="3154680"/>
            <a:ext cx="2267712" cy="987552"/>
          </a:xfrm>
          <a:prstGeom prst="rect">
            <a:avLst/>
          </a:prstGeom>
          <a:solidFill>
            <a:srgbClr val="F5F5F3"/>
          </a:solidFill>
          <a:ln w="12700">
            <a:solidFill>
              <a:srgbClr val="E0E0D8"/>
            </a:solidFill>
            <a:prstDash val="solid"/>
          </a:ln>
        </p:spPr>
        <p:txBody>
          <a:bodyPr/>
          <a:lstStyle/>
          <a:p>
            <a:endParaRPr lang="en-AE"/>
          </a:p>
        </p:txBody>
      </p:sp>
      <p:sp>
        <p:nvSpPr>
          <p:cNvPr id="29" name="Shape 26"/>
          <p:cNvSpPr/>
          <p:nvPr/>
        </p:nvSpPr>
        <p:spPr>
          <a:xfrm>
            <a:off x="182880" y="3904488"/>
            <a:ext cx="2267712" cy="237744"/>
          </a:xfrm>
          <a:prstGeom prst="rect">
            <a:avLst/>
          </a:prstGeom>
          <a:solidFill>
            <a:srgbClr val="2D6A32"/>
          </a:solidFill>
          <a:ln w="12700">
            <a:solidFill>
              <a:srgbClr val="2D6A32"/>
            </a:solidFill>
            <a:prstDash val="solid"/>
          </a:ln>
        </p:spPr>
        <p:txBody>
          <a:bodyPr/>
          <a:lstStyle/>
          <a:p>
            <a:endParaRPr lang="en-AE"/>
          </a:p>
        </p:txBody>
      </p:sp>
      <p:sp>
        <p:nvSpPr>
          <p:cNvPr id="30" name="Shape 27"/>
          <p:cNvSpPr/>
          <p:nvPr/>
        </p:nvSpPr>
        <p:spPr>
          <a:xfrm>
            <a:off x="310896" y="3264408"/>
            <a:ext cx="182880" cy="182880"/>
          </a:xfrm>
          <a:prstGeom prst="ellipse">
            <a:avLst/>
          </a:prstGeom>
          <a:solidFill>
            <a:srgbClr val="6BBF5A"/>
          </a:solidFill>
          <a:ln w="12700">
            <a:solidFill>
              <a:srgbClr val="6BBF5A"/>
            </a:solidFill>
            <a:prstDash val="solid"/>
          </a:ln>
        </p:spPr>
        <p:txBody>
          <a:bodyPr/>
          <a:lstStyle/>
          <a:p>
            <a:endParaRPr lang="en-AE"/>
          </a:p>
        </p:txBody>
      </p:sp>
      <p:sp>
        <p:nvSpPr>
          <p:cNvPr id="31" name="Text 28"/>
          <p:cNvSpPr/>
          <p:nvPr/>
        </p:nvSpPr>
        <p:spPr>
          <a:xfrm>
            <a:off x="566928" y="3191256"/>
            <a:ext cx="1783080" cy="658368"/>
          </a:xfrm>
          <a:prstGeom prst="rect">
            <a:avLst/>
          </a:prstGeom>
          <a:noFill/>
          <a:ln/>
        </p:spPr>
        <p:txBody>
          <a:bodyPr wrap="square" lIns="0" tIns="0" rIns="0" bIns="0" rtlCol="0" anchor="ctr"/>
          <a:lstStyle/>
          <a:p>
            <a:pPr marL="0" indent="0">
              <a:lnSpc>
                <a:spcPct val="120000"/>
              </a:lnSpc>
              <a:buNone/>
            </a:pPr>
            <a:r>
              <a:rPr lang="en-US" sz="1200" dirty="0">
                <a:solidFill>
                  <a:srgbClr val="2D2D2D"/>
                </a:solidFill>
                <a:latin typeface="Calibri" pitchFamily="34" charset="0"/>
                <a:ea typeface="Calibri" pitchFamily="34" charset="-122"/>
                <a:cs typeface="Calibri" pitchFamily="34" charset="-120"/>
              </a:rPr>
              <a:t>Aerospace</a:t>
            </a:r>
            <a:endParaRPr lang="en-US" sz="1200" dirty="0"/>
          </a:p>
        </p:txBody>
      </p:sp>
      <p:sp>
        <p:nvSpPr>
          <p:cNvPr id="32" name="Shape 29"/>
          <p:cNvSpPr/>
          <p:nvPr/>
        </p:nvSpPr>
        <p:spPr>
          <a:xfrm>
            <a:off x="2560320" y="3154680"/>
            <a:ext cx="2267712" cy="987552"/>
          </a:xfrm>
          <a:prstGeom prst="rect">
            <a:avLst/>
          </a:prstGeom>
          <a:solidFill>
            <a:srgbClr val="F5F5F3"/>
          </a:solidFill>
          <a:ln w="12700">
            <a:solidFill>
              <a:srgbClr val="E0E0D8"/>
            </a:solidFill>
            <a:prstDash val="solid"/>
          </a:ln>
        </p:spPr>
        <p:txBody>
          <a:bodyPr/>
          <a:lstStyle/>
          <a:p>
            <a:endParaRPr lang="en-AE"/>
          </a:p>
        </p:txBody>
      </p:sp>
      <p:sp>
        <p:nvSpPr>
          <p:cNvPr id="33" name="Shape 30"/>
          <p:cNvSpPr/>
          <p:nvPr/>
        </p:nvSpPr>
        <p:spPr>
          <a:xfrm>
            <a:off x="2560320" y="3904488"/>
            <a:ext cx="2267712" cy="237744"/>
          </a:xfrm>
          <a:prstGeom prst="rect">
            <a:avLst/>
          </a:prstGeom>
          <a:solidFill>
            <a:srgbClr val="2D6A32"/>
          </a:solidFill>
          <a:ln w="12700">
            <a:solidFill>
              <a:srgbClr val="2D6A32"/>
            </a:solidFill>
            <a:prstDash val="solid"/>
          </a:ln>
        </p:spPr>
        <p:txBody>
          <a:bodyPr/>
          <a:lstStyle/>
          <a:p>
            <a:endParaRPr lang="en-AE"/>
          </a:p>
        </p:txBody>
      </p:sp>
      <p:sp>
        <p:nvSpPr>
          <p:cNvPr id="34" name="Shape 31"/>
          <p:cNvSpPr/>
          <p:nvPr/>
        </p:nvSpPr>
        <p:spPr>
          <a:xfrm>
            <a:off x="2688336" y="3264408"/>
            <a:ext cx="182880" cy="182880"/>
          </a:xfrm>
          <a:prstGeom prst="ellipse">
            <a:avLst/>
          </a:prstGeom>
          <a:solidFill>
            <a:srgbClr val="6BBF5A"/>
          </a:solidFill>
          <a:ln w="12700">
            <a:solidFill>
              <a:srgbClr val="6BBF5A"/>
            </a:solidFill>
            <a:prstDash val="solid"/>
          </a:ln>
        </p:spPr>
        <p:txBody>
          <a:bodyPr/>
          <a:lstStyle/>
          <a:p>
            <a:endParaRPr lang="en-AE"/>
          </a:p>
        </p:txBody>
      </p:sp>
      <p:sp>
        <p:nvSpPr>
          <p:cNvPr id="35" name="Text 32"/>
          <p:cNvSpPr/>
          <p:nvPr/>
        </p:nvSpPr>
        <p:spPr>
          <a:xfrm>
            <a:off x="2944368" y="3191256"/>
            <a:ext cx="1783080" cy="658368"/>
          </a:xfrm>
          <a:prstGeom prst="rect">
            <a:avLst/>
          </a:prstGeom>
          <a:noFill/>
          <a:ln/>
        </p:spPr>
        <p:txBody>
          <a:bodyPr wrap="square" lIns="0" tIns="0" rIns="0" bIns="0" rtlCol="0" anchor="ctr"/>
          <a:lstStyle/>
          <a:p>
            <a:pPr marL="0" indent="0">
              <a:lnSpc>
                <a:spcPct val="120000"/>
              </a:lnSpc>
              <a:buNone/>
            </a:pPr>
            <a:r>
              <a:rPr lang="en-US" sz="1200" dirty="0">
                <a:solidFill>
                  <a:srgbClr val="2D2D2D"/>
                </a:solidFill>
                <a:latin typeface="Calibri" pitchFamily="34" charset="0"/>
                <a:ea typeface="Calibri" pitchFamily="34" charset="-122"/>
                <a:cs typeface="Calibri" pitchFamily="34" charset="-120"/>
              </a:rPr>
              <a:t>Agriculture</a:t>
            </a:r>
            <a:endParaRPr lang="en-US" sz="1200" dirty="0"/>
          </a:p>
        </p:txBody>
      </p:sp>
      <p:sp>
        <p:nvSpPr>
          <p:cNvPr id="36" name="Shape 33"/>
          <p:cNvSpPr/>
          <p:nvPr/>
        </p:nvSpPr>
        <p:spPr>
          <a:xfrm>
            <a:off x="4937760" y="3154680"/>
            <a:ext cx="2267712" cy="987552"/>
          </a:xfrm>
          <a:prstGeom prst="rect">
            <a:avLst/>
          </a:prstGeom>
          <a:solidFill>
            <a:srgbClr val="F5F5F3"/>
          </a:solidFill>
          <a:ln w="12700">
            <a:solidFill>
              <a:srgbClr val="E0E0D8"/>
            </a:solidFill>
            <a:prstDash val="solid"/>
          </a:ln>
        </p:spPr>
        <p:txBody>
          <a:bodyPr/>
          <a:lstStyle/>
          <a:p>
            <a:endParaRPr lang="en-AE"/>
          </a:p>
        </p:txBody>
      </p:sp>
      <p:sp>
        <p:nvSpPr>
          <p:cNvPr id="37" name="Shape 34"/>
          <p:cNvSpPr/>
          <p:nvPr/>
        </p:nvSpPr>
        <p:spPr>
          <a:xfrm>
            <a:off x="4937760" y="3904488"/>
            <a:ext cx="2267712" cy="237744"/>
          </a:xfrm>
          <a:prstGeom prst="rect">
            <a:avLst/>
          </a:prstGeom>
          <a:solidFill>
            <a:srgbClr val="2D6A32"/>
          </a:solidFill>
          <a:ln w="12700">
            <a:solidFill>
              <a:srgbClr val="2D6A32"/>
            </a:solidFill>
            <a:prstDash val="solid"/>
          </a:ln>
        </p:spPr>
        <p:txBody>
          <a:bodyPr/>
          <a:lstStyle/>
          <a:p>
            <a:endParaRPr lang="en-AE"/>
          </a:p>
        </p:txBody>
      </p:sp>
      <p:sp>
        <p:nvSpPr>
          <p:cNvPr id="38" name="Shape 35"/>
          <p:cNvSpPr/>
          <p:nvPr/>
        </p:nvSpPr>
        <p:spPr>
          <a:xfrm>
            <a:off x="5065776" y="3264408"/>
            <a:ext cx="182880" cy="182880"/>
          </a:xfrm>
          <a:prstGeom prst="ellipse">
            <a:avLst/>
          </a:prstGeom>
          <a:solidFill>
            <a:srgbClr val="6BBF5A"/>
          </a:solidFill>
          <a:ln w="12700">
            <a:solidFill>
              <a:srgbClr val="6BBF5A"/>
            </a:solidFill>
            <a:prstDash val="solid"/>
          </a:ln>
        </p:spPr>
        <p:txBody>
          <a:bodyPr/>
          <a:lstStyle/>
          <a:p>
            <a:endParaRPr lang="en-AE"/>
          </a:p>
        </p:txBody>
      </p:sp>
      <p:sp>
        <p:nvSpPr>
          <p:cNvPr id="39" name="Text 36"/>
          <p:cNvSpPr/>
          <p:nvPr/>
        </p:nvSpPr>
        <p:spPr>
          <a:xfrm>
            <a:off x="5321808" y="3191256"/>
            <a:ext cx="1783080" cy="658368"/>
          </a:xfrm>
          <a:prstGeom prst="rect">
            <a:avLst/>
          </a:prstGeom>
          <a:noFill/>
          <a:ln/>
        </p:spPr>
        <p:txBody>
          <a:bodyPr wrap="square" lIns="0" tIns="0" rIns="0" bIns="0" rtlCol="0" anchor="ctr"/>
          <a:lstStyle/>
          <a:p>
            <a:pPr marL="0" indent="0">
              <a:lnSpc>
                <a:spcPct val="120000"/>
              </a:lnSpc>
              <a:buNone/>
            </a:pPr>
            <a:r>
              <a:rPr lang="en-US" sz="1200" dirty="0">
                <a:solidFill>
                  <a:srgbClr val="2D2D2D"/>
                </a:solidFill>
                <a:latin typeface="Calibri" pitchFamily="34" charset="0"/>
                <a:ea typeface="Calibri" pitchFamily="34" charset="-122"/>
                <a:cs typeface="Calibri" pitchFamily="34" charset="-120"/>
              </a:rPr>
              <a:t>Chemical</a:t>
            </a:r>
            <a:endParaRPr lang="en-US" sz="1200" dirty="0"/>
          </a:p>
        </p:txBody>
      </p:sp>
      <p:sp>
        <p:nvSpPr>
          <p:cNvPr id="40" name="Shape 37"/>
          <p:cNvSpPr/>
          <p:nvPr/>
        </p:nvSpPr>
        <p:spPr>
          <a:xfrm>
            <a:off x="7315200" y="3154680"/>
            <a:ext cx="2267712" cy="987552"/>
          </a:xfrm>
          <a:prstGeom prst="rect">
            <a:avLst/>
          </a:prstGeom>
          <a:solidFill>
            <a:srgbClr val="F5F5F3"/>
          </a:solidFill>
          <a:ln w="12700">
            <a:solidFill>
              <a:srgbClr val="E0E0D8"/>
            </a:solidFill>
            <a:prstDash val="solid"/>
          </a:ln>
        </p:spPr>
        <p:txBody>
          <a:bodyPr/>
          <a:lstStyle/>
          <a:p>
            <a:endParaRPr lang="en-AE"/>
          </a:p>
        </p:txBody>
      </p:sp>
      <p:sp>
        <p:nvSpPr>
          <p:cNvPr id="41" name="Shape 38"/>
          <p:cNvSpPr/>
          <p:nvPr/>
        </p:nvSpPr>
        <p:spPr>
          <a:xfrm>
            <a:off x="7315200" y="3904488"/>
            <a:ext cx="2267712" cy="237744"/>
          </a:xfrm>
          <a:prstGeom prst="rect">
            <a:avLst/>
          </a:prstGeom>
          <a:solidFill>
            <a:srgbClr val="2D6A32"/>
          </a:solidFill>
          <a:ln w="12700">
            <a:solidFill>
              <a:srgbClr val="2D6A32"/>
            </a:solidFill>
            <a:prstDash val="solid"/>
          </a:ln>
        </p:spPr>
        <p:txBody>
          <a:bodyPr/>
          <a:lstStyle/>
          <a:p>
            <a:endParaRPr lang="en-AE"/>
          </a:p>
        </p:txBody>
      </p:sp>
      <p:sp>
        <p:nvSpPr>
          <p:cNvPr id="42" name="Shape 39"/>
          <p:cNvSpPr/>
          <p:nvPr/>
        </p:nvSpPr>
        <p:spPr>
          <a:xfrm>
            <a:off x="7443216" y="3264408"/>
            <a:ext cx="182880" cy="182880"/>
          </a:xfrm>
          <a:prstGeom prst="ellipse">
            <a:avLst/>
          </a:prstGeom>
          <a:solidFill>
            <a:srgbClr val="6BBF5A"/>
          </a:solidFill>
          <a:ln w="12700">
            <a:solidFill>
              <a:srgbClr val="6BBF5A"/>
            </a:solidFill>
            <a:prstDash val="solid"/>
          </a:ln>
        </p:spPr>
        <p:txBody>
          <a:bodyPr/>
          <a:lstStyle/>
          <a:p>
            <a:endParaRPr lang="en-AE"/>
          </a:p>
        </p:txBody>
      </p:sp>
      <p:sp>
        <p:nvSpPr>
          <p:cNvPr id="43" name="Text 40"/>
          <p:cNvSpPr/>
          <p:nvPr/>
        </p:nvSpPr>
        <p:spPr>
          <a:xfrm>
            <a:off x="7699248" y="3191256"/>
            <a:ext cx="1783080" cy="658368"/>
          </a:xfrm>
          <a:prstGeom prst="rect">
            <a:avLst/>
          </a:prstGeom>
          <a:noFill/>
          <a:ln/>
        </p:spPr>
        <p:txBody>
          <a:bodyPr wrap="square" lIns="0" tIns="0" rIns="0" bIns="0" rtlCol="0" anchor="ctr"/>
          <a:lstStyle/>
          <a:p>
            <a:pPr marL="0" indent="0">
              <a:lnSpc>
                <a:spcPct val="120000"/>
              </a:lnSpc>
              <a:buNone/>
            </a:pPr>
            <a:r>
              <a:rPr lang="en-US" sz="1200" dirty="0">
                <a:solidFill>
                  <a:srgbClr val="2D2D2D"/>
                </a:solidFill>
                <a:latin typeface="Calibri" pitchFamily="34" charset="0"/>
                <a:ea typeface="Calibri" pitchFamily="34" charset="-122"/>
                <a:cs typeface="Calibri" pitchFamily="34" charset="-120"/>
              </a:rPr>
              <a:t>Pharmaceutical</a:t>
            </a:r>
            <a:endParaRPr lang="en-US" sz="1200" dirty="0"/>
          </a:p>
        </p:txBody>
      </p:sp>
      <p:sp>
        <p:nvSpPr>
          <p:cNvPr id="44" name="Shape 41"/>
          <p:cNvSpPr/>
          <p:nvPr/>
        </p:nvSpPr>
        <p:spPr>
          <a:xfrm>
            <a:off x="9692640" y="3154680"/>
            <a:ext cx="2267712" cy="987552"/>
          </a:xfrm>
          <a:prstGeom prst="rect">
            <a:avLst/>
          </a:prstGeom>
          <a:solidFill>
            <a:srgbClr val="F5F5F3"/>
          </a:solidFill>
          <a:ln w="12700">
            <a:solidFill>
              <a:srgbClr val="E0E0D8"/>
            </a:solidFill>
            <a:prstDash val="solid"/>
          </a:ln>
        </p:spPr>
        <p:txBody>
          <a:bodyPr/>
          <a:lstStyle/>
          <a:p>
            <a:endParaRPr lang="en-AE"/>
          </a:p>
        </p:txBody>
      </p:sp>
      <p:sp>
        <p:nvSpPr>
          <p:cNvPr id="45" name="Shape 42"/>
          <p:cNvSpPr/>
          <p:nvPr/>
        </p:nvSpPr>
        <p:spPr>
          <a:xfrm>
            <a:off x="9692640" y="3904488"/>
            <a:ext cx="2267712" cy="237744"/>
          </a:xfrm>
          <a:prstGeom prst="rect">
            <a:avLst/>
          </a:prstGeom>
          <a:solidFill>
            <a:srgbClr val="2D6A32"/>
          </a:solidFill>
          <a:ln w="12700">
            <a:solidFill>
              <a:srgbClr val="2D6A32"/>
            </a:solidFill>
            <a:prstDash val="solid"/>
          </a:ln>
        </p:spPr>
        <p:txBody>
          <a:bodyPr/>
          <a:lstStyle/>
          <a:p>
            <a:endParaRPr lang="en-AE"/>
          </a:p>
        </p:txBody>
      </p:sp>
      <p:sp>
        <p:nvSpPr>
          <p:cNvPr id="46" name="Shape 43"/>
          <p:cNvSpPr/>
          <p:nvPr/>
        </p:nvSpPr>
        <p:spPr>
          <a:xfrm>
            <a:off x="9820656" y="3264408"/>
            <a:ext cx="182880" cy="182880"/>
          </a:xfrm>
          <a:prstGeom prst="ellipse">
            <a:avLst/>
          </a:prstGeom>
          <a:solidFill>
            <a:srgbClr val="6BBF5A"/>
          </a:solidFill>
          <a:ln w="12700">
            <a:solidFill>
              <a:srgbClr val="6BBF5A"/>
            </a:solidFill>
            <a:prstDash val="solid"/>
          </a:ln>
        </p:spPr>
        <p:txBody>
          <a:bodyPr/>
          <a:lstStyle/>
          <a:p>
            <a:endParaRPr lang="en-AE"/>
          </a:p>
        </p:txBody>
      </p:sp>
      <p:sp>
        <p:nvSpPr>
          <p:cNvPr id="47" name="Text 44"/>
          <p:cNvSpPr/>
          <p:nvPr/>
        </p:nvSpPr>
        <p:spPr>
          <a:xfrm>
            <a:off x="10076688" y="3191256"/>
            <a:ext cx="1783080" cy="658368"/>
          </a:xfrm>
          <a:prstGeom prst="rect">
            <a:avLst/>
          </a:prstGeom>
          <a:noFill/>
          <a:ln/>
        </p:spPr>
        <p:txBody>
          <a:bodyPr wrap="square" lIns="0" tIns="0" rIns="0" bIns="0" rtlCol="0" anchor="ctr"/>
          <a:lstStyle/>
          <a:p>
            <a:pPr marL="0" indent="0">
              <a:lnSpc>
                <a:spcPct val="120000"/>
              </a:lnSpc>
              <a:buNone/>
            </a:pPr>
            <a:r>
              <a:rPr lang="en-US" sz="1200" dirty="0">
                <a:solidFill>
                  <a:srgbClr val="2D2D2D"/>
                </a:solidFill>
                <a:latin typeface="Calibri" pitchFamily="34" charset="0"/>
                <a:ea typeface="Calibri" pitchFamily="34" charset="-122"/>
                <a:cs typeface="Calibri" pitchFamily="34" charset="-120"/>
              </a:rPr>
              <a:t>Construction</a:t>
            </a:r>
            <a:endParaRPr lang="en-US" sz="1200" dirty="0"/>
          </a:p>
        </p:txBody>
      </p:sp>
      <p:sp>
        <p:nvSpPr>
          <p:cNvPr id="48" name="Shape 45"/>
          <p:cNvSpPr/>
          <p:nvPr/>
        </p:nvSpPr>
        <p:spPr>
          <a:xfrm>
            <a:off x="182880" y="4389120"/>
            <a:ext cx="2267712" cy="987552"/>
          </a:xfrm>
          <a:prstGeom prst="rect">
            <a:avLst/>
          </a:prstGeom>
          <a:solidFill>
            <a:srgbClr val="F5F5F3"/>
          </a:solidFill>
          <a:ln w="12700">
            <a:solidFill>
              <a:srgbClr val="E0E0D8"/>
            </a:solidFill>
            <a:prstDash val="solid"/>
          </a:ln>
        </p:spPr>
        <p:txBody>
          <a:bodyPr/>
          <a:lstStyle/>
          <a:p>
            <a:endParaRPr lang="en-AE"/>
          </a:p>
        </p:txBody>
      </p:sp>
      <p:sp>
        <p:nvSpPr>
          <p:cNvPr id="49" name="Shape 46"/>
          <p:cNvSpPr/>
          <p:nvPr/>
        </p:nvSpPr>
        <p:spPr>
          <a:xfrm>
            <a:off x="182880" y="5138928"/>
            <a:ext cx="2267712" cy="237744"/>
          </a:xfrm>
          <a:prstGeom prst="rect">
            <a:avLst/>
          </a:prstGeom>
          <a:solidFill>
            <a:srgbClr val="2D6A32"/>
          </a:solidFill>
          <a:ln w="12700">
            <a:solidFill>
              <a:srgbClr val="2D6A32"/>
            </a:solidFill>
            <a:prstDash val="solid"/>
          </a:ln>
        </p:spPr>
        <p:txBody>
          <a:bodyPr/>
          <a:lstStyle/>
          <a:p>
            <a:endParaRPr lang="en-AE"/>
          </a:p>
        </p:txBody>
      </p:sp>
      <p:sp>
        <p:nvSpPr>
          <p:cNvPr id="50" name="Shape 47"/>
          <p:cNvSpPr/>
          <p:nvPr/>
        </p:nvSpPr>
        <p:spPr>
          <a:xfrm>
            <a:off x="310896" y="4498848"/>
            <a:ext cx="182880" cy="182880"/>
          </a:xfrm>
          <a:prstGeom prst="ellipse">
            <a:avLst/>
          </a:prstGeom>
          <a:solidFill>
            <a:srgbClr val="6BBF5A"/>
          </a:solidFill>
          <a:ln w="12700">
            <a:solidFill>
              <a:srgbClr val="6BBF5A"/>
            </a:solidFill>
            <a:prstDash val="solid"/>
          </a:ln>
        </p:spPr>
        <p:txBody>
          <a:bodyPr/>
          <a:lstStyle/>
          <a:p>
            <a:endParaRPr lang="en-AE"/>
          </a:p>
        </p:txBody>
      </p:sp>
      <p:sp>
        <p:nvSpPr>
          <p:cNvPr id="51" name="Text 48"/>
          <p:cNvSpPr/>
          <p:nvPr/>
        </p:nvSpPr>
        <p:spPr>
          <a:xfrm>
            <a:off x="566928" y="4425696"/>
            <a:ext cx="1783080" cy="658368"/>
          </a:xfrm>
          <a:prstGeom prst="rect">
            <a:avLst/>
          </a:prstGeom>
          <a:noFill/>
          <a:ln/>
        </p:spPr>
        <p:txBody>
          <a:bodyPr wrap="square" lIns="0" tIns="0" rIns="0" bIns="0" rtlCol="0" anchor="ctr"/>
          <a:lstStyle/>
          <a:p>
            <a:pPr marL="0" indent="0">
              <a:lnSpc>
                <a:spcPct val="120000"/>
              </a:lnSpc>
              <a:buNone/>
            </a:pPr>
            <a:r>
              <a:rPr lang="en-US" sz="1200" dirty="0">
                <a:solidFill>
                  <a:srgbClr val="2D2D2D"/>
                </a:solidFill>
                <a:latin typeface="Calibri" pitchFamily="34" charset="0"/>
                <a:ea typeface="Calibri" pitchFamily="34" charset="-122"/>
                <a:cs typeface="Calibri" pitchFamily="34" charset="-120"/>
              </a:rPr>
              <a:t>Defence &amp; Arms</a:t>
            </a:r>
            <a:endParaRPr lang="en-US" sz="1200" dirty="0"/>
          </a:p>
        </p:txBody>
      </p:sp>
      <p:sp>
        <p:nvSpPr>
          <p:cNvPr id="52" name="Shape 49"/>
          <p:cNvSpPr/>
          <p:nvPr/>
        </p:nvSpPr>
        <p:spPr>
          <a:xfrm>
            <a:off x="2560320" y="4389120"/>
            <a:ext cx="2267712" cy="987552"/>
          </a:xfrm>
          <a:prstGeom prst="rect">
            <a:avLst/>
          </a:prstGeom>
          <a:solidFill>
            <a:srgbClr val="F5F5F3"/>
          </a:solidFill>
          <a:ln w="12700">
            <a:solidFill>
              <a:srgbClr val="E0E0D8"/>
            </a:solidFill>
            <a:prstDash val="solid"/>
          </a:ln>
        </p:spPr>
        <p:txBody>
          <a:bodyPr/>
          <a:lstStyle/>
          <a:p>
            <a:endParaRPr lang="en-AE"/>
          </a:p>
        </p:txBody>
      </p:sp>
      <p:sp>
        <p:nvSpPr>
          <p:cNvPr id="53" name="Shape 50"/>
          <p:cNvSpPr/>
          <p:nvPr/>
        </p:nvSpPr>
        <p:spPr>
          <a:xfrm>
            <a:off x="2560320" y="5138928"/>
            <a:ext cx="2267712" cy="237744"/>
          </a:xfrm>
          <a:prstGeom prst="rect">
            <a:avLst/>
          </a:prstGeom>
          <a:solidFill>
            <a:srgbClr val="2D6A32"/>
          </a:solidFill>
          <a:ln w="12700">
            <a:solidFill>
              <a:srgbClr val="2D6A32"/>
            </a:solidFill>
            <a:prstDash val="solid"/>
          </a:ln>
        </p:spPr>
        <p:txBody>
          <a:bodyPr/>
          <a:lstStyle/>
          <a:p>
            <a:endParaRPr lang="en-AE"/>
          </a:p>
        </p:txBody>
      </p:sp>
      <p:sp>
        <p:nvSpPr>
          <p:cNvPr id="54" name="Shape 51"/>
          <p:cNvSpPr/>
          <p:nvPr/>
        </p:nvSpPr>
        <p:spPr>
          <a:xfrm>
            <a:off x="2688336" y="4498848"/>
            <a:ext cx="182880" cy="182880"/>
          </a:xfrm>
          <a:prstGeom prst="ellipse">
            <a:avLst/>
          </a:prstGeom>
          <a:solidFill>
            <a:srgbClr val="6BBF5A"/>
          </a:solidFill>
          <a:ln w="12700">
            <a:solidFill>
              <a:srgbClr val="6BBF5A"/>
            </a:solidFill>
            <a:prstDash val="solid"/>
          </a:ln>
        </p:spPr>
        <p:txBody>
          <a:bodyPr/>
          <a:lstStyle/>
          <a:p>
            <a:endParaRPr lang="en-AE"/>
          </a:p>
        </p:txBody>
      </p:sp>
      <p:sp>
        <p:nvSpPr>
          <p:cNvPr id="55" name="Text 52"/>
          <p:cNvSpPr/>
          <p:nvPr/>
        </p:nvSpPr>
        <p:spPr>
          <a:xfrm>
            <a:off x="2944368" y="4425696"/>
            <a:ext cx="1783080" cy="658368"/>
          </a:xfrm>
          <a:prstGeom prst="rect">
            <a:avLst/>
          </a:prstGeom>
          <a:noFill/>
          <a:ln/>
        </p:spPr>
        <p:txBody>
          <a:bodyPr wrap="square" lIns="0" tIns="0" rIns="0" bIns="0" rtlCol="0" anchor="ctr"/>
          <a:lstStyle/>
          <a:p>
            <a:pPr marL="0" indent="0">
              <a:lnSpc>
                <a:spcPct val="120000"/>
              </a:lnSpc>
              <a:buNone/>
            </a:pPr>
            <a:r>
              <a:rPr lang="en-US" sz="1200" dirty="0">
                <a:solidFill>
                  <a:srgbClr val="2D2D2D"/>
                </a:solidFill>
                <a:latin typeface="Calibri" pitchFamily="34" charset="0"/>
                <a:ea typeface="Calibri" pitchFamily="34" charset="-122"/>
                <a:cs typeface="Calibri" pitchFamily="34" charset="-120"/>
              </a:rPr>
              <a:t>Education</a:t>
            </a:r>
            <a:endParaRPr lang="en-US" sz="1200" dirty="0"/>
          </a:p>
        </p:txBody>
      </p:sp>
      <p:sp>
        <p:nvSpPr>
          <p:cNvPr id="56" name="Shape 53"/>
          <p:cNvSpPr/>
          <p:nvPr/>
        </p:nvSpPr>
        <p:spPr>
          <a:xfrm>
            <a:off x="4937760" y="4389120"/>
            <a:ext cx="2267712" cy="987552"/>
          </a:xfrm>
          <a:prstGeom prst="rect">
            <a:avLst/>
          </a:prstGeom>
          <a:solidFill>
            <a:srgbClr val="F5F5F3"/>
          </a:solidFill>
          <a:ln w="12700">
            <a:solidFill>
              <a:srgbClr val="E0E0D8"/>
            </a:solidFill>
            <a:prstDash val="solid"/>
          </a:ln>
        </p:spPr>
        <p:txBody>
          <a:bodyPr/>
          <a:lstStyle/>
          <a:p>
            <a:endParaRPr lang="en-AE"/>
          </a:p>
        </p:txBody>
      </p:sp>
      <p:sp>
        <p:nvSpPr>
          <p:cNvPr id="57" name="Shape 54"/>
          <p:cNvSpPr/>
          <p:nvPr/>
        </p:nvSpPr>
        <p:spPr>
          <a:xfrm>
            <a:off x="4937760" y="5138928"/>
            <a:ext cx="2267712" cy="237744"/>
          </a:xfrm>
          <a:prstGeom prst="rect">
            <a:avLst/>
          </a:prstGeom>
          <a:solidFill>
            <a:srgbClr val="2D6A32"/>
          </a:solidFill>
          <a:ln w="12700">
            <a:solidFill>
              <a:srgbClr val="2D6A32"/>
            </a:solidFill>
            <a:prstDash val="solid"/>
          </a:ln>
        </p:spPr>
        <p:txBody>
          <a:bodyPr/>
          <a:lstStyle/>
          <a:p>
            <a:endParaRPr lang="en-AE"/>
          </a:p>
        </p:txBody>
      </p:sp>
      <p:sp>
        <p:nvSpPr>
          <p:cNvPr id="58" name="Shape 55"/>
          <p:cNvSpPr/>
          <p:nvPr/>
        </p:nvSpPr>
        <p:spPr>
          <a:xfrm>
            <a:off x="5065776" y="4498848"/>
            <a:ext cx="182880" cy="182880"/>
          </a:xfrm>
          <a:prstGeom prst="ellipse">
            <a:avLst/>
          </a:prstGeom>
          <a:solidFill>
            <a:srgbClr val="6BBF5A"/>
          </a:solidFill>
          <a:ln w="12700">
            <a:solidFill>
              <a:srgbClr val="6BBF5A"/>
            </a:solidFill>
            <a:prstDash val="solid"/>
          </a:ln>
        </p:spPr>
        <p:txBody>
          <a:bodyPr/>
          <a:lstStyle/>
          <a:p>
            <a:endParaRPr lang="en-AE"/>
          </a:p>
        </p:txBody>
      </p:sp>
      <p:sp>
        <p:nvSpPr>
          <p:cNvPr id="59" name="Text 56"/>
          <p:cNvSpPr/>
          <p:nvPr/>
        </p:nvSpPr>
        <p:spPr>
          <a:xfrm>
            <a:off x="5321808" y="4425696"/>
            <a:ext cx="1783080" cy="658368"/>
          </a:xfrm>
          <a:prstGeom prst="rect">
            <a:avLst/>
          </a:prstGeom>
          <a:noFill/>
          <a:ln/>
        </p:spPr>
        <p:txBody>
          <a:bodyPr wrap="square" lIns="0" tIns="0" rIns="0" bIns="0" rtlCol="0" anchor="ctr"/>
          <a:lstStyle/>
          <a:p>
            <a:pPr marL="0" indent="0">
              <a:lnSpc>
                <a:spcPct val="120000"/>
              </a:lnSpc>
              <a:buNone/>
            </a:pPr>
            <a:r>
              <a:rPr lang="en-US" sz="1200" dirty="0">
                <a:solidFill>
                  <a:srgbClr val="2D2D2D"/>
                </a:solidFill>
                <a:latin typeface="Calibri" pitchFamily="34" charset="0"/>
                <a:ea typeface="Calibri" pitchFamily="34" charset="-122"/>
                <a:cs typeface="Calibri" pitchFamily="34" charset="-120"/>
              </a:rPr>
              <a:t>Entertainment</a:t>
            </a:r>
            <a:endParaRPr lang="en-US" sz="1200" dirty="0"/>
          </a:p>
        </p:txBody>
      </p:sp>
      <p:sp>
        <p:nvSpPr>
          <p:cNvPr id="60" name="Shape 57"/>
          <p:cNvSpPr/>
          <p:nvPr/>
        </p:nvSpPr>
        <p:spPr>
          <a:xfrm>
            <a:off x="7315200" y="4389120"/>
            <a:ext cx="2267712" cy="987552"/>
          </a:xfrm>
          <a:prstGeom prst="rect">
            <a:avLst/>
          </a:prstGeom>
          <a:solidFill>
            <a:srgbClr val="F5F5F3"/>
          </a:solidFill>
          <a:ln w="12700">
            <a:solidFill>
              <a:srgbClr val="E0E0D8"/>
            </a:solidFill>
            <a:prstDash val="solid"/>
          </a:ln>
        </p:spPr>
        <p:txBody>
          <a:bodyPr/>
          <a:lstStyle/>
          <a:p>
            <a:endParaRPr lang="en-AE"/>
          </a:p>
        </p:txBody>
      </p:sp>
      <p:sp>
        <p:nvSpPr>
          <p:cNvPr id="61" name="Shape 58"/>
          <p:cNvSpPr/>
          <p:nvPr/>
        </p:nvSpPr>
        <p:spPr>
          <a:xfrm>
            <a:off x="7315200" y="5138928"/>
            <a:ext cx="2267712" cy="237744"/>
          </a:xfrm>
          <a:prstGeom prst="rect">
            <a:avLst/>
          </a:prstGeom>
          <a:solidFill>
            <a:srgbClr val="2D6A32"/>
          </a:solidFill>
          <a:ln w="12700">
            <a:solidFill>
              <a:srgbClr val="2D6A32"/>
            </a:solidFill>
            <a:prstDash val="solid"/>
          </a:ln>
        </p:spPr>
        <p:txBody>
          <a:bodyPr/>
          <a:lstStyle/>
          <a:p>
            <a:endParaRPr lang="en-AE"/>
          </a:p>
        </p:txBody>
      </p:sp>
      <p:sp>
        <p:nvSpPr>
          <p:cNvPr id="62" name="Shape 59"/>
          <p:cNvSpPr/>
          <p:nvPr/>
        </p:nvSpPr>
        <p:spPr>
          <a:xfrm>
            <a:off x="7443216" y="4498848"/>
            <a:ext cx="182880" cy="182880"/>
          </a:xfrm>
          <a:prstGeom prst="ellipse">
            <a:avLst/>
          </a:prstGeom>
          <a:solidFill>
            <a:srgbClr val="6BBF5A"/>
          </a:solidFill>
          <a:ln w="12700">
            <a:solidFill>
              <a:srgbClr val="6BBF5A"/>
            </a:solidFill>
            <a:prstDash val="solid"/>
          </a:ln>
        </p:spPr>
        <p:txBody>
          <a:bodyPr/>
          <a:lstStyle/>
          <a:p>
            <a:endParaRPr lang="en-AE"/>
          </a:p>
        </p:txBody>
      </p:sp>
      <p:sp>
        <p:nvSpPr>
          <p:cNvPr id="63" name="Text 60"/>
          <p:cNvSpPr/>
          <p:nvPr/>
        </p:nvSpPr>
        <p:spPr>
          <a:xfrm>
            <a:off x="7699248" y="4425696"/>
            <a:ext cx="1783080" cy="658368"/>
          </a:xfrm>
          <a:prstGeom prst="rect">
            <a:avLst/>
          </a:prstGeom>
          <a:noFill/>
          <a:ln/>
        </p:spPr>
        <p:txBody>
          <a:bodyPr wrap="square" lIns="0" tIns="0" rIns="0" bIns="0" rtlCol="0" anchor="ctr"/>
          <a:lstStyle/>
          <a:p>
            <a:pPr marL="0" indent="0">
              <a:lnSpc>
                <a:spcPct val="120000"/>
              </a:lnSpc>
              <a:buNone/>
            </a:pPr>
            <a:r>
              <a:rPr lang="en-US" sz="1200" dirty="0">
                <a:solidFill>
                  <a:srgbClr val="2D2D2D"/>
                </a:solidFill>
                <a:latin typeface="Calibri" pitchFamily="34" charset="0"/>
                <a:ea typeface="Calibri" pitchFamily="34" charset="-122"/>
                <a:cs typeface="Calibri" pitchFamily="34" charset="-120"/>
              </a:rPr>
              <a:t>Financial Services</a:t>
            </a:r>
            <a:endParaRPr lang="en-US" sz="1200" dirty="0"/>
          </a:p>
        </p:txBody>
      </p:sp>
      <p:sp>
        <p:nvSpPr>
          <p:cNvPr id="64" name="Shape 61"/>
          <p:cNvSpPr/>
          <p:nvPr/>
        </p:nvSpPr>
        <p:spPr>
          <a:xfrm>
            <a:off x="9692640" y="4389120"/>
            <a:ext cx="2267712" cy="987552"/>
          </a:xfrm>
          <a:prstGeom prst="rect">
            <a:avLst/>
          </a:prstGeom>
          <a:solidFill>
            <a:srgbClr val="F5F5F3"/>
          </a:solidFill>
          <a:ln w="12700">
            <a:solidFill>
              <a:srgbClr val="E0E0D8"/>
            </a:solidFill>
            <a:prstDash val="solid"/>
          </a:ln>
        </p:spPr>
        <p:txBody>
          <a:bodyPr/>
          <a:lstStyle/>
          <a:p>
            <a:endParaRPr lang="en-AE"/>
          </a:p>
        </p:txBody>
      </p:sp>
      <p:sp>
        <p:nvSpPr>
          <p:cNvPr id="65" name="Shape 62"/>
          <p:cNvSpPr/>
          <p:nvPr/>
        </p:nvSpPr>
        <p:spPr>
          <a:xfrm>
            <a:off x="9692640" y="5138928"/>
            <a:ext cx="2267712" cy="237744"/>
          </a:xfrm>
          <a:prstGeom prst="rect">
            <a:avLst/>
          </a:prstGeom>
          <a:solidFill>
            <a:srgbClr val="2D6A32"/>
          </a:solidFill>
          <a:ln w="12700">
            <a:solidFill>
              <a:srgbClr val="2D6A32"/>
            </a:solidFill>
            <a:prstDash val="solid"/>
          </a:ln>
        </p:spPr>
        <p:txBody>
          <a:bodyPr/>
          <a:lstStyle/>
          <a:p>
            <a:endParaRPr lang="en-AE"/>
          </a:p>
        </p:txBody>
      </p:sp>
      <p:sp>
        <p:nvSpPr>
          <p:cNvPr id="66" name="Shape 63"/>
          <p:cNvSpPr/>
          <p:nvPr/>
        </p:nvSpPr>
        <p:spPr>
          <a:xfrm>
            <a:off x="9820656" y="4498848"/>
            <a:ext cx="182880" cy="182880"/>
          </a:xfrm>
          <a:prstGeom prst="ellipse">
            <a:avLst/>
          </a:prstGeom>
          <a:solidFill>
            <a:srgbClr val="6BBF5A"/>
          </a:solidFill>
          <a:ln w="12700">
            <a:solidFill>
              <a:srgbClr val="6BBF5A"/>
            </a:solidFill>
            <a:prstDash val="solid"/>
          </a:ln>
        </p:spPr>
        <p:txBody>
          <a:bodyPr/>
          <a:lstStyle/>
          <a:p>
            <a:endParaRPr lang="en-AE"/>
          </a:p>
        </p:txBody>
      </p:sp>
      <p:sp>
        <p:nvSpPr>
          <p:cNvPr id="67" name="Text 64"/>
          <p:cNvSpPr/>
          <p:nvPr/>
        </p:nvSpPr>
        <p:spPr>
          <a:xfrm>
            <a:off x="10076688" y="4425696"/>
            <a:ext cx="1783080" cy="658368"/>
          </a:xfrm>
          <a:prstGeom prst="rect">
            <a:avLst/>
          </a:prstGeom>
          <a:noFill/>
          <a:ln/>
        </p:spPr>
        <p:txBody>
          <a:bodyPr wrap="square" lIns="0" tIns="0" rIns="0" bIns="0" rtlCol="0" anchor="ctr"/>
          <a:lstStyle/>
          <a:p>
            <a:pPr marL="0" indent="0">
              <a:lnSpc>
                <a:spcPct val="120000"/>
              </a:lnSpc>
              <a:buNone/>
            </a:pPr>
            <a:r>
              <a:rPr lang="en-US" sz="1200" dirty="0">
                <a:solidFill>
                  <a:srgbClr val="2D2D2D"/>
                </a:solidFill>
                <a:latin typeface="Calibri" pitchFamily="34" charset="0"/>
                <a:ea typeface="Calibri" pitchFamily="34" charset="-122"/>
                <a:cs typeface="Calibri" pitchFamily="34" charset="-120"/>
              </a:rPr>
              <a:t>Health Care</a:t>
            </a:r>
            <a:endParaRPr lang="en-US" sz="1200" dirty="0"/>
          </a:p>
        </p:txBody>
      </p:sp>
      <p:sp>
        <p:nvSpPr>
          <p:cNvPr id="68" name="Shape 65"/>
          <p:cNvSpPr/>
          <p:nvPr/>
        </p:nvSpPr>
        <p:spPr>
          <a:xfrm>
            <a:off x="182880" y="5623560"/>
            <a:ext cx="2267712" cy="987552"/>
          </a:xfrm>
          <a:prstGeom prst="rect">
            <a:avLst/>
          </a:prstGeom>
          <a:solidFill>
            <a:srgbClr val="F5F5F3"/>
          </a:solidFill>
          <a:ln w="12700">
            <a:solidFill>
              <a:srgbClr val="E0E0D8"/>
            </a:solidFill>
            <a:prstDash val="solid"/>
          </a:ln>
        </p:spPr>
        <p:txBody>
          <a:bodyPr/>
          <a:lstStyle/>
          <a:p>
            <a:endParaRPr lang="en-AE"/>
          </a:p>
        </p:txBody>
      </p:sp>
      <p:sp>
        <p:nvSpPr>
          <p:cNvPr id="69" name="Shape 66"/>
          <p:cNvSpPr/>
          <p:nvPr/>
        </p:nvSpPr>
        <p:spPr>
          <a:xfrm>
            <a:off x="182880" y="6373368"/>
            <a:ext cx="2267712" cy="237744"/>
          </a:xfrm>
          <a:prstGeom prst="rect">
            <a:avLst/>
          </a:prstGeom>
          <a:solidFill>
            <a:srgbClr val="2D6A32"/>
          </a:solidFill>
          <a:ln w="12700">
            <a:solidFill>
              <a:srgbClr val="2D6A32"/>
            </a:solidFill>
            <a:prstDash val="solid"/>
          </a:ln>
        </p:spPr>
        <p:txBody>
          <a:bodyPr/>
          <a:lstStyle/>
          <a:p>
            <a:endParaRPr lang="en-AE"/>
          </a:p>
        </p:txBody>
      </p:sp>
      <p:sp>
        <p:nvSpPr>
          <p:cNvPr id="70" name="Shape 67"/>
          <p:cNvSpPr/>
          <p:nvPr/>
        </p:nvSpPr>
        <p:spPr>
          <a:xfrm>
            <a:off x="310896" y="5733288"/>
            <a:ext cx="182880" cy="182880"/>
          </a:xfrm>
          <a:prstGeom prst="ellipse">
            <a:avLst/>
          </a:prstGeom>
          <a:solidFill>
            <a:srgbClr val="6BBF5A"/>
          </a:solidFill>
          <a:ln w="12700">
            <a:solidFill>
              <a:srgbClr val="6BBF5A"/>
            </a:solidFill>
            <a:prstDash val="solid"/>
          </a:ln>
        </p:spPr>
        <p:txBody>
          <a:bodyPr/>
          <a:lstStyle/>
          <a:p>
            <a:endParaRPr lang="en-AE"/>
          </a:p>
        </p:txBody>
      </p:sp>
      <p:sp>
        <p:nvSpPr>
          <p:cNvPr id="71" name="Text 68"/>
          <p:cNvSpPr/>
          <p:nvPr/>
        </p:nvSpPr>
        <p:spPr>
          <a:xfrm>
            <a:off x="566928" y="5660136"/>
            <a:ext cx="1783080" cy="658368"/>
          </a:xfrm>
          <a:prstGeom prst="rect">
            <a:avLst/>
          </a:prstGeom>
          <a:noFill/>
          <a:ln/>
        </p:spPr>
        <p:txBody>
          <a:bodyPr wrap="square" lIns="0" tIns="0" rIns="0" bIns="0" rtlCol="0" anchor="ctr"/>
          <a:lstStyle/>
          <a:p>
            <a:pPr marL="0" indent="0">
              <a:lnSpc>
                <a:spcPct val="120000"/>
              </a:lnSpc>
              <a:buNone/>
            </a:pPr>
            <a:r>
              <a:rPr lang="en-US" sz="1200" dirty="0">
                <a:solidFill>
                  <a:srgbClr val="2D2D2D"/>
                </a:solidFill>
                <a:latin typeface="Calibri" pitchFamily="34" charset="0"/>
                <a:ea typeface="Calibri" pitchFamily="34" charset="-122"/>
                <a:cs typeface="Calibri" pitchFamily="34" charset="-120"/>
              </a:rPr>
              <a:t>Hospitality</a:t>
            </a:r>
            <a:endParaRPr lang="en-US" sz="1200" dirty="0"/>
          </a:p>
        </p:txBody>
      </p:sp>
      <p:sp>
        <p:nvSpPr>
          <p:cNvPr id="72" name="Shape 69"/>
          <p:cNvSpPr/>
          <p:nvPr/>
        </p:nvSpPr>
        <p:spPr>
          <a:xfrm>
            <a:off x="2560320" y="5623560"/>
            <a:ext cx="2267712" cy="987552"/>
          </a:xfrm>
          <a:prstGeom prst="rect">
            <a:avLst/>
          </a:prstGeom>
          <a:solidFill>
            <a:srgbClr val="F5F5F3"/>
          </a:solidFill>
          <a:ln w="12700">
            <a:solidFill>
              <a:srgbClr val="E0E0D8"/>
            </a:solidFill>
            <a:prstDash val="solid"/>
          </a:ln>
        </p:spPr>
        <p:txBody>
          <a:bodyPr/>
          <a:lstStyle/>
          <a:p>
            <a:endParaRPr lang="en-AE"/>
          </a:p>
        </p:txBody>
      </p:sp>
      <p:sp>
        <p:nvSpPr>
          <p:cNvPr id="73" name="Shape 70"/>
          <p:cNvSpPr/>
          <p:nvPr/>
        </p:nvSpPr>
        <p:spPr>
          <a:xfrm>
            <a:off x="2560320" y="6373368"/>
            <a:ext cx="2267712" cy="237744"/>
          </a:xfrm>
          <a:prstGeom prst="rect">
            <a:avLst/>
          </a:prstGeom>
          <a:solidFill>
            <a:srgbClr val="2D6A32"/>
          </a:solidFill>
          <a:ln w="12700">
            <a:solidFill>
              <a:srgbClr val="2D6A32"/>
            </a:solidFill>
            <a:prstDash val="solid"/>
          </a:ln>
        </p:spPr>
        <p:txBody>
          <a:bodyPr/>
          <a:lstStyle/>
          <a:p>
            <a:endParaRPr lang="en-AE"/>
          </a:p>
        </p:txBody>
      </p:sp>
      <p:sp>
        <p:nvSpPr>
          <p:cNvPr id="74" name="Shape 71"/>
          <p:cNvSpPr/>
          <p:nvPr/>
        </p:nvSpPr>
        <p:spPr>
          <a:xfrm>
            <a:off x="2688336" y="5733288"/>
            <a:ext cx="182880" cy="182880"/>
          </a:xfrm>
          <a:prstGeom prst="ellipse">
            <a:avLst/>
          </a:prstGeom>
          <a:solidFill>
            <a:srgbClr val="6BBF5A"/>
          </a:solidFill>
          <a:ln w="12700">
            <a:solidFill>
              <a:srgbClr val="6BBF5A"/>
            </a:solidFill>
            <a:prstDash val="solid"/>
          </a:ln>
        </p:spPr>
        <p:txBody>
          <a:bodyPr/>
          <a:lstStyle/>
          <a:p>
            <a:endParaRPr lang="en-AE"/>
          </a:p>
        </p:txBody>
      </p:sp>
      <p:sp>
        <p:nvSpPr>
          <p:cNvPr id="75" name="Text 72"/>
          <p:cNvSpPr/>
          <p:nvPr/>
        </p:nvSpPr>
        <p:spPr>
          <a:xfrm>
            <a:off x="2944368" y="5660136"/>
            <a:ext cx="1783080" cy="658368"/>
          </a:xfrm>
          <a:prstGeom prst="rect">
            <a:avLst/>
          </a:prstGeom>
          <a:noFill/>
          <a:ln/>
        </p:spPr>
        <p:txBody>
          <a:bodyPr wrap="square" lIns="0" tIns="0" rIns="0" bIns="0" rtlCol="0" anchor="ctr"/>
          <a:lstStyle/>
          <a:p>
            <a:pPr marL="0" indent="0">
              <a:lnSpc>
                <a:spcPct val="120000"/>
              </a:lnSpc>
              <a:buNone/>
            </a:pPr>
            <a:r>
              <a:rPr lang="en-US" sz="1200" dirty="0">
                <a:solidFill>
                  <a:srgbClr val="2D2D2D"/>
                </a:solidFill>
                <a:latin typeface="Calibri" pitchFamily="34" charset="0"/>
                <a:ea typeface="Calibri" pitchFamily="34" charset="-122"/>
                <a:cs typeface="Calibri" pitchFamily="34" charset="-120"/>
              </a:rPr>
              <a:t>Mass Communication</a:t>
            </a:r>
            <a:endParaRPr lang="en-US" sz="1200" dirty="0"/>
          </a:p>
        </p:txBody>
      </p:sp>
      <p:sp>
        <p:nvSpPr>
          <p:cNvPr id="76" name="Shape 73"/>
          <p:cNvSpPr/>
          <p:nvPr/>
        </p:nvSpPr>
        <p:spPr>
          <a:xfrm>
            <a:off x="4937760" y="5623560"/>
            <a:ext cx="2267712" cy="987552"/>
          </a:xfrm>
          <a:prstGeom prst="rect">
            <a:avLst/>
          </a:prstGeom>
          <a:solidFill>
            <a:srgbClr val="F5F5F3"/>
          </a:solidFill>
          <a:ln w="12700">
            <a:solidFill>
              <a:srgbClr val="E0E0D8"/>
            </a:solidFill>
            <a:prstDash val="solid"/>
          </a:ln>
        </p:spPr>
        <p:txBody>
          <a:bodyPr/>
          <a:lstStyle/>
          <a:p>
            <a:endParaRPr lang="en-AE"/>
          </a:p>
        </p:txBody>
      </p:sp>
      <p:sp>
        <p:nvSpPr>
          <p:cNvPr id="77" name="Shape 74"/>
          <p:cNvSpPr/>
          <p:nvPr/>
        </p:nvSpPr>
        <p:spPr>
          <a:xfrm>
            <a:off x="4937760" y="6373368"/>
            <a:ext cx="2267712" cy="237744"/>
          </a:xfrm>
          <a:prstGeom prst="rect">
            <a:avLst/>
          </a:prstGeom>
          <a:solidFill>
            <a:srgbClr val="2D6A32"/>
          </a:solidFill>
          <a:ln w="12700">
            <a:solidFill>
              <a:srgbClr val="2D6A32"/>
            </a:solidFill>
            <a:prstDash val="solid"/>
          </a:ln>
        </p:spPr>
        <p:txBody>
          <a:bodyPr/>
          <a:lstStyle/>
          <a:p>
            <a:endParaRPr lang="en-AE"/>
          </a:p>
        </p:txBody>
      </p:sp>
      <p:sp>
        <p:nvSpPr>
          <p:cNvPr id="78" name="Shape 75"/>
          <p:cNvSpPr/>
          <p:nvPr/>
        </p:nvSpPr>
        <p:spPr>
          <a:xfrm>
            <a:off x="5065776" y="5733288"/>
            <a:ext cx="182880" cy="182880"/>
          </a:xfrm>
          <a:prstGeom prst="ellipse">
            <a:avLst/>
          </a:prstGeom>
          <a:solidFill>
            <a:srgbClr val="6BBF5A"/>
          </a:solidFill>
          <a:ln w="12700">
            <a:solidFill>
              <a:srgbClr val="6BBF5A"/>
            </a:solidFill>
            <a:prstDash val="solid"/>
          </a:ln>
        </p:spPr>
        <p:txBody>
          <a:bodyPr/>
          <a:lstStyle/>
          <a:p>
            <a:endParaRPr lang="en-AE"/>
          </a:p>
        </p:txBody>
      </p:sp>
      <p:sp>
        <p:nvSpPr>
          <p:cNvPr id="79" name="Text 76"/>
          <p:cNvSpPr/>
          <p:nvPr/>
        </p:nvSpPr>
        <p:spPr>
          <a:xfrm>
            <a:off x="5321808" y="5660136"/>
            <a:ext cx="1783080" cy="658368"/>
          </a:xfrm>
          <a:prstGeom prst="rect">
            <a:avLst/>
          </a:prstGeom>
          <a:noFill/>
          <a:ln/>
        </p:spPr>
        <p:txBody>
          <a:bodyPr wrap="square" lIns="0" tIns="0" rIns="0" bIns="0" rtlCol="0" anchor="ctr"/>
          <a:lstStyle/>
          <a:p>
            <a:pPr marL="0" indent="0">
              <a:lnSpc>
                <a:spcPct val="120000"/>
              </a:lnSpc>
              <a:buNone/>
            </a:pPr>
            <a:r>
              <a:rPr lang="en-US" sz="1200" dirty="0">
                <a:solidFill>
                  <a:srgbClr val="2D2D2D"/>
                </a:solidFill>
                <a:latin typeface="Calibri" pitchFamily="34" charset="0"/>
                <a:ea typeface="Calibri" pitchFamily="34" charset="-122"/>
                <a:cs typeface="Calibri" pitchFamily="34" charset="-120"/>
              </a:rPr>
              <a:t>Telecommunications</a:t>
            </a:r>
            <a:endParaRPr lang="en-US" sz="1200" dirty="0"/>
          </a:p>
        </p:txBody>
      </p:sp>
      <p:sp>
        <p:nvSpPr>
          <p:cNvPr id="80" name="Shape 77"/>
          <p:cNvSpPr/>
          <p:nvPr/>
        </p:nvSpPr>
        <p:spPr>
          <a:xfrm>
            <a:off x="7315200" y="5623560"/>
            <a:ext cx="2267712" cy="987552"/>
          </a:xfrm>
          <a:prstGeom prst="rect">
            <a:avLst/>
          </a:prstGeom>
          <a:solidFill>
            <a:srgbClr val="F5F5F3"/>
          </a:solidFill>
          <a:ln w="12700">
            <a:solidFill>
              <a:srgbClr val="E0E0D8"/>
            </a:solidFill>
            <a:prstDash val="solid"/>
          </a:ln>
        </p:spPr>
        <p:txBody>
          <a:bodyPr/>
          <a:lstStyle/>
          <a:p>
            <a:endParaRPr lang="en-AE"/>
          </a:p>
        </p:txBody>
      </p:sp>
      <p:sp>
        <p:nvSpPr>
          <p:cNvPr id="81" name="Shape 78"/>
          <p:cNvSpPr/>
          <p:nvPr/>
        </p:nvSpPr>
        <p:spPr>
          <a:xfrm>
            <a:off x="7315200" y="6373368"/>
            <a:ext cx="2267712" cy="237744"/>
          </a:xfrm>
          <a:prstGeom prst="rect">
            <a:avLst/>
          </a:prstGeom>
          <a:solidFill>
            <a:srgbClr val="2D6A32"/>
          </a:solidFill>
          <a:ln w="12700">
            <a:solidFill>
              <a:srgbClr val="2D6A32"/>
            </a:solidFill>
            <a:prstDash val="solid"/>
          </a:ln>
        </p:spPr>
        <p:txBody>
          <a:bodyPr/>
          <a:lstStyle/>
          <a:p>
            <a:endParaRPr lang="en-AE"/>
          </a:p>
        </p:txBody>
      </p:sp>
      <p:sp>
        <p:nvSpPr>
          <p:cNvPr id="82" name="Shape 79"/>
          <p:cNvSpPr/>
          <p:nvPr/>
        </p:nvSpPr>
        <p:spPr>
          <a:xfrm>
            <a:off x="7443216" y="5733288"/>
            <a:ext cx="182880" cy="182880"/>
          </a:xfrm>
          <a:prstGeom prst="ellipse">
            <a:avLst/>
          </a:prstGeom>
          <a:solidFill>
            <a:srgbClr val="6BBF5A"/>
          </a:solidFill>
          <a:ln w="12700">
            <a:solidFill>
              <a:srgbClr val="6BBF5A"/>
            </a:solidFill>
            <a:prstDash val="solid"/>
          </a:ln>
        </p:spPr>
        <p:txBody>
          <a:bodyPr/>
          <a:lstStyle/>
          <a:p>
            <a:endParaRPr lang="en-AE"/>
          </a:p>
        </p:txBody>
      </p:sp>
      <p:sp>
        <p:nvSpPr>
          <p:cNvPr id="83" name="Text 80"/>
          <p:cNvSpPr/>
          <p:nvPr/>
        </p:nvSpPr>
        <p:spPr>
          <a:xfrm>
            <a:off x="7699248" y="5660136"/>
            <a:ext cx="1783080" cy="658368"/>
          </a:xfrm>
          <a:prstGeom prst="rect">
            <a:avLst/>
          </a:prstGeom>
          <a:noFill/>
          <a:ln/>
        </p:spPr>
        <p:txBody>
          <a:bodyPr wrap="square" lIns="0" tIns="0" rIns="0" bIns="0" rtlCol="0" anchor="ctr"/>
          <a:lstStyle/>
          <a:p>
            <a:pPr marL="0" indent="0">
              <a:lnSpc>
                <a:spcPct val="120000"/>
              </a:lnSpc>
              <a:buNone/>
            </a:pPr>
            <a:r>
              <a:rPr lang="en-US" sz="1200" dirty="0">
                <a:solidFill>
                  <a:srgbClr val="2D2D2D"/>
                </a:solidFill>
                <a:latin typeface="Calibri" pitchFamily="34" charset="0"/>
                <a:ea typeface="Calibri" pitchFamily="34" charset="-122"/>
                <a:cs typeface="Calibri" pitchFamily="34" charset="-120"/>
              </a:rPr>
              <a:t>Transport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D2D2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11480" y="201168"/>
            <a:ext cx="2286000" cy="804672"/>
          </a:xfrm>
          <a:prstGeom prst="rect">
            <a:avLst/>
          </a:prstGeom>
        </p:spPr>
      </p:pic>
      <p:sp>
        <p:nvSpPr>
          <p:cNvPr id="3" name="Text 0"/>
          <p:cNvSpPr/>
          <p:nvPr/>
        </p:nvSpPr>
        <p:spPr>
          <a:xfrm>
            <a:off x="3200400" y="292608"/>
            <a:ext cx="7315200" cy="274320"/>
          </a:xfrm>
          <a:prstGeom prst="rect">
            <a:avLst/>
          </a:prstGeom>
          <a:noFill/>
          <a:ln/>
        </p:spPr>
        <p:txBody>
          <a:bodyPr wrap="square" lIns="0" tIns="0" rIns="0" bIns="0" rtlCol="0" anchor="ctr"/>
          <a:lstStyle/>
          <a:p>
            <a:pPr marL="0" indent="0">
              <a:buNone/>
            </a:pPr>
            <a:r>
              <a:rPr lang="en-US" sz="800" b="1" kern="0" spc="500" dirty="0">
                <a:solidFill>
                  <a:srgbClr val="6BBF5A"/>
                </a:solidFill>
              </a:rPr>
              <a:t>OUR CORE VALUES</a:t>
            </a:r>
            <a:endParaRPr lang="en-US" sz="800" dirty="0"/>
          </a:p>
        </p:txBody>
      </p:sp>
      <p:sp>
        <p:nvSpPr>
          <p:cNvPr id="4" name="Text 1"/>
          <p:cNvSpPr/>
          <p:nvPr/>
        </p:nvSpPr>
        <p:spPr>
          <a:xfrm>
            <a:off x="3200400" y="548640"/>
            <a:ext cx="7315200" cy="50292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What We Stand For</a:t>
            </a:r>
            <a:endParaRPr lang="en-US" sz="2200" dirty="0"/>
          </a:p>
        </p:txBody>
      </p:sp>
      <p:sp>
        <p:nvSpPr>
          <p:cNvPr id="5" name="Shape 2"/>
          <p:cNvSpPr/>
          <p:nvPr/>
        </p:nvSpPr>
        <p:spPr>
          <a:xfrm>
            <a:off x="228600" y="1417320"/>
            <a:ext cx="2834640" cy="2148840"/>
          </a:xfrm>
          <a:prstGeom prst="rect">
            <a:avLst/>
          </a:prstGeom>
          <a:solidFill>
            <a:srgbClr val="383838"/>
          </a:solidFill>
          <a:ln w="12700">
            <a:solidFill>
              <a:srgbClr val="484848"/>
            </a:solidFill>
            <a:prstDash val="solid"/>
          </a:ln>
        </p:spPr>
        <p:txBody>
          <a:bodyPr/>
          <a:lstStyle/>
          <a:p>
            <a:endParaRPr lang="en-AE"/>
          </a:p>
        </p:txBody>
      </p:sp>
      <p:sp>
        <p:nvSpPr>
          <p:cNvPr id="6" name="Shape 3"/>
          <p:cNvSpPr/>
          <p:nvPr/>
        </p:nvSpPr>
        <p:spPr>
          <a:xfrm>
            <a:off x="228600" y="1417320"/>
            <a:ext cx="2834640" cy="54864"/>
          </a:xfrm>
          <a:prstGeom prst="rect">
            <a:avLst/>
          </a:prstGeom>
          <a:solidFill>
            <a:srgbClr val="6BBF5A"/>
          </a:solidFill>
          <a:ln w="12700">
            <a:solidFill>
              <a:srgbClr val="6BBF5A"/>
            </a:solidFill>
            <a:prstDash val="solid"/>
          </a:ln>
        </p:spPr>
        <p:txBody>
          <a:bodyPr/>
          <a:lstStyle/>
          <a:p>
            <a:endParaRPr lang="en-AE"/>
          </a:p>
        </p:txBody>
      </p:sp>
      <p:sp>
        <p:nvSpPr>
          <p:cNvPr id="7" name="Text 4"/>
          <p:cNvSpPr/>
          <p:nvPr/>
        </p:nvSpPr>
        <p:spPr>
          <a:xfrm>
            <a:off x="393192" y="1581912"/>
            <a:ext cx="2560320" cy="384048"/>
          </a:xfrm>
          <a:prstGeom prst="rect">
            <a:avLst/>
          </a:prstGeom>
          <a:noFill/>
          <a:ln/>
        </p:spPr>
        <p:txBody>
          <a:bodyPr wrap="square" lIns="0" tIns="0" rIns="0" bIns="0" rtlCol="0" anchor="ctr"/>
          <a:lstStyle/>
          <a:p>
            <a:pPr marL="0" indent="0">
              <a:buNone/>
            </a:pPr>
            <a:r>
              <a:rPr lang="en-US" sz="1400" b="1" dirty="0">
                <a:solidFill>
                  <a:srgbClr val="6BBF5A"/>
                </a:solidFill>
                <a:latin typeface="Calibri" pitchFamily="34" charset="0"/>
                <a:ea typeface="Calibri" pitchFamily="34" charset="-122"/>
                <a:cs typeface="Calibri" pitchFamily="34" charset="-120"/>
              </a:rPr>
              <a:t>Integrity</a:t>
            </a:r>
            <a:endParaRPr lang="en-US" sz="1400" dirty="0"/>
          </a:p>
        </p:txBody>
      </p:sp>
      <p:sp>
        <p:nvSpPr>
          <p:cNvPr id="8" name="Text 5"/>
          <p:cNvSpPr/>
          <p:nvPr/>
        </p:nvSpPr>
        <p:spPr>
          <a:xfrm>
            <a:off x="393192" y="2011680"/>
            <a:ext cx="2560320" cy="1417320"/>
          </a:xfrm>
          <a:prstGeom prst="rect">
            <a:avLst/>
          </a:prstGeom>
          <a:noFill/>
          <a:ln/>
        </p:spPr>
        <p:txBody>
          <a:bodyPr wrap="square" lIns="0" tIns="0" rIns="0" bIns="0" rtlCol="0" anchor="ctr"/>
          <a:lstStyle/>
          <a:p>
            <a:pPr marL="0" indent="0">
              <a:lnSpc>
                <a:spcPct val="140000"/>
              </a:lnSpc>
              <a:buNone/>
            </a:pPr>
            <a:r>
              <a:rPr lang="en-US" sz="1200" dirty="0">
                <a:solidFill>
                  <a:srgbClr val="AAAAAA"/>
                </a:solidFill>
                <a:latin typeface="Calibri" pitchFamily="34" charset="0"/>
                <a:ea typeface="Calibri" pitchFamily="34" charset="-122"/>
                <a:cs typeface="Calibri" pitchFamily="34" charset="-120"/>
              </a:rPr>
              <a:t>We, at all times, perform in a manner that is ethical, legal and professional, with top notch honesty, respect and fairness.</a:t>
            </a:r>
            <a:endParaRPr lang="en-US" sz="1200" dirty="0"/>
          </a:p>
        </p:txBody>
      </p:sp>
      <p:sp>
        <p:nvSpPr>
          <p:cNvPr id="9" name="Shape 6"/>
          <p:cNvSpPr/>
          <p:nvPr/>
        </p:nvSpPr>
        <p:spPr>
          <a:xfrm>
            <a:off x="3200400" y="1417320"/>
            <a:ext cx="2834640" cy="2148840"/>
          </a:xfrm>
          <a:prstGeom prst="rect">
            <a:avLst/>
          </a:prstGeom>
          <a:solidFill>
            <a:srgbClr val="383838"/>
          </a:solidFill>
          <a:ln w="12700">
            <a:solidFill>
              <a:srgbClr val="484848"/>
            </a:solidFill>
            <a:prstDash val="solid"/>
          </a:ln>
        </p:spPr>
        <p:txBody>
          <a:bodyPr/>
          <a:lstStyle/>
          <a:p>
            <a:endParaRPr lang="en-AE"/>
          </a:p>
        </p:txBody>
      </p:sp>
      <p:sp>
        <p:nvSpPr>
          <p:cNvPr id="10" name="Shape 7"/>
          <p:cNvSpPr/>
          <p:nvPr/>
        </p:nvSpPr>
        <p:spPr>
          <a:xfrm>
            <a:off x="3200400" y="1417320"/>
            <a:ext cx="2834640" cy="54864"/>
          </a:xfrm>
          <a:prstGeom prst="rect">
            <a:avLst/>
          </a:prstGeom>
          <a:solidFill>
            <a:srgbClr val="6BBF5A"/>
          </a:solidFill>
          <a:ln w="12700">
            <a:solidFill>
              <a:srgbClr val="6BBF5A"/>
            </a:solidFill>
            <a:prstDash val="solid"/>
          </a:ln>
        </p:spPr>
        <p:txBody>
          <a:bodyPr/>
          <a:lstStyle/>
          <a:p>
            <a:endParaRPr lang="en-AE"/>
          </a:p>
        </p:txBody>
      </p:sp>
      <p:sp>
        <p:nvSpPr>
          <p:cNvPr id="11" name="Text 8"/>
          <p:cNvSpPr/>
          <p:nvPr/>
        </p:nvSpPr>
        <p:spPr>
          <a:xfrm>
            <a:off x="3364992" y="1581912"/>
            <a:ext cx="2560320" cy="384048"/>
          </a:xfrm>
          <a:prstGeom prst="rect">
            <a:avLst/>
          </a:prstGeom>
          <a:noFill/>
          <a:ln/>
        </p:spPr>
        <p:txBody>
          <a:bodyPr wrap="square" lIns="0" tIns="0" rIns="0" bIns="0" rtlCol="0" anchor="ctr"/>
          <a:lstStyle/>
          <a:p>
            <a:pPr marL="0" indent="0">
              <a:buNone/>
            </a:pPr>
            <a:r>
              <a:rPr lang="en-US" sz="1400" b="1" dirty="0">
                <a:solidFill>
                  <a:srgbClr val="6BBF5A"/>
                </a:solidFill>
                <a:latin typeface="Calibri" pitchFamily="34" charset="0"/>
                <a:ea typeface="Calibri" pitchFamily="34" charset="-122"/>
                <a:cs typeface="Calibri" pitchFamily="34" charset="-120"/>
              </a:rPr>
              <a:t>Teamwork</a:t>
            </a:r>
            <a:endParaRPr lang="en-US" sz="1400" dirty="0"/>
          </a:p>
        </p:txBody>
      </p:sp>
      <p:sp>
        <p:nvSpPr>
          <p:cNvPr id="12" name="Text 9"/>
          <p:cNvSpPr/>
          <p:nvPr/>
        </p:nvSpPr>
        <p:spPr>
          <a:xfrm>
            <a:off x="3364992" y="2011680"/>
            <a:ext cx="2560320" cy="1417320"/>
          </a:xfrm>
          <a:prstGeom prst="rect">
            <a:avLst/>
          </a:prstGeom>
          <a:noFill/>
          <a:ln/>
        </p:spPr>
        <p:txBody>
          <a:bodyPr wrap="square" lIns="0" tIns="0" rIns="0" bIns="0" rtlCol="0" anchor="ctr"/>
          <a:lstStyle/>
          <a:p>
            <a:pPr marL="0" indent="0">
              <a:lnSpc>
                <a:spcPct val="140000"/>
              </a:lnSpc>
              <a:buNone/>
            </a:pPr>
            <a:r>
              <a:rPr lang="en-US" sz="1200" dirty="0">
                <a:solidFill>
                  <a:srgbClr val="AAAAAA"/>
                </a:solidFill>
                <a:latin typeface="Calibri" pitchFamily="34" charset="0"/>
                <a:ea typeface="Calibri" pitchFamily="34" charset="-122"/>
                <a:cs typeface="Calibri" pitchFamily="34" charset="-120"/>
              </a:rPr>
              <a:t>A commitment to common goals based on open and honest communication while showing concern and support for each other.</a:t>
            </a:r>
            <a:endParaRPr lang="en-US" sz="1200" dirty="0"/>
          </a:p>
        </p:txBody>
      </p:sp>
      <p:sp>
        <p:nvSpPr>
          <p:cNvPr id="13" name="Shape 10"/>
          <p:cNvSpPr/>
          <p:nvPr/>
        </p:nvSpPr>
        <p:spPr>
          <a:xfrm>
            <a:off x="6172200" y="1417320"/>
            <a:ext cx="2834640" cy="2148840"/>
          </a:xfrm>
          <a:prstGeom prst="rect">
            <a:avLst/>
          </a:prstGeom>
          <a:solidFill>
            <a:srgbClr val="383838"/>
          </a:solidFill>
          <a:ln w="12700">
            <a:solidFill>
              <a:srgbClr val="484848"/>
            </a:solidFill>
            <a:prstDash val="solid"/>
          </a:ln>
        </p:spPr>
        <p:txBody>
          <a:bodyPr/>
          <a:lstStyle/>
          <a:p>
            <a:endParaRPr lang="en-AE"/>
          </a:p>
        </p:txBody>
      </p:sp>
      <p:sp>
        <p:nvSpPr>
          <p:cNvPr id="14" name="Shape 11"/>
          <p:cNvSpPr/>
          <p:nvPr/>
        </p:nvSpPr>
        <p:spPr>
          <a:xfrm>
            <a:off x="6172200" y="1417320"/>
            <a:ext cx="2834640" cy="54864"/>
          </a:xfrm>
          <a:prstGeom prst="rect">
            <a:avLst/>
          </a:prstGeom>
          <a:solidFill>
            <a:srgbClr val="6BBF5A"/>
          </a:solidFill>
          <a:ln w="12700">
            <a:solidFill>
              <a:srgbClr val="6BBF5A"/>
            </a:solidFill>
            <a:prstDash val="solid"/>
          </a:ln>
        </p:spPr>
        <p:txBody>
          <a:bodyPr/>
          <a:lstStyle/>
          <a:p>
            <a:endParaRPr lang="en-AE"/>
          </a:p>
        </p:txBody>
      </p:sp>
      <p:sp>
        <p:nvSpPr>
          <p:cNvPr id="15" name="Text 12"/>
          <p:cNvSpPr/>
          <p:nvPr/>
        </p:nvSpPr>
        <p:spPr>
          <a:xfrm>
            <a:off x="6336792" y="1581912"/>
            <a:ext cx="2560320" cy="384048"/>
          </a:xfrm>
          <a:prstGeom prst="rect">
            <a:avLst/>
          </a:prstGeom>
          <a:noFill/>
          <a:ln/>
        </p:spPr>
        <p:txBody>
          <a:bodyPr wrap="square" lIns="0" tIns="0" rIns="0" bIns="0" rtlCol="0" anchor="ctr"/>
          <a:lstStyle/>
          <a:p>
            <a:pPr marL="0" indent="0">
              <a:buNone/>
            </a:pPr>
            <a:r>
              <a:rPr lang="en-US" sz="1400" b="1" dirty="0">
                <a:solidFill>
                  <a:srgbClr val="6BBF5A"/>
                </a:solidFill>
                <a:latin typeface="Calibri" pitchFamily="34" charset="0"/>
                <a:ea typeface="Calibri" pitchFamily="34" charset="-122"/>
                <a:cs typeface="Calibri" pitchFamily="34" charset="-120"/>
              </a:rPr>
              <a:t>Accountability &amp; Transparency</a:t>
            </a:r>
            <a:endParaRPr lang="en-US" sz="1400" dirty="0"/>
          </a:p>
        </p:txBody>
      </p:sp>
      <p:sp>
        <p:nvSpPr>
          <p:cNvPr id="16" name="Text 13"/>
          <p:cNvSpPr/>
          <p:nvPr/>
        </p:nvSpPr>
        <p:spPr>
          <a:xfrm>
            <a:off x="6336792" y="2011680"/>
            <a:ext cx="2560320" cy="1417320"/>
          </a:xfrm>
          <a:prstGeom prst="rect">
            <a:avLst/>
          </a:prstGeom>
          <a:noFill/>
          <a:ln/>
        </p:spPr>
        <p:txBody>
          <a:bodyPr wrap="square" lIns="0" tIns="0" rIns="0" bIns="0" rtlCol="0" anchor="ctr"/>
          <a:lstStyle/>
          <a:p>
            <a:pPr marL="0" indent="0">
              <a:lnSpc>
                <a:spcPct val="140000"/>
              </a:lnSpc>
              <a:buNone/>
            </a:pPr>
            <a:r>
              <a:rPr lang="en-US" sz="1200" dirty="0">
                <a:solidFill>
                  <a:srgbClr val="AAAAAA"/>
                </a:solidFill>
                <a:latin typeface="Calibri" pitchFamily="34" charset="0"/>
                <a:ea typeface="Calibri" pitchFamily="34" charset="-122"/>
                <a:cs typeface="Calibri" pitchFamily="34" charset="-120"/>
              </a:rPr>
              <a:t>We take pride in all that we do and say. Accountability involves a process of seeing it, owning it, solving it and doing it.</a:t>
            </a:r>
            <a:endParaRPr lang="en-US" sz="1200" dirty="0"/>
          </a:p>
        </p:txBody>
      </p:sp>
      <p:sp>
        <p:nvSpPr>
          <p:cNvPr id="17" name="Shape 14"/>
          <p:cNvSpPr/>
          <p:nvPr/>
        </p:nvSpPr>
        <p:spPr>
          <a:xfrm>
            <a:off x="9144000" y="1417320"/>
            <a:ext cx="2834640" cy="2148840"/>
          </a:xfrm>
          <a:prstGeom prst="rect">
            <a:avLst/>
          </a:prstGeom>
          <a:solidFill>
            <a:srgbClr val="383838"/>
          </a:solidFill>
          <a:ln w="12700">
            <a:solidFill>
              <a:srgbClr val="484848"/>
            </a:solidFill>
            <a:prstDash val="solid"/>
          </a:ln>
        </p:spPr>
        <p:txBody>
          <a:bodyPr/>
          <a:lstStyle/>
          <a:p>
            <a:endParaRPr lang="en-AE"/>
          </a:p>
        </p:txBody>
      </p:sp>
      <p:sp>
        <p:nvSpPr>
          <p:cNvPr id="18" name="Shape 15"/>
          <p:cNvSpPr/>
          <p:nvPr/>
        </p:nvSpPr>
        <p:spPr>
          <a:xfrm>
            <a:off x="9144000" y="1417320"/>
            <a:ext cx="2834640" cy="54864"/>
          </a:xfrm>
          <a:prstGeom prst="rect">
            <a:avLst/>
          </a:prstGeom>
          <a:solidFill>
            <a:srgbClr val="6BBF5A"/>
          </a:solidFill>
          <a:ln w="12700">
            <a:solidFill>
              <a:srgbClr val="6BBF5A"/>
            </a:solidFill>
            <a:prstDash val="solid"/>
          </a:ln>
        </p:spPr>
        <p:txBody>
          <a:bodyPr/>
          <a:lstStyle/>
          <a:p>
            <a:endParaRPr lang="en-AE"/>
          </a:p>
        </p:txBody>
      </p:sp>
      <p:sp>
        <p:nvSpPr>
          <p:cNvPr id="19" name="Text 16"/>
          <p:cNvSpPr/>
          <p:nvPr/>
        </p:nvSpPr>
        <p:spPr>
          <a:xfrm>
            <a:off x="9308592" y="1581912"/>
            <a:ext cx="2560320" cy="384048"/>
          </a:xfrm>
          <a:prstGeom prst="rect">
            <a:avLst/>
          </a:prstGeom>
          <a:noFill/>
          <a:ln/>
        </p:spPr>
        <p:txBody>
          <a:bodyPr wrap="square" lIns="0" tIns="0" rIns="0" bIns="0" rtlCol="0" anchor="ctr"/>
          <a:lstStyle/>
          <a:p>
            <a:pPr marL="0" indent="0">
              <a:buNone/>
            </a:pPr>
            <a:r>
              <a:rPr lang="en-US" sz="1400" b="1" dirty="0">
                <a:solidFill>
                  <a:srgbClr val="6BBF5A"/>
                </a:solidFill>
                <a:latin typeface="Calibri" pitchFamily="34" charset="0"/>
                <a:ea typeface="Calibri" pitchFamily="34" charset="-122"/>
                <a:cs typeface="Calibri" pitchFamily="34" charset="-120"/>
              </a:rPr>
              <a:t>Professionalism &amp; Confidentiality</a:t>
            </a:r>
            <a:endParaRPr lang="en-US" sz="1400" dirty="0"/>
          </a:p>
        </p:txBody>
      </p:sp>
      <p:sp>
        <p:nvSpPr>
          <p:cNvPr id="20" name="Text 17"/>
          <p:cNvSpPr/>
          <p:nvPr/>
        </p:nvSpPr>
        <p:spPr>
          <a:xfrm>
            <a:off x="9308592" y="2011680"/>
            <a:ext cx="2560320" cy="1417320"/>
          </a:xfrm>
          <a:prstGeom prst="rect">
            <a:avLst/>
          </a:prstGeom>
          <a:noFill/>
          <a:ln/>
        </p:spPr>
        <p:txBody>
          <a:bodyPr wrap="square" lIns="0" tIns="0" rIns="0" bIns="0" rtlCol="0" anchor="ctr"/>
          <a:lstStyle/>
          <a:p>
            <a:pPr marL="0" indent="0">
              <a:lnSpc>
                <a:spcPct val="140000"/>
              </a:lnSpc>
              <a:buNone/>
            </a:pPr>
            <a:r>
              <a:rPr lang="en-US" sz="1200" dirty="0">
                <a:solidFill>
                  <a:srgbClr val="AAAAAA"/>
                </a:solidFill>
                <a:latin typeface="Calibri" pitchFamily="34" charset="0"/>
                <a:ea typeface="Calibri" pitchFamily="34" charset="-122"/>
                <a:cs typeface="Calibri" pitchFamily="34" charset="-120"/>
              </a:rPr>
              <a:t>Professionalism is the culmination of competence, knowledge, maintaining confidentiality, quality, attitude and cooperation.</a:t>
            </a:r>
            <a:endParaRPr lang="en-US" sz="1200" dirty="0"/>
          </a:p>
        </p:txBody>
      </p:sp>
      <p:sp>
        <p:nvSpPr>
          <p:cNvPr id="21" name="Shape 18"/>
          <p:cNvSpPr/>
          <p:nvPr/>
        </p:nvSpPr>
        <p:spPr>
          <a:xfrm>
            <a:off x="365760" y="3840480"/>
            <a:ext cx="3840480" cy="2148840"/>
          </a:xfrm>
          <a:prstGeom prst="rect">
            <a:avLst/>
          </a:prstGeom>
          <a:solidFill>
            <a:srgbClr val="383838"/>
          </a:solidFill>
          <a:ln w="12700">
            <a:solidFill>
              <a:srgbClr val="484848"/>
            </a:solidFill>
            <a:prstDash val="solid"/>
          </a:ln>
        </p:spPr>
        <p:txBody>
          <a:bodyPr/>
          <a:lstStyle/>
          <a:p>
            <a:endParaRPr lang="en-AE"/>
          </a:p>
        </p:txBody>
      </p:sp>
      <p:sp>
        <p:nvSpPr>
          <p:cNvPr id="22" name="Shape 19"/>
          <p:cNvSpPr/>
          <p:nvPr/>
        </p:nvSpPr>
        <p:spPr>
          <a:xfrm>
            <a:off x="365760" y="3840480"/>
            <a:ext cx="3840480" cy="54864"/>
          </a:xfrm>
          <a:prstGeom prst="rect">
            <a:avLst/>
          </a:prstGeom>
          <a:solidFill>
            <a:srgbClr val="6BBF5A"/>
          </a:solidFill>
          <a:ln w="12700">
            <a:solidFill>
              <a:srgbClr val="6BBF5A"/>
            </a:solidFill>
            <a:prstDash val="solid"/>
          </a:ln>
        </p:spPr>
        <p:txBody>
          <a:bodyPr/>
          <a:lstStyle/>
          <a:p>
            <a:endParaRPr lang="en-AE"/>
          </a:p>
        </p:txBody>
      </p:sp>
      <p:sp>
        <p:nvSpPr>
          <p:cNvPr id="23" name="Text 20"/>
          <p:cNvSpPr/>
          <p:nvPr/>
        </p:nvSpPr>
        <p:spPr>
          <a:xfrm>
            <a:off x="530352" y="4005072"/>
            <a:ext cx="3566160" cy="384048"/>
          </a:xfrm>
          <a:prstGeom prst="rect">
            <a:avLst/>
          </a:prstGeom>
          <a:noFill/>
          <a:ln/>
        </p:spPr>
        <p:txBody>
          <a:bodyPr wrap="square" lIns="0" tIns="0" rIns="0" bIns="0" rtlCol="0" anchor="ctr"/>
          <a:lstStyle/>
          <a:p>
            <a:pPr marL="0" indent="0">
              <a:buNone/>
            </a:pPr>
            <a:r>
              <a:rPr lang="en-US" sz="1400" b="1" dirty="0">
                <a:solidFill>
                  <a:srgbClr val="6BBF5A"/>
                </a:solidFill>
                <a:latin typeface="Calibri" pitchFamily="34" charset="0"/>
                <a:ea typeface="Calibri" pitchFamily="34" charset="-122"/>
                <a:cs typeface="Calibri" pitchFamily="34" charset="-120"/>
              </a:rPr>
              <a:t>Independence</a:t>
            </a:r>
            <a:endParaRPr lang="en-US" sz="1400" dirty="0"/>
          </a:p>
        </p:txBody>
      </p:sp>
      <p:sp>
        <p:nvSpPr>
          <p:cNvPr id="24" name="Text 21"/>
          <p:cNvSpPr/>
          <p:nvPr/>
        </p:nvSpPr>
        <p:spPr>
          <a:xfrm>
            <a:off x="530352" y="4434840"/>
            <a:ext cx="3566160" cy="1417320"/>
          </a:xfrm>
          <a:prstGeom prst="rect">
            <a:avLst/>
          </a:prstGeom>
          <a:noFill/>
          <a:ln/>
        </p:spPr>
        <p:txBody>
          <a:bodyPr wrap="square" lIns="0" tIns="0" rIns="0" bIns="0" rtlCol="0" anchor="ctr"/>
          <a:lstStyle/>
          <a:p>
            <a:pPr marL="0" indent="0">
              <a:lnSpc>
                <a:spcPct val="140000"/>
              </a:lnSpc>
              <a:buNone/>
            </a:pPr>
            <a:r>
              <a:rPr lang="en-US" sz="1200" dirty="0">
                <a:solidFill>
                  <a:srgbClr val="AAAAAA"/>
                </a:solidFill>
                <a:latin typeface="Calibri" pitchFamily="34" charset="0"/>
                <a:ea typeface="Calibri" pitchFamily="34" charset="-122"/>
                <a:cs typeface="Calibri" pitchFamily="34" charset="-120"/>
              </a:rPr>
              <a:t>We carry out our services free from undue influence or pressure, without fear or favor, always consistent with our independence.</a:t>
            </a:r>
            <a:endParaRPr lang="en-US" sz="1200" dirty="0"/>
          </a:p>
        </p:txBody>
      </p:sp>
      <p:sp>
        <p:nvSpPr>
          <p:cNvPr id="25" name="Shape 22"/>
          <p:cNvSpPr/>
          <p:nvPr/>
        </p:nvSpPr>
        <p:spPr>
          <a:xfrm>
            <a:off x="4389120" y="3840480"/>
            <a:ext cx="3840480" cy="2148840"/>
          </a:xfrm>
          <a:prstGeom prst="rect">
            <a:avLst/>
          </a:prstGeom>
          <a:solidFill>
            <a:srgbClr val="383838"/>
          </a:solidFill>
          <a:ln w="12700">
            <a:solidFill>
              <a:srgbClr val="484848"/>
            </a:solidFill>
            <a:prstDash val="solid"/>
          </a:ln>
        </p:spPr>
        <p:txBody>
          <a:bodyPr/>
          <a:lstStyle/>
          <a:p>
            <a:endParaRPr lang="en-AE"/>
          </a:p>
        </p:txBody>
      </p:sp>
      <p:sp>
        <p:nvSpPr>
          <p:cNvPr id="26" name="Shape 23"/>
          <p:cNvSpPr/>
          <p:nvPr/>
        </p:nvSpPr>
        <p:spPr>
          <a:xfrm>
            <a:off x="4389120" y="3840480"/>
            <a:ext cx="3840480" cy="54864"/>
          </a:xfrm>
          <a:prstGeom prst="rect">
            <a:avLst/>
          </a:prstGeom>
          <a:solidFill>
            <a:srgbClr val="6BBF5A"/>
          </a:solidFill>
          <a:ln w="12700">
            <a:solidFill>
              <a:srgbClr val="6BBF5A"/>
            </a:solidFill>
            <a:prstDash val="solid"/>
          </a:ln>
        </p:spPr>
        <p:txBody>
          <a:bodyPr/>
          <a:lstStyle/>
          <a:p>
            <a:endParaRPr lang="en-AE"/>
          </a:p>
        </p:txBody>
      </p:sp>
      <p:sp>
        <p:nvSpPr>
          <p:cNvPr id="27" name="Text 24"/>
          <p:cNvSpPr/>
          <p:nvPr/>
        </p:nvSpPr>
        <p:spPr>
          <a:xfrm>
            <a:off x="4553712" y="4005072"/>
            <a:ext cx="3566160" cy="384048"/>
          </a:xfrm>
          <a:prstGeom prst="rect">
            <a:avLst/>
          </a:prstGeom>
          <a:noFill/>
          <a:ln/>
        </p:spPr>
        <p:txBody>
          <a:bodyPr wrap="square" lIns="0" tIns="0" rIns="0" bIns="0" rtlCol="0" anchor="ctr"/>
          <a:lstStyle/>
          <a:p>
            <a:pPr marL="0" indent="0">
              <a:buNone/>
            </a:pPr>
            <a:r>
              <a:rPr lang="en-US" sz="1400" b="1" dirty="0">
                <a:solidFill>
                  <a:srgbClr val="6BBF5A"/>
                </a:solidFill>
                <a:latin typeface="Calibri" pitchFamily="34" charset="0"/>
                <a:ea typeface="Calibri" pitchFamily="34" charset="-122"/>
                <a:cs typeface="Calibri" pitchFamily="34" charset="-120"/>
              </a:rPr>
              <a:t>Excellence</a:t>
            </a:r>
            <a:endParaRPr lang="en-US" sz="1400" dirty="0"/>
          </a:p>
        </p:txBody>
      </p:sp>
      <p:sp>
        <p:nvSpPr>
          <p:cNvPr id="28" name="Text 25"/>
          <p:cNvSpPr/>
          <p:nvPr/>
        </p:nvSpPr>
        <p:spPr>
          <a:xfrm>
            <a:off x="4553712" y="4434840"/>
            <a:ext cx="3566160" cy="1417320"/>
          </a:xfrm>
          <a:prstGeom prst="rect">
            <a:avLst/>
          </a:prstGeom>
          <a:noFill/>
          <a:ln/>
        </p:spPr>
        <p:txBody>
          <a:bodyPr wrap="square" lIns="0" tIns="0" rIns="0" bIns="0" rtlCol="0" anchor="ctr"/>
          <a:lstStyle/>
          <a:p>
            <a:pPr marL="0" indent="0">
              <a:lnSpc>
                <a:spcPct val="140000"/>
              </a:lnSpc>
              <a:buNone/>
            </a:pPr>
            <a:r>
              <a:rPr lang="en-US" sz="1200" dirty="0">
                <a:solidFill>
                  <a:srgbClr val="AAAAAA"/>
                </a:solidFill>
                <a:latin typeface="Calibri" pitchFamily="34" charset="0"/>
                <a:ea typeface="Calibri" pitchFamily="34" charset="-122"/>
                <a:cs typeface="Calibri" pitchFamily="34" charset="-120"/>
              </a:rPr>
              <a:t>We strive for excellence in all areas of service, providing quality service, staying within budget and completing tasks on time.</a:t>
            </a:r>
            <a:endParaRPr lang="en-US" sz="1200" dirty="0"/>
          </a:p>
        </p:txBody>
      </p:sp>
      <p:sp>
        <p:nvSpPr>
          <p:cNvPr id="29" name="Shape 26"/>
          <p:cNvSpPr/>
          <p:nvPr/>
        </p:nvSpPr>
        <p:spPr>
          <a:xfrm>
            <a:off x="8412480" y="3840480"/>
            <a:ext cx="3840480" cy="2148840"/>
          </a:xfrm>
          <a:prstGeom prst="rect">
            <a:avLst/>
          </a:prstGeom>
          <a:solidFill>
            <a:srgbClr val="383838"/>
          </a:solidFill>
          <a:ln w="12700">
            <a:solidFill>
              <a:srgbClr val="484848"/>
            </a:solidFill>
            <a:prstDash val="solid"/>
          </a:ln>
        </p:spPr>
        <p:txBody>
          <a:bodyPr/>
          <a:lstStyle/>
          <a:p>
            <a:endParaRPr lang="en-AE"/>
          </a:p>
        </p:txBody>
      </p:sp>
      <p:sp>
        <p:nvSpPr>
          <p:cNvPr id="30" name="Shape 27"/>
          <p:cNvSpPr/>
          <p:nvPr/>
        </p:nvSpPr>
        <p:spPr>
          <a:xfrm>
            <a:off x="8412480" y="3840480"/>
            <a:ext cx="3840480" cy="54864"/>
          </a:xfrm>
          <a:prstGeom prst="rect">
            <a:avLst/>
          </a:prstGeom>
          <a:solidFill>
            <a:srgbClr val="6BBF5A"/>
          </a:solidFill>
          <a:ln w="12700">
            <a:solidFill>
              <a:srgbClr val="6BBF5A"/>
            </a:solidFill>
            <a:prstDash val="solid"/>
          </a:ln>
        </p:spPr>
        <p:txBody>
          <a:bodyPr/>
          <a:lstStyle/>
          <a:p>
            <a:endParaRPr lang="en-AE"/>
          </a:p>
        </p:txBody>
      </p:sp>
      <p:sp>
        <p:nvSpPr>
          <p:cNvPr id="31" name="Text 28"/>
          <p:cNvSpPr/>
          <p:nvPr/>
        </p:nvSpPr>
        <p:spPr>
          <a:xfrm>
            <a:off x="8577072" y="4005072"/>
            <a:ext cx="3566160" cy="384048"/>
          </a:xfrm>
          <a:prstGeom prst="rect">
            <a:avLst/>
          </a:prstGeom>
          <a:noFill/>
          <a:ln/>
        </p:spPr>
        <p:txBody>
          <a:bodyPr wrap="square" lIns="0" tIns="0" rIns="0" bIns="0" rtlCol="0" anchor="ctr"/>
          <a:lstStyle/>
          <a:p>
            <a:pPr marL="0" indent="0">
              <a:buNone/>
            </a:pPr>
            <a:r>
              <a:rPr lang="en-US" sz="1400" b="1" dirty="0">
                <a:solidFill>
                  <a:srgbClr val="6BBF5A"/>
                </a:solidFill>
                <a:latin typeface="Calibri" pitchFamily="34" charset="0"/>
                <a:ea typeface="Calibri" pitchFamily="34" charset="-122"/>
                <a:cs typeface="Calibri" pitchFamily="34" charset="-120"/>
              </a:rPr>
              <a:t>Achievements</a:t>
            </a:r>
            <a:endParaRPr lang="en-US" sz="1400" dirty="0"/>
          </a:p>
        </p:txBody>
      </p:sp>
      <p:sp>
        <p:nvSpPr>
          <p:cNvPr id="32" name="Text 29"/>
          <p:cNvSpPr/>
          <p:nvPr/>
        </p:nvSpPr>
        <p:spPr>
          <a:xfrm>
            <a:off x="8577072" y="4434840"/>
            <a:ext cx="3566160" cy="1417320"/>
          </a:xfrm>
          <a:prstGeom prst="rect">
            <a:avLst/>
          </a:prstGeom>
          <a:noFill/>
          <a:ln/>
        </p:spPr>
        <p:txBody>
          <a:bodyPr wrap="square" lIns="0" tIns="0" rIns="0" bIns="0" rtlCol="0" anchor="ctr"/>
          <a:lstStyle/>
          <a:p>
            <a:pPr marL="0" indent="0">
              <a:lnSpc>
                <a:spcPct val="140000"/>
              </a:lnSpc>
              <a:buNone/>
            </a:pPr>
            <a:r>
              <a:rPr lang="en-US" sz="1200" dirty="0">
                <a:solidFill>
                  <a:srgbClr val="AAAAAA"/>
                </a:solidFill>
                <a:latin typeface="Calibri" pitchFamily="34" charset="0"/>
                <a:ea typeface="Calibri" pitchFamily="34" charset="-122"/>
                <a:cs typeface="Calibri" pitchFamily="34" charset="-120"/>
              </a:rPr>
              <a:t>We recognize and reward meaningful contributions and outstanding performance across the firm.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D6A32"/>
          </a:solidFill>
          <a:ln w="12700">
            <a:solidFill>
              <a:srgbClr val="2D6A32"/>
            </a:solidFill>
            <a:prstDash val="solid"/>
          </a:ln>
        </p:spPr>
        <p:txBody>
          <a:bodyPr/>
          <a:lstStyle/>
          <a:p>
            <a:endParaRPr lang="en-AE"/>
          </a:p>
        </p:txBody>
      </p:sp>
      <p:sp>
        <p:nvSpPr>
          <p:cNvPr id="3" name="Shape 1"/>
          <p:cNvSpPr/>
          <p:nvPr/>
        </p:nvSpPr>
        <p:spPr>
          <a:xfrm>
            <a:off x="109728" y="0"/>
            <a:ext cx="12051792" cy="1188720"/>
          </a:xfrm>
          <a:prstGeom prst="rect">
            <a:avLst/>
          </a:prstGeom>
          <a:solidFill>
            <a:srgbClr val="F5F5F3"/>
          </a:solidFill>
          <a:ln w="12700">
            <a:solidFill>
              <a:srgbClr val="F5F5F3"/>
            </a:solidFill>
            <a:prstDash val="solid"/>
          </a:ln>
        </p:spPr>
        <p:txBody>
          <a:bodyPr/>
          <a:lstStyle/>
          <a:p>
            <a:endParaRPr lang="en-AE"/>
          </a:p>
        </p:txBody>
      </p:sp>
      <p:pic>
        <p:nvPicPr>
          <p:cNvPr id="4" name="Image 0" descr="preencoded.png"/>
          <p:cNvPicPr>
            <a:picLocks noChangeAspect="1"/>
          </p:cNvPicPr>
          <p:nvPr/>
        </p:nvPicPr>
        <p:blipFill>
          <a:blip r:embed="rId3"/>
          <a:stretch>
            <a:fillRect/>
          </a:stretch>
        </p:blipFill>
        <p:spPr>
          <a:xfrm>
            <a:off x="320040" y="201168"/>
            <a:ext cx="2286000" cy="804672"/>
          </a:xfrm>
          <a:prstGeom prst="rect">
            <a:avLst/>
          </a:prstGeom>
        </p:spPr>
      </p:pic>
      <p:sp>
        <p:nvSpPr>
          <p:cNvPr id="5" name="Text 2"/>
          <p:cNvSpPr/>
          <p:nvPr/>
        </p:nvSpPr>
        <p:spPr>
          <a:xfrm>
            <a:off x="3200400" y="164592"/>
            <a:ext cx="7315200" cy="274320"/>
          </a:xfrm>
          <a:prstGeom prst="rect">
            <a:avLst/>
          </a:prstGeom>
          <a:noFill/>
          <a:ln/>
        </p:spPr>
        <p:txBody>
          <a:bodyPr wrap="square" lIns="0" tIns="0" rIns="0" bIns="0" rtlCol="0" anchor="ctr"/>
          <a:lstStyle/>
          <a:p>
            <a:pPr marL="0" indent="0">
              <a:buNone/>
            </a:pPr>
            <a:r>
              <a:rPr lang="en-US" sz="800" b="1" kern="0" spc="500" dirty="0">
                <a:solidFill>
                  <a:srgbClr val="2D6A32"/>
                </a:solidFill>
              </a:rPr>
              <a:t>WHY CHOOSE US</a:t>
            </a:r>
            <a:endParaRPr lang="en-US" sz="800" dirty="0"/>
          </a:p>
        </p:txBody>
      </p:sp>
      <p:sp>
        <p:nvSpPr>
          <p:cNvPr id="6" name="Text 3"/>
          <p:cNvSpPr/>
          <p:nvPr/>
        </p:nvSpPr>
        <p:spPr>
          <a:xfrm>
            <a:off x="3200400" y="457200"/>
            <a:ext cx="8229600" cy="594360"/>
          </a:xfrm>
          <a:prstGeom prst="rect">
            <a:avLst/>
          </a:prstGeom>
          <a:noFill/>
          <a:ln/>
        </p:spPr>
        <p:txBody>
          <a:bodyPr wrap="square" lIns="0" tIns="0" rIns="0" bIns="0" rtlCol="0" anchor="ctr"/>
          <a:lstStyle/>
          <a:p>
            <a:pPr marL="0" indent="0">
              <a:buNone/>
            </a:pPr>
            <a:r>
              <a:rPr lang="en-US" sz="2400" b="1" dirty="0">
                <a:solidFill>
                  <a:srgbClr val="2D2D2D"/>
                </a:solidFill>
                <a:latin typeface="Georgia" pitchFamily="34" charset="0"/>
                <a:ea typeface="Georgia" pitchFamily="34" charset="-122"/>
                <a:cs typeface="Georgia" pitchFamily="34" charset="-120"/>
              </a:rPr>
              <a:t>What Sets Us Apart</a:t>
            </a:r>
            <a:endParaRPr lang="en-US" sz="2400" dirty="0"/>
          </a:p>
        </p:txBody>
      </p:sp>
      <p:sp>
        <p:nvSpPr>
          <p:cNvPr id="7" name="Shape 4"/>
          <p:cNvSpPr/>
          <p:nvPr/>
        </p:nvSpPr>
        <p:spPr>
          <a:xfrm>
            <a:off x="274320" y="1389888"/>
            <a:ext cx="3749040" cy="2240280"/>
          </a:xfrm>
          <a:prstGeom prst="rect">
            <a:avLst/>
          </a:prstGeom>
          <a:solidFill>
            <a:srgbClr val="F5F5F3"/>
          </a:solidFill>
          <a:ln w="12700">
            <a:solidFill>
              <a:srgbClr val="E0E0D8"/>
            </a:solidFill>
            <a:prstDash val="solid"/>
          </a:ln>
        </p:spPr>
        <p:txBody>
          <a:bodyPr/>
          <a:lstStyle/>
          <a:p>
            <a:endParaRPr lang="en-AE"/>
          </a:p>
        </p:txBody>
      </p:sp>
      <p:sp>
        <p:nvSpPr>
          <p:cNvPr id="8" name="Shape 5"/>
          <p:cNvSpPr/>
          <p:nvPr/>
        </p:nvSpPr>
        <p:spPr>
          <a:xfrm>
            <a:off x="274320" y="1389888"/>
            <a:ext cx="3749040" cy="54864"/>
          </a:xfrm>
          <a:prstGeom prst="rect">
            <a:avLst/>
          </a:prstGeom>
          <a:solidFill>
            <a:srgbClr val="6BBF5A"/>
          </a:solidFill>
          <a:ln w="12700">
            <a:solidFill>
              <a:srgbClr val="6BBF5A"/>
            </a:solidFill>
            <a:prstDash val="solid"/>
          </a:ln>
        </p:spPr>
        <p:txBody>
          <a:bodyPr/>
          <a:lstStyle/>
          <a:p>
            <a:endParaRPr lang="en-AE"/>
          </a:p>
        </p:txBody>
      </p:sp>
      <p:sp>
        <p:nvSpPr>
          <p:cNvPr id="9" name="Text 6"/>
          <p:cNvSpPr/>
          <p:nvPr/>
        </p:nvSpPr>
        <p:spPr>
          <a:xfrm>
            <a:off x="457200" y="1527048"/>
            <a:ext cx="914400" cy="502920"/>
          </a:xfrm>
          <a:prstGeom prst="rect">
            <a:avLst/>
          </a:prstGeom>
          <a:noFill/>
          <a:ln/>
        </p:spPr>
        <p:txBody>
          <a:bodyPr wrap="square" lIns="0" tIns="0" rIns="0" bIns="0" rtlCol="0" anchor="ctr"/>
          <a:lstStyle/>
          <a:p>
            <a:pPr marL="0" indent="0">
              <a:buNone/>
            </a:pPr>
            <a:r>
              <a:rPr lang="en-US" sz="2200" b="1" dirty="0">
                <a:solidFill>
                  <a:srgbClr val="6BBF5A"/>
                </a:solidFill>
                <a:latin typeface="Georgia" pitchFamily="34" charset="0"/>
                <a:ea typeface="Georgia" pitchFamily="34" charset="-122"/>
                <a:cs typeface="Georgia" pitchFamily="34" charset="-120"/>
              </a:rPr>
              <a:t>01</a:t>
            </a:r>
            <a:endParaRPr lang="en-US" sz="2200" dirty="0"/>
          </a:p>
        </p:txBody>
      </p:sp>
      <p:sp>
        <p:nvSpPr>
          <p:cNvPr id="10" name="Text 7"/>
          <p:cNvSpPr/>
          <p:nvPr/>
        </p:nvSpPr>
        <p:spPr>
          <a:xfrm>
            <a:off x="457200" y="2075688"/>
            <a:ext cx="3383280" cy="36576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Independent Perspective</a:t>
            </a:r>
            <a:endParaRPr lang="en-US" sz="1400" dirty="0"/>
          </a:p>
        </p:txBody>
      </p:sp>
      <p:sp>
        <p:nvSpPr>
          <p:cNvPr id="11" name="Text 8"/>
          <p:cNvSpPr/>
          <p:nvPr/>
        </p:nvSpPr>
        <p:spPr>
          <a:xfrm>
            <a:off x="457200" y="2487168"/>
            <a:ext cx="3383280" cy="1005840"/>
          </a:xfrm>
          <a:prstGeom prst="rect">
            <a:avLst/>
          </a:prstGeom>
          <a:noFill/>
          <a:ln/>
        </p:spPr>
        <p:txBody>
          <a:bodyPr wrap="square" lIns="0" tIns="0" rIns="0" bIns="0" rtlCol="0" anchor="ctr"/>
          <a:lstStyle/>
          <a:p>
            <a:pPr marL="0" indent="0">
              <a:lnSpc>
                <a:spcPct val="140000"/>
              </a:lnSpc>
              <a:buNone/>
            </a:pPr>
            <a:r>
              <a:rPr lang="en-US" sz="1200" dirty="0">
                <a:solidFill>
                  <a:srgbClr val="888888"/>
                </a:solidFill>
                <a:latin typeface="Calibri" pitchFamily="34" charset="0"/>
                <a:ea typeface="Calibri" pitchFamily="34" charset="-122"/>
                <a:cs typeface="Calibri" pitchFamily="34" charset="-120"/>
              </a:rPr>
              <a:t>Our independence is our greatest asset — objective, unbiased assessments free from conflicts of interest, giving stakeholders unimpeachable confidence.</a:t>
            </a:r>
            <a:endParaRPr lang="en-US" sz="1200" dirty="0"/>
          </a:p>
        </p:txBody>
      </p:sp>
      <p:sp>
        <p:nvSpPr>
          <p:cNvPr id="12" name="Shape 9"/>
          <p:cNvSpPr/>
          <p:nvPr/>
        </p:nvSpPr>
        <p:spPr>
          <a:xfrm>
            <a:off x="4251960" y="1389888"/>
            <a:ext cx="3749040" cy="2240280"/>
          </a:xfrm>
          <a:prstGeom prst="rect">
            <a:avLst/>
          </a:prstGeom>
          <a:solidFill>
            <a:srgbClr val="F5F5F3"/>
          </a:solidFill>
          <a:ln w="12700">
            <a:solidFill>
              <a:srgbClr val="E0E0D8"/>
            </a:solidFill>
            <a:prstDash val="solid"/>
          </a:ln>
        </p:spPr>
        <p:txBody>
          <a:bodyPr/>
          <a:lstStyle/>
          <a:p>
            <a:endParaRPr lang="en-AE"/>
          </a:p>
        </p:txBody>
      </p:sp>
      <p:sp>
        <p:nvSpPr>
          <p:cNvPr id="13" name="Shape 10"/>
          <p:cNvSpPr/>
          <p:nvPr/>
        </p:nvSpPr>
        <p:spPr>
          <a:xfrm>
            <a:off x="4251960" y="1389888"/>
            <a:ext cx="3749040" cy="54864"/>
          </a:xfrm>
          <a:prstGeom prst="rect">
            <a:avLst/>
          </a:prstGeom>
          <a:solidFill>
            <a:srgbClr val="6BBF5A"/>
          </a:solidFill>
          <a:ln w="12700">
            <a:solidFill>
              <a:srgbClr val="6BBF5A"/>
            </a:solidFill>
            <a:prstDash val="solid"/>
          </a:ln>
        </p:spPr>
        <p:txBody>
          <a:bodyPr/>
          <a:lstStyle/>
          <a:p>
            <a:endParaRPr lang="en-AE"/>
          </a:p>
        </p:txBody>
      </p:sp>
      <p:sp>
        <p:nvSpPr>
          <p:cNvPr id="14" name="Text 11"/>
          <p:cNvSpPr/>
          <p:nvPr/>
        </p:nvSpPr>
        <p:spPr>
          <a:xfrm>
            <a:off x="4434840" y="1527048"/>
            <a:ext cx="914400" cy="502920"/>
          </a:xfrm>
          <a:prstGeom prst="rect">
            <a:avLst/>
          </a:prstGeom>
          <a:noFill/>
          <a:ln/>
        </p:spPr>
        <p:txBody>
          <a:bodyPr wrap="square" lIns="0" tIns="0" rIns="0" bIns="0" rtlCol="0" anchor="ctr"/>
          <a:lstStyle/>
          <a:p>
            <a:pPr marL="0" indent="0">
              <a:buNone/>
            </a:pPr>
            <a:r>
              <a:rPr lang="en-US" sz="2200" b="1" dirty="0">
                <a:solidFill>
                  <a:srgbClr val="6BBF5A"/>
                </a:solidFill>
                <a:latin typeface="Georgia" pitchFamily="34" charset="0"/>
                <a:ea typeface="Georgia" pitchFamily="34" charset="-122"/>
                <a:cs typeface="Georgia" pitchFamily="34" charset="-120"/>
              </a:rPr>
              <a:t>02</a:t>
            </a:r>
            <a:endParaRPr lang="en-US" sz="2200" dirty="0"/>
          </a:p>
        </p:txBody>
      </p:sp>
      <p:sp>
        <p:nvSpPr>
          <p:cNvPr id="15" name="Text 12"/>
          <p:cNvSpPr/>
          <p:nvPr/>
        </p:nvSpPr>
        <p:spPr>
          <a:xfrm>
            <a:off x="4434840" y="2075688"/>
            <a:ext cx="3383280" cy="36576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Multi-Disciplinary Expertise</a:t>
            </a:r>
            <a:endParaRPr lang="en-US" sz="1400" dirty="0"/>
          </a:p>
        </p:txBody>
      </p:sp>
      <p:sp>
        <p:nvSpPr>
          <p:cNvPr id="16" name="Text 13"/>
          <p:cNvSpPr/>
          <p:nvPr/>
        </p:nvSpPr>
        <p:spPr>
          <a:xfrm>
            <a:off x="4434840" y="2487168"/>
            <a:ext cx="3383280" cy="1005840"/>
          </a:xfrm>
          <a:prstGeom prst="rect">
            <a:avLst/>
          </a:prstGeom>
          <a:noFill/>
          <a:ln/>
        </p:spPr>
        <p:txBody>
          <a:bodyPr wrap="square" lIns="0" tIns="0" rIns="0" bIns="0" rtlCol="0" anchor="ctr"/>
          <a:lstStyle/>
          <a:p>
            <a:pPr marL="0" indent="0">
              <a:lnSpc>
                <a:spcPct val="140000"/>
              </a:lnSpc>
              <a:buNone/>
            </a:pPr>
            <a:r>
              <a:rPr lang="en-US" sz="1200" dirty="0">
                <a:solidFill>
                  <a:srgbClr val="888888"/>
                </a:solidFill>
                <a:latin typeface="Calibri" pitchFamily="34" charset="0"/>
                <a:ea typeface="Calibri" pitchFamily="34" charset="-122"/>
                <a:cs typeface="Calibri" pitchFamily="34" charset="-120"/>
              </a:rPr>
              <a:t>Audit, risk, tax, and advisory skills blended seamlessly across a single engagement, eliminating silos and delivering holistic client solutions.</a:t>
            </a:r>
            <a:endParaRPr lang="en-US" sz="1200" dirty="0"/>
          </a:p>
        </p:txBody>
      </p:sp>
      <p:sp>
        <p:nvSpPr>
          <p:cNvPr id="17" name="Shape 14"/>
          <p:cNvSpPr/>
          <p:nvPr/>
        </p:nvSpPr>
        <p:spPr>
          <a:xfrm>
            <a:off x="8229600" y="1389888"/>
            <a:ext cx="3749040" cy="2240280"/>
          </a:xfrm>
          <a:prstGeom prst="rect">
            <a:avLst/>
          </a:prstGeom>
          <a:solidFill>
            <a:srgbClr val="F5F5F3"/>
          </a:solidFill>
          <a:ln w="12700">
            <a:solidFill>
              <a:srgbClr val="E0E0D8"/>
            </a:solidFill>
            <a:prstDash val="solid"/>
          </a:ln>
        </p:spPr>
        <p:txBody>
          <a:bodyPr/>
          <a:lstStyle/>
          <a:p>
            <a:endParaRPr lang="en-AE"/>
          </a:p>
        </p:txBody>
      </p:sp>
      <p:sp>
        <p:nvSpPr>
          <p:cNvPr id="18" name="Shape 15"/>
          <p:cNvSpPr/>
          <p:nvPr/>
        </p:nvSpPr>
        <p:spPr>
          <a:xfrm>
            <a:off x="8229600" y="1389888"/>
            <a:ext cx="3749040" cy="54864"/>
          </a:xfrm>
          <a:prstGeom prst="rect">
            <a:avLst/>
          </a:prstGeom>
          <a:solidFill>
            <a:srgbClr val="6BBF5A"/>
          </a:solidFill>
          <a:ln w="12700">
            <a:solidFill>
              <a:srgbClr val="6BBF5A"/>
            </a:solidFill>
            <a:prstDash val="solid"/>
          </a:ln>
        </p:spPr>
        <p:txBody>
          <a:bodyPr/>
          <a:lstStyle/>
          <a:p>
            <a:endParaRPr lang="en-AE"/>
          </a:p>
        </p:txBody>
      </p:sp>
      <p:sp>
        <p:nvSpPr>
          <p:cNvPr id="19" name="Text 16"/>
          <p:cNvSpPr/>
          <p:nvPr/>
        </p:nvSpPr>
        <p:spPr>
          <a:xfrm>
            <a:off x="8412480" y="1527048"/>
            <a:ext cx="914400" cy="502920"/>
          </a:xfrm>
          <a:prstGeom prst="rect">
            <a:avLst/>
          </a:prstGeom>
          <a:noFill/>
          <a:ln/>
        </p:spPr>
        <p:txBody>
          <a:bodyPr wrap="square" lIns="0" tIns="0" rIns="0" bIns="0" rtlCol="0" anchor="ctr"/>
          <a:lstStyle/>
          <a:p>
            <a:pPr marL="0" indent="0">
              <a:buNone/>
            </a:pPr>
            <a:r>
              <a:rPr lang="en-US" sz="2200" b="1" dirty="0">
                <a:solidFill>
                  <a:srgbClr val="6BBF5A"/>
                </a:solidFill>
                <a:latin typeface="Georgia" pitchFamily="34" charset="0"/>
                <a:ea typeface="Georgia" pitchFamily="34" charset="-122"/>
                <a:cs typeface="Georgia" pitchFamily="34" charset="-120"/>
              </a:rPr>
              <a:t>03</a:t>
            </a:r>
            <a:endParaRPr lang="en-US" sz="2200" dirty="0"/>
          </a:p>
        </p:txBody>
      </p:sp>
      <p:sp>
        <p:nvSpPr>
          <p:cNvPr id="20" name="Text 17"/>
          <p:cNvSpPr/>
          <p:nvPr/>
        </p:nvSpPr>
        <p:spPr>
          <a:xfrm>
            <a:off x="8412480" y="2075688"/>
            <a:ext cx="3383280" cy="36576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Deep Industry Knowledge</a:t>
            </a:r>
            <a:endParaRPr lang="en-US" sz="1400" dirty="0"/>
          </a:p>
        </p:txBody>
      </p:sp>
      <p:sp>
        <p:nvSpPr>
          <p:cNvPr id="21" name="Text 18"/>
          <p:cNvSpPr/>
          <p:nvPr/>
        </p:nvSpPr>
        <p:spPr>
          <a:xfrm>
            <a:off x="8412480" y="2487168"/>
            <a:ext cx="3383280" cy="1005840"/>
          </a:xfrm>
          <a:prstGeom prst="rect">
            <a:avLst/>
          </a:prstGeom>
          <a:noFill/>
          <a:ln/>
        </p:spPr>
        <p:txBody>
          <a:bodyPr wrap="square" lIns="0" tIns="0" rIns="0" bIns="0" rtlCol="0" anchor="ctr"/>
          <a:lstStyle/>
          <a:p>
            <a:pPr marL="0" indent="0">
              <a:lnSpc>
                <a:spcPct val="140000"/>
              </a:lnSpc>
              <a:buNone/>
            </a:pPr>
            <a:r>
              <a:rPr lang="en-US" sz="1200" dirty="0">
                <a:solidFill>
                  <a:srgbClr val="888888"/>
                </a:solidFill>
                <a:latin typeface="Calibri" pitchFamily="34" charset="0"/>
                <a:ea typeface="Calibri" pitchFamily="34" charset="-122"/>
                <a:cs typeface="Calibri" pitchFamily="34" charset="-120"/>
              </a:rPr>
              <a:t>Professionals with sector-specific knowledge spanning 19 industries — contextually relevant insight that goes beyond generic frameworks.</a:t>
            </a:r>
            <a:endParaRPr lang="en-US" sz="1200" dirty="0"/>
          </a:p>
        </p:txBody>
      </p:sp>
      <p:sp>
        <p:nvSpPr>
          <p:cNvPr id="22" name="Shape 19"/>
          <p:cNvSpPr/>
          <p:nvPr/>
        </p:nvSpPr>
        <p:spPr>
          <a:xfrm>
            <a:off x="274320" y="3858768"/>
            <a:ext cx="3749040" cy="2240280"/>
          </a:xfrm>
          <a:prstGeom prst="rect">
            <a:avLst/>
          </a:prstGeom>
          <a:solidFill>
            <a:srgbClr val="F5F5F3"/>
          </a:solidFill>
          <a:ln w="12700">
            <a:solidFill>
              <a:srgbClr val="E0E0D8"/>
            </a:solidFill>
            <a:prstDash val="solid"/>
          </a:ln>
        </p:spPr>
        <p:txBody>
          <a:bodyPr/>
          <a:lstStyle/>
          <a:p>
            <a:endParaRPr lang="en-AE"/>
          </a:p>
        </p:txBody>
      </p:sp>
      <p:sp>
        <p:nvSpPr>
          <p:cNvPr id="23" name="Shape 20"/>
          <p:cNvSpPr/>
          <p:nvPr/>
        </p:nvSpPr>
        <p:spPr>
          <a:xfrm>
            <a:off x="274320" y="3858768"/>
            <a:ext cx="3749040" cy="54864"/>
          </a:xfrm>
          <a:prstGeom prst="rect">
            <a:avLst/>
          </a:prstGeom>
          <a:solidFill>
            <a:srgbClr val="6BBF5A"/>
          </a:solidFill>
          <a:ln w="12700">
            <a:solidFill>
              <a:srgbClr val="6BBF5A"/>
            </a:solidFill>
            <a:prstDash val="solid"/>
          </a:ln>
        </p:spPr>
        <p:txBody>
          <a:bodyPr/>
          <a:lstStyle/>
          <a:p>
            <a:endParaRPr lang="en-AE"/>
          </a:p>
        </p:txBody>
      </p:sp>
      <p:sp>
        <p:nvSpPr>
          <p:cNvPr id="24" name="Text 21"/>
          <p:cNvSpPr/>
          <p:nvPr/>
        </p:nvSpPr>
        <p:spPr>
          <a:xfrm>
            <a:off x="457200" y="3995928"/>
            <a:ext cx="914400" cy="502920"/>
          </a:xfrm>
          <a:prstGeom prst="rect">
            <a:avLst/>
          </a:prstGeom>
          <a:noFill/>
          <a:ln/>
        </p:spPr>
        <p:txBody>
          <a:bodyPr wrap="square" lIns="0" tIns="0" rIns="0" bIns="0" rtlCol="0" anchor="ctr"/>
          <a:lstStyle/>
          <a:p>
            <a:pPr marL="0" indent="0">
              <a:buNone/>
            </a:pPr>
            <a:r>
              <a:rPr lang="en-US" sz="2200" b="1" dirty="0">
                <a:solidFill>
                  <a:srgbClr val="6BBF5A"/>
                </a:solidFill>
                <a:latin typeface="Georgia" pitchFamily="34" charset="0"/>
                <a:ea typeface="Georgia" pitchFamily="34" charset="-122"/>
                <a:cs typeface="Georgia" pitchFamily="34" charset="-120"/>
              </a:rPr>
              <a:t>04</a:t>
            </a:r>
            <a:endParaRPr lang="en-US" sz="2200" dirty="0"/>
          </a:p>
        </p:txBody>
      </p:sp>
      <p:sp>
        <p:nvSpPr>
          <p:cNvPr id="25" name="Text 22"/>
          <p:cNvSpPr/>
          <p:nvPr/>
        </p:nvSpPr>
        <p:spPr>
          <a:xfrm>
            <a:off x="457200" y="4544568"/>
            <a:ext cx="3383280" cy="36576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Commitment to Quality</a:t>
            </a:r>
            <a:endParaRPr lang="en-US" sz="1400" dirty="0"/>
          </a:p>
        </p:txBody>
      </p:sp>
      <p:sp>
        <p:nvSpPr>
          <p:cNvPr id="26" name="Text 23"/>
          <p:cNvSpPr/>
          <p:nvPr/>
        </p:nvSpPr>
        <p:spPr>
          <a:xfrm>
            <a:off x="457200" y="4956048"/>
            <a:ext cx="3383280" cy="1005840"/>
          </a:xfrm>
          <a:prstGeom prst="rect">
            <a:avLst/>
          </a:prstGeom>
          <a:noFill/>
          <a:ln/>
        </p:spPr>
        <p:txBody>
          <a:bodyPr wrap="square" lIns="0" tIns="0" rIns="0" bIns="0" rtlCol="0" anchor="ctr"/>
          <a:lstStyle/>
          <a:p>
            <a:pPr marL="0" indent="0">
              <a:lnSpc>
                <a:spcPct val="140000"/>
              </a:lnSpc>
              <a:buNone/>
            </a:pPr>
            <a:r>
              <a:rPr lang="en-US" sz="1200" dirty="0">
                <a:solidFill>
                  <a:srgbClr val="888888"/>
                </a:solidFill>
                <a:latin typeface="Calibri" pitchFamily="34" charset="0"/>
                <a:ea typeface="Calibri" pitchFamily="34" charset="-122"/>
                <a:cs typeface="Calibri" pitchFamily="34" charset="-120"/>
              </a:rPr>
              <a:t>Quality is embedded in everything we do — from robust engagement methodology to rigorous review processes at every stage.</a:t>
            </a:r>
            <a:endParaRPr lang="en-US" sz="1200" dirty="0"/>
          </a:p>
        </p:txBody>
      </p:sp>
      <p:sp>
        <p:nvSpPr>
          <p:cNvPr id="27" name="Shape 24"/>
          <p:cNvSpPr/>
          <p:nvPr/>
        </p:nvSpPr>
        <p:spPr>
          <a:xfrm>
            <a:off x="4251960" y="3858768"/>
            <a:ext cx="3749040" cy="2240280"/>
          </a:xfrm>
          <a:prstGeom prst="rect">
            <a:avLst/>
          </a:prstGeom>
          <a:solidFill>
            <a:srgbClr val="F5F5F3"/>
          </a:solidFill>
          <a:ln w="12700">
            <a:solidFill>
              <a:srgbClr val="E0E0D8"/>
            </a:solidFill>
            <a:prstDash val="solid"/>
          </a:ln>
        </p:spPr>
        <p:txBody>
          <a:bodyPr/>
          <a:lstStyle/>
          <a:p>
            <a:endParaRPr lang="en-AE"/>
          </a:p>
        </p:txBody>
      </p:sp>
      <p:sp>
        <p:nvSpPr>
          <p:cNvPr id="28" name="Shape 25"/>
          <p:cNvSpPr/>
          <p:nvPr/>
        </p:nvSpPr>
        <p:spPr>
          <a:xfrm>
            <a:off x="4251960" y="3858768"/>
            <a:ext cx="3749040" cy="54864"/>
          </a:xfrm>
          <a:prstGeom prst="rect">
            <a:avLst/>
          </a:prstGeom>
          <a:solidFill>
            <a:srgbClr val="6BBF5A"/>
          </a:solidFill>
          <a:ln w="12700">
            <a:solidFill>
              <a:srgbClr val="6BBF5A"/>
            </a:solidFill>
            <a:prstDash val="solid"/>
          </a:ln>
        </p:spPr>
        <p:txBody>
          <a:bodyPr/>
          <a:lstStyle/>
          <a:p>
            <a:endParaRPr lang="en-AE"/>
          </a:p>
        </p:txBody>
      </p:sp>
      <p:sp>
        <p:nvSpPr>
          <p:cNvPr id="29" name="Text 26"/>
          <p:cNvSpPr/>
          <p:nvPr/>
        </p:nvSpPr>
        <p:spPr>
          <a:xfrm>
            <a:off x="4434840" y="3995928"/>
            <a:ext cx="914400" cy="502920"/>
          </a:xfrm>
          <a:prstGeom prst="rect">
            <a:avLst/>
          </a:prstGeom>
          <a:noFill/>
          <a:ln/>
        </p:spPr>
        <p:txBody>
          <a:bodyPr wrap="square" lIns="0" tIns="0" rIns="0" bIns="0" rtlCol="0" anchor="ctr"/>
          <a:lstStyle/>
          <a:p>
            <a:pPr marL="0" indent="0">
              <a:buNone/>
            </a:pPr>
            <a:r>
              <a:rPr lang="en-US" sz="2200" b="1" dirty="0">
                <a:solidFill>
                  <a:srgbClr val="6BBF5A"/>
                </a:solidFill>
                <a:latin typeface="Georgia" pitchFamily="34" charset="0"/>
                <a:ea typeface="Georgia" pitchFamily="34" charset="-122"/>
                <a:cs typeface="Georgia" pitchFamily="34" charset="-120"/>
              </a:rPr>
              <a:t>05</a:t>
            </a:r>
            <a:endParaRPr lang="en-US" sz="2200" dirty="0"/>
          </a:p>
        </p:txBody>
      </p:sp>
      <p:sp>
        <p:nvSpPr>
          <p:cNvPr id="30" name="Text 27"/>
          <p:cNvSpPr/>
          <p:nvPr/>
        </p:nvSpPr>
        <p:spPr>
          <a:xfrm>
            <a:off x="4434840" y="4544568"/>
            <a:ext cx="3383280" cy="36576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Ethical Foundation</a:t>
            </a:r>
            <a:endParaRPr lang="en-US" sz="1400" dirty="0"/>
          </a:p>
        </p:txBody>
      </p:sp>
      <p:sp>
        <p:nvSpPr>
          <p:cNvPr id="31" name="Text 28"/>
          <p:cNvSpPr/>
          <p:nvPr/>
        </p:nvSpPr>
        <p:spPr>
          <a:xfrm>
            <a:off x="4434840" y="4956048"/>
            <a:ext cx="3383280" cy="1005840"/>
          </a:xfrm>
          <a:prstGeom prst="rect">
            <a:avLst/>
          </a:prstGeom>
          <a:noFill/>
          <a:ln/>
        </p:spPr>
        <p:txBody>
          <a:bodyPr wrap="square" lIns="0" tIns="0" rIns="0" bIns="0" rtlCol="0" anchor="ctr"/>
          <a:lstStyle/>
          <a:p>
            <a:pPr marL="0" indent="0">
              <a:lnSpc>
                <a:spcPct val="140000"/>
              </a:lnSpc>
              <a:buNone/>
            </a:pPr>
            <a:r>
              <a:rPr lang="en-US" sz="1200" dirty="0">
                <a:solidFill>
                  <a:srgbClr val="888888"/>
                </a:solidFill>
                <a:latin typeface="Calibri" pitchFamily="34" charset="0"/>
                <a:ea typeface="Calibri" pitchFamily="34" charset="-122"/>
                <a:cs typeface="Calibri" pitchFamily="34" charset="-120"/>
              </a:rPr>
              <a:t>Strict adherence to applicable professional codes of ethics and the highest standards of transparency in all client dealings.</a:t>
            </a:r>
            <a:endParaRPr lang="en-US" sz="1200" dirty="0"/>
          </a:p>
        </p:txBody>
      </p:sp>
      <p:sp>
        <p:nvSpPr>
          <p:cNvPr id="32" name="Shape 29"/>
          <p:cNvSpPr/>
          <p:nvPr/>
        </p:nvSpPr>
        <p:spPr>
          <a:xfrm>
            <a:off x="8229600" y="3858768"/>
            <a:ext cx="3749040" cy="2240280"/>
          </a:xfrm>
          <a:prstGeom prst="rect">
            <a:avLst/>
          </a:prstGeom>
          <a:solidFill>
            <a:srgbClr val="F5F5F3"/>
          </a:solidFill>
          <a:ln w="12700">
            <a:solidFill>
              <a:srgbClr val="E0E0D8"/>
            </a:solidFill>
            <a:prstDash val="solid"/>
          </a:ln>
        </p:spPr>
        <p:txBody>
          <a:bodyPr/>
          <a:lstStyle/>
          <a:p>
            <a:endParaRPr lang="en-AE"/>
          </a:p>
        </p:txBody>
      </p:sp>
      <p:sp>
        <p:nvSpPr>
          <p:cNvPr id="33" name="Shape 30"/>
          <p:cNvSpPr/>
          <p:nvPr/>
        </p:nvSpPr>
        <p:spPr>
          <a:xfrm>
            <a:off x="8229600" y="3858768"/>
            <a:ext cx="3749040" cy="54864"/>
          </a:xfrm>
          <a:prstGeom prst="rect">
            <a:avLst/>
          </a:prstGeom>
          <a:solidFill>
            <a:srgbClr val="6BBF5A"/>
          </a:solidFill>
          <a:ln w="12700">
            <a:solidFill>
              <a:srgbClr val="6BBF5A"/>
            </a:solidFill>
            <a:prstDash val="solid"/>
          </a:ln>
        </p:spPr>
        <p:txBody>
          <a:bodyPr/>
          <a:lstStyle/>
          <a:p>
            <a:endParaRPr lang="en-AE"/>
          </a:p>
        </p:txBody>
      </p:sp>
      <p:sp>
        <p:nvSpPr>
          <p:cNvPr id="34" name="Text 31"/>
          <p:cNvSpPr/>
          <p:nvPr/>
        </p:nvSpPr>
        <p:spPr>
          <a:xfrm>
            <a:off x="8412480" y="3995928"/>
            <a:ext cx="914400" cy="502920"/>
          </a:xfrm>
          <a:prstGeom prst="rect">
            <a:avLst/>
          </a:prstGeom>
          <a:noFill/>
          <a:ln/>
        </p:spPr>
        <p:txBody>
          <a:bodyPr wrap="square" lIns="0" tIns="0" rIns="0" bIns="0" rtlCol="0" anchor="ctr"/>
          <a:lstStyle/>
          <a:p>
            <a:pPr marL="0" indent="0">
              <a:buNone/>
            </a:pPr>
            <a:r>
              <a:rPr lang="en-US" sz="2200" b="1" dirty="0">
                <a:solidFill>
                  <a:srgbClr val="6BBF5A"/>
                </a:solidFill>
                <a:latin typeface="Georgia" pitchFamily="34" charset="0"/>
                <a:ea typeface="Georgia" pitchFamily="34" charset="-122"/>
                <a:cs typeface="Georgia" pitchFamily="34" charset="-120"/>
              </a:rPr>
              <a:t>06</a:t>
            </a:r>
            <a:endParaRPr lang="en-US" sz="2200" dirty="0"/>
          </a:p>
        </p:txBody>
      </p:sp>
      <p:sp>
        <p:nvSpPr>
          <p:cNvPr id="35" name="Text 32"/>
          <p:cNvSpPr/>
          <p:nvPr/>
        </p:nvSpPr>
        <p:spPr>
          <a:xfrm>
            <a:off x="8412480" y="4544568"/>
            <a:ext cx="3383280" cy="36576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Long-term Partnership</a:t>
            </a:r>
            <a:endParaRPr lang="en-US" sz="1400" dirty="0"/>
          </a:p>
        </p:txBody>
      </p:sp>
      <p:sp>
        <p:nvSpPr>
          <p:cNvPr id="36" name="Text 33"/>
          <p:cNvSpPr/>
          <p:nvPr/>
        </p:nvSpPr>
        <p:spPr>
          <a:xfrm>
            <a:off x="8412480" y="4956048"/>
            <a:ext cx="3383280" cy="1005840"/>
          </a:xfrm>
          <a:prstGeom prst="rect">
            <a:avLst/>
          </a:prstGeom>
          <a:noFill/>
          <a:ln/>
        </p:spPr>
        <p:txBody>
          <a:bodyPr wrap="square" lIns="0" tIns="0" rIns="0" bIns="0" rtlCol="0" anchor="ctr"/>
          <a:lstStyle/>
          <a:p>
            <a:pPr marL="0" indent="0">
              <a:lnSpc>
                <a:spcPct val="140000"/>
              </a:lnSpc>
              <a:buNone/>
            </a:pPr>
            <a:r>
              <a:rPr lang="en-US" sz="1200" dirty="0">
                <a:solidFill>
                  <a:srgbClr val="888888"/>
                </a:solidFill>
                <a:latin typeface="Calibri" pitchFamily="34" charset="0"/>
                <a:ea typeface="Calibri" pitchFamily="34" charset="-122"/>
                <a:cs typeface="Calibri" pitchFamily="34" charset="-120"/>
              </a:rPr>
              <a:t>We invest deeply in understanding each client's business, building lasting relationships that deliver ever-increasing value with each engagement.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D6A32"/>
        </a:solidFill>
        <a:effectLst/>
      </p:bgPr>
    </p:bg>
    <p:spTree>
      <p:nvGrpSpPr>
        <p:cNvPr id="1" name=""/>
        <p:cNvGrpSpPr/>
        <p:nvPr/>
      </p:nvGrpSpPr>
      <p:grpSpPr>
        <a:xfrm>
          <a:off x="0" y="0"/>
          <a:ext cx="0" cy="0"/>
          <a:chOff x="0" y="0"/>
          <a:chExt cx="0" cy="0"/>
        </a:xfrm>
      </p:grpSpPr>
      <p:sp>
        <p:nvSpPr>
          <p:cNvPr id="2" name="Shape 0"/>
          <p:cNvSpPr/>
          <p:nvPr/>
        </p:nvSpPr>
        <p:spPr>
          <a:xfrm>
            <a:off x="5303520" y="0"/>
            <a:ext cx="6858000" cy="6858000"/>
          </a:xfrm>
          <a:prstGeom prst="rect">
            <a:avLst/>
          </a:prstGeom>
          <a:solidFill>
            <a:srgbClr val="FFFFFF"/>
          </a:solidFill>
          <a:ln w="12700">
            <a:solidFill>
              <a:srgbClr val="FFFFFF"/>
            </a:solidFill>
            <a:prstDash val="solid"/>
          </a:ln>
        </p:spPr>
        <p:txBody>
          <a:bodyPr/>
          <a:lstStyle/>
          <a:p>
            <a:endParaRPr lang="en-AE"/>
          </a:p>
        </p:txBody>
      </p:sp>
      <p:pic>
        <p:nvPicPr>
          <p:cNvPr id="3" name="Image 0" descr="preencoded.png"/>
          <p:cNvPicPr>
            <a:picLocks noChangeAspect="1"/>
          </p:cNvPicPr>
          <p:nvPr/>
        </p:nvPicPr>
        <p:blipFill>
          <a:blip r:embed="rId3"/>
          <a:stretch>
            <a:fillRect/>
          </a:stretch>
        </p:blipFill>
        <p:spPr>
          <a:xfrm>
            <a:off x="5669280" y="502920"/>
            <a:ext cx="2926080" cy="1005840"/>
          </a:xfrm>
          <a:prstGeom prst="rect">
            <a:avLst/>
          </a:prstGeom>
        </p:spPr>
      </p:pic>
      <p:sp>
        <p:nvSpPr>
          <p:cNvPr id="4" name="Shape 1"/>
          <p:cNvSpPr/>
          <p:nvPr/>
        </p:nvSpPr>
        <p:spPr>
          <a:xfrm>
            <a:off x="5669280" y="1691640"/>
            <a:ext cx="6035040" cy="36576"/>
          </a:xfrm>
          <a:prstGeom prst="rect">
            <a:avLst/>
          </a:prstGeom>
          <a:solidFill>
            <a:srgbClr val="E0E0D8"/>
          </a:solidFill>
          <a:ln w="12700">
            <a:solidFill>
              <a:srgbClr val="E0E0D8"/>
            </a:solidFill>
            <a:prstDash val="solid"/>
          </a:ln>
        </p:spPr>
        <p:txBody>
          <a:bodyPr/>
          <a:lstStyle/>
          <a:p>
            <a:endParaRPr lang="en-AE"/>
          </a:p>
        </p:txBody>
      </p:sp>
      <p:sp>
        <p:nvSpPr>
          <p:cNvPr id="5" name="Text 2"/>
          <p:cNvSpPr/>
          <p:nvPr/>
        </p:nvSpPr>
        <p:spPr>
          <a:xfrm>
            <a:off x="5669280" y="1874520"/>
            <a:ext cx="6035040" cy="594360"/>
          </a:xfrm>
          <a:prstGeom prst="rect">
            <a:avLst/>
          </a:prstGeom>
          <a:noFill/>
          <a:ln/>
        </p:spPr>
        <p:txBody>
          <a:bodyPr wrap="square" lIns="0" tIns="0" rIns="0" bIns="0" rtlCol="0" anchor="ctr"/>
          <a:lstStyle/>
          <a:p>
            <a:pPr marL="0" indent="0">
              <a:buNone/>
            </a:pPr>
            <a:r>
              <a:rPr lang="en-US" sz="2400" b="1" dirty="0">
                <a:solidFill>
                  <a:srgbClr val="2D2D2D"/>
                </a:solidFill>
                <a:latin typeface="Georgia" pitchFamily="34" charset="0"/>
                <a:ea typeface="Georgia" pitchFamily="34" charset="-122"/>
                <a:cs typeface="Georgia" pitchFamily="34" charset="-120"/>
              </a:rPr>
              <a:t>Get in Touch</a:t>
            </a:r>
            <a:endParaRPr lang="en-US" sz="2400" dirty="0"/>
          </a:p>
        </p:txBody>
      </p:sp>
      <p:sp>
        <p:nvSpPr>
          <p:cNvPr id="6" name="Text 3"/>
          <p:cNvSpPr/>
          <p:nvPr/>
        </p:nvSpPr>
        <p:spPr>
          <a:xfrm>
            <a:off x="5669280" y="2542032"/>
            <a:ext cx="6035040" cy="640080"/>
          </a:xfrm>
          <a:prstGeom prst="rect">
            <a:avLst/>
          </a:prstGeom>
          <a:noFill/>
          <a:ln/>
        </p:spPr>
        <p:txBody>
          <a:bodyPr wrap="square" lIns="0" tIns="0" rIns="0" bIns="0" rtlCol="0" anchor="ctr"/>
          <a:lstStyle/>
          <a:p>
            <a:pPr marL="0" indent="0">
              <a:lnSpc>
                <a:spcPct val="140000"/>
              </a:lnSpc>
              <a:buNone/>
            </a:pPr>
            <a:r>
              <a:rPr lang="en-US" sz="1200" dirty="0">
                <a:solidFill>
                  <a:srgbClr val="4A4A4A"/>
                </a:solidFill>
                <a:latin typeface="Calibri" pitchFamily="34" charset="0"/>
                <a:ea typeface="Calibri" pitchFamily="34" charset="-122"/>
                <a:cs typeface="Calibri" pitchFamily="34" charset="-120"/>
              </a:rPr>
              <a:t>We look forward to working with you. Speak with one of our professionals today to discuss how Assurance Corp can support your organisation.</a:t>
            </a:r>
            <a:endParaRPr lang="en-US" sz="1200" dirty="0"/>
          </a:p>
        </p:txBody>
      </p:sp>
      <p:sp>
        <p:nvSpPr>
          <p:cNvPr id="7" name="Text 4"/>
          <p:cNvSpPr/>
          <p:nvPr/>
        </p:nvSpPr>
        <p:spPr>
          <a:xfrm>
            <a:off x="5669280" y="3429000"/>
            <a:ext cx="1828800" cy="274320"/>
          </a:xfrm>
          <a:prstGeom prst="rect">
            <a:avLst/>
          </a:prstGeom>
          <a:noFill/>
          <a:ln/>
        </p:spPr>
        <p:txBody>
          <a:bodyPr wrap="square" lIns="0" tIns="0" rIns="0" bIns="0" rtlCol="0" anchor="ctr"/>
          <a:lstStyle/>
          <a:p>
            <a:pPr marL="0" indent="0">
              <a:buNone/>
            </a:pPr>
            <a:r>
              <a:rPr lang="en-US" sz="800" b="1" kern="0" spc="400" dirty="0">
                <a:solidFill>
                  <a:srgbClr val="2D6A32"/>
                </a:solidFill>
              </a:rPr>
              <a:t>CONTACT</a:t>
            </a:r>
            <a:endParaRPr lang="en-US" sz="800" dirty="0"/>
          </a:p>
        </p:txBody>
      </p:sp>
      <p:sp>
        <p:nvSpPr>
          <p:cNvPr id="8" name="Shape 5"/>
          <p:cNvSpPr/>
          <p:nvPr/>
        </p:nvSpPr>
        <p:spPr>
          <a:xfrm>
            <a:off x="5669280" y="3703320"/>
            <a:ext cx="6035040" cy="36576"/>
          </a:xfrm>
          <a:prstGeom prst="rect">
            <a:avLst/>
          </a:prstGeom>
          <a:solidFill>
            <a:srgbClr val="E0E0D8"/>
          </a:solidFill>
          <a:ln w="12700">
            <a:solidFill>
              <a:srgbClr val="E0E0D8"/>
            </a:solidFill>
            <a:prstDash val="solid"/>
          </a:ln>
        </p:spPr>
        <p:txBody>
          <a:bodyPr/>
          <a:lstStyle/>
          <a:p>
            <a:endParaRPr lang="en-AE"/>
          </a:p>
        </p:txBody>
      </p:sp>
      <p:sp>
        <p:nvSpPr>
          <p:cNvPr id="9" name="Text 6"/>
          <p:cNvSpPr/>
          <p:nvPr/>
        </p:nvSpPr>
        <p:spPr>
          <a:xfrm>
            <a:off x="5669280" y="3758184"/>
            <a:ext cx="6035040" cy="320040"/>
          </a:xfrm>
          <a:prstGeom prst="rect">
            <a:avLst/>
          </a:prstGeom>
          <a:noFill/>
          <a:ln/>
        </p:spPr>
        <p:txBody>
          <a:bodyPr wrap="square" lIns="0" tIns="0" rIns="0" bIns="0" rtlCol="0" anchor="ctr"/>
          <a:lstStyle/>
          <a:p>
            <a:pPr marL="0" indent="0">
              <a:buNone/>
            </a:pPr>
            <a:r>
              <a:rPr lang="en-US" sz="1300" dirty="0">
                <a:solidFill>
                  <a:srgbClr val="4A4A4A"/>
                </a:solidFill>
                <a:latin typeface="Calibri" pitchFamily="34" charset="0"/>
                <a:ea typeface="Calibri" pitchFamily="34" charset="-122"/>
                <a:cs typeface="Calibri" pitchFamily="34" charset="-120"/>
              </a:rPr>
              <a:t>Imran Zamir Sheikh, Managing Partner</a:t>
            </a:r>
            <a:endParaRPr lang="en-US" sz="1300" dirty="0"/>
          </a:p>
        </p:txBody>
      </p:sp>
      <p:sp>
        <p:nvSpPr>
          <p:cNvPr id="10" name="Text 7"/>
          <p:cNvSpPr/>
          <p:nvPr/>
        </p:nvSpPr>
        <p:spPr>
          <a:xfrm>
            <a:off x="5669280" y="4178808"/>
            <a:ext cx="1828800" cy="274320"/>
          </a:xfrm>
          <a:prstGeom prst="rect">
            <a:avLst/>
          </a:prstGeom>
          <a:noFill/>
          <a:ln/>
        </p:spPr>
        <p:txBody>
          <a:bodyPr wrap="square" lIns="0" tIns="0" rIns="0" bIns="0" rtlCol="0" anchor="ctr"/>
          <a:lstStyle/>
          <a:p>
            <a:pPr marL="0" indent="0">
              <a:buNone/>
            </a:pPr>
            <a:r>
              <a:rPr lang="en-US" sz="800" b="1" kern="0" spc="400" dirty="0">
                <a:solidFill>
                  <a:srgbClr val="2D6A32"/>
                </a:solidFill>
              </a:rPr>
              <a:t>EMAIL</a:t>
            </a:r>
            <a:endParaRPr lang="en-US" sz="800" dirty="0"/>
          </a:p>
        </p:txBody>
      </p:sp>
      <p:sp>
        <p:nvSpPr>
          <p:cNvPr id="11" name="Shape 8"/>
          <p:cNvSpPr/>
          <p:nvPr/>
        </p:nvSpPr>
        <p:spPr>
          <a:xfrm>
            <a:off x="5669280" y="4453128"/>
            <a:ext cx="6035040" cy="36576"/>
          </a:xfrm>
          <a:prstGeom prst="rect">
            <a:avLst/>
          </a:prstGeom>
          <a:solidFill>
            <a:srgbClr val="E0E0D8"/>
          </a:solidFill>
          <a:ln w="12700">
            <a:solidFill>
              <a:srgbClr val="E0E0D8"/>
            </a:solidFill>
            <a:prstDash val="solid"/>
          </a:ln>
        </p:spPr>
        <p:txBody>
          <a:bodyPr/>
          <a:lstStyle/>
          <a:p>
            <a:endParaRPr lang="en-AE"/>
          </a:p>
        </p:txBody>
      </p:sp>
      <p:sp>
        <p:nvSpPr>
          <p:cNvPr id="12" name="Text 9"/>
          <p:cNvSpPr/>
          <p:nvPr/>
        </p:nvSpPr>
        <p:spPr>
          <a:xfrm>
            <a:off x="5669280" y="4507992"/>
            <a:ext cx="6035040" cy="320040"/>
          </a:xfrm>
          <a:prstGeom prst="rect">
            <a:avLst/>
          </a:prstGeom>
          <a:noFill/>
          <a:ln/>
        </p:spPr>
        <p:txBody>
          <a:bodyPr wrap="square" lIns="0" tIns="0" rIns="0" bIns="0" rtlCol="0" anchor="ctr"/>
          <a:lstStyle/>
          <a:p>
            <a:pPr marL="0" indent="0">
              <a:buNone/>
            </a:pPr>
            <a:r>
              <a:rPr lang="en-US" sz="1300" dirty="0" err="1">
                <a:solidFill>
                  <a:srgbClr val="4A4A4A"/>
                </a:solidFill>
                <a:latin typeface="Calibri" pitchFamily="34" charset="0"/>
                <a:ea typeface="Calibri" pitchFamily="34" charset="-122"/>
                <a:cs typeface="Calibri" pitchFamily="34" charset="-120"/>
              </a:rPr>
              <a:t>XXX@assurance.ae</a:t>
            </a:r>
            <a:endParaRPr lang="en-US" sz="1300" dirty="0"/>
          </a:p>
        </p:txBody>
      </p:sp>
      <p:sp>
        <p:nvSpPr>
          <p:cNvPr id="13" name="Text 10"/>
          <p:cNvSpPr/>
          <p:nvPr/>
        </p:nvSpPr>
        <p:spPr>
          <a:xfrm>
            <a:off x="5669280" y="4928616"/>
            <a:ext cx="1828800" cy="274320"/>
          </a:xfrm>
          <a:prstGeom prst="rect">
            <a:avLst/>
          </a:prstGeom>
          <a:noFill/>
          <a:ln/>
        </p:spPr>
        <p:txBody>
          <a:bodyPr wrap="square" lIns="0" tIns="0" rIns="0" bIns="0" rtlCol="0" anchor="ctr"/>
          <a:lstStyle/>
          <a:p>
            <a:pPr marL="0" indent="0">
              <a:buNone/>
            </a:pPr>
            <a:r>
              <a:rPr lang="en-US" sz="800" b="1" kern="0" spc="400" dirty="0">
                <a:solidFill>
                  <a:srgbClr val="2D6A32"/>
                </a:solidFill>
              </a:rPr>
              <a:t>WEBSITE</a:t>
            </a:r>
            <a:endParaRPr lang="en-US" sz="800" dirty="0"/>
          </a:p>
        </p:txBody>
      </p:sp>
      <p:sp>
        <p:nvSpPr>
          <p:cNvPr id="14" name="Shape 11"/>
          <p:cNvSpPr/>
          <p:nvPr/>
        </p:nvSpPr>
        <p:spPr>
          <a:xfrm>
            <a:off x="5669280" y="5202936"/>
            <a:ext cx="6035040" cy="36576"/>
          </a:xfrm>
          <a:prstGeom prst="rect">
            <a:avLst/>
          </a:prstGeom>
          <a:solidFill>
            <a:srgbClr val="E0E0D8"/>
          </a:solidFill>
          <a:ln w="12700">
            <a:solidFill>
              <a:srgbClr val="E0E0D8"/>
            </a:solidFill>
            <a:prstDash val="solid"/>
          </a:ln>
        </p:spPr>
        <p:txBody>
          <a:bodyPr/>
          <a:lstStyle/>
          <a:p>
            <a:endParaRPr lang="en-AE"/>
          </a:p>
        </p:txBody>
      </p:sp>
      <p:sp>
        <p:nvSpPr>
          <p:cNvPr id="15" name="Text 12"/>
          <p:cNvSpPr/>
          <p:nvPr/>
        </p:nvSpPr>
        <p:spPr>
          <a:xfrm>
            <a:off x="5669280" y="5257800"/>
            <a:ext cx="6035040" cy="320040"/>
          </a:xfrm>
          <a:prstGeom prst="rect">
            <a:avLst/>
          </a:prstGeom>
          <a:noFill/>
          <a:ln/>
        </p:spPr>
        <p:txBody>
          <a:bodyPr wrap="square" lIns="0" tIns="0" rIns="0" bIns="0" rtlCol="0" anchor="ctr"/>
          <a:lstStyle/>
          <a:p>
            <a:pPr marL="0" indent="0">
              <a:buNone/>
            </a:pPr>
            <a:r>
              <a:rPr lang="en-US" sz="1300" dirty="0" err="1">
                <a:solidFill>
                  <a:srgbClr val="4A4A4A"/>
                </a:solidFill>
                <a:latin typeface="Calibri" pitchFamily="34" charset="0"/>
                <a:ea typeface="Calibri" pitchFamily="34" charset="-122"/>
                <a:cs typeface="Calibri" pitchFamily="34" charset="-120"/>
              </a:rPr>
              <a:t>www.assurance.ae</a:t>
            </a:r>
            <a:endParaRPr lang="en-US" sz="1300" dirty="0"/>
          </a:p>
        </p:txBody>
      </p:sp>
      <p:sp>
        <p:nvSpPr>
          <p:cNvPr id="16" name="Text 13"/>
          <p:cNvSpPr/>
          <p:nvPr/>
        </p:nvSpPr>
        <p:spPr>
          <a:xfrm>
            <a:off x="5669280" y="5678424"/>
            <a:ext cx="1828800" cy="274320"/>
          </a:xfrm>
          <a:prstGeom prst="rect">
            <a:avLst/>
          </a:prstGeom>
          <a:noFill/>
          <a:ln/>
        </p:spPr>
        <p:txBody>
          <a:bodyPr wrap="square" lIns="0" tIns="0" rIns="0" bIns="0" rtlCol="0" anchor="ctr"/>
          <a:lstStyle/>
          <a:p>
            <a:pPr marL="0" indent="0">
              <a:buNone/>
            </a:pPr>
            <a:r>
              <a:rPr lang="en-US" sz="800" b="1" kern="0" spc="400" dirty="0">
                <a:solidFill>
                  <a:srgbClr val="2D6A32"/>
                </a:solidFill>
              </a:rPr>
              <a:t>SERVICES</a:t>
            </a:r>
            <a:endParaRPr lang="en-US" sz="800" dirty="0"/>
          </a:p>
        </p:txBody>
      </p:sp>
      <p:sp>
        <p:nvSpPr>
          <p:cNvPr id="17" name="Shape 14"/>
          <p:cNvSpPr/>
          <p:nvPr/>
        </p:nvSpPr>
        <p:spPr>
          <a:xfrm>
            <a:off x="5669280" y="5952744"/>
            <a:ext cx="6035040" cy="36576"/>
          </a:xfrm>
          <a:prstGeom prst="rect">
            <a:avLst/>
          </a:prstGeom>
          <a:solidFill>
            <a:srgbClr val="E0E0D8"/>
          </a:solidFill>
          <a:ln w="12700">
            <a:solidFill>
              <a:srgbClr val="E0E0D8"/>
            </a:solidFill>
            <a:prstDash val="solid"/>
          </a:ln>
        </p:spPr>
        <p:txBody>
          <a:bodyPr/>
          <a:lstStyle/>
          <a:p>
            <a:endParaRPr lang="en-AE"/>
          </a:p>
        </p:txBody>
      </p:sp>
      <p:sp>
        <p:nvSpPr>
          <p:cNvPr id="18" name="Text 15"/>
          <p:cNvSpPr/>
          <p:nvPr/>
        </p:nvSpPr>
        <p:spPr>
          <a:xfrm>
            <a:off x="5669280" y="6007608"/>
            <a:ext cx="6035040" cy="320040"/>
          </a:xfrm>
          <a:prstGeom prst="rect">
            <a:avLst/>
          </a:prstGeom>
          <a:noFill/>
          <a:ln/>
        </p:spPr>
        <p:txBody>
          <a:bodyPr wrap="square" lIns="0" tIns="0" rIns="0" bIns="0" rtlCol="0" anchor="ctr"/>
          <a:lstStyle/>
          <a:p>
            <a:pPr marL="0" indent="0">
              <a:buNone/>
            </a:pPr>
            <a:r>
              <a:rPr lang="en-US" sz="1300" dirty="0">
                <a:solidFill>
                  <a:srgbClr val="4A4A4A"/>
                </a:solidFill>
                <a:latin typeface="Calibri" pitchFamily="34" charset="0"/>
                <a:ea typeface="Calibri" pitchFamily="34" charset="-122"/>
                <a:cs typeface="Calibri" pitchFamily="34" charset="-120"/>
              </a:rPr>
              <a:t>Audit  |  Risk  |  Tax  |  Advisory</a:t>
            </a:r>
            <a:endParaRPr lang="en-US" sz="1300" dirty="0"/>
          </a:p>
        </p:txBody>
      </p:sp>
      <p:sp>
        <p:nvSpPr>
          <p:cNvPr id="19" name="Text 16"/>
          <p:cNvSpPr/>
          <p:nvPr/>
        </p:nvSpPr>
        <p:spPr>
          <a:xfrm>
            <a:off x="411480" y="1188720"/>
            <a:ext cx="4572000" cy="4389120"/>
          </a:xfrm>
          <a:prstGeom prst="rect">
            <a:avLst/>
          </a:prstGeom>
          <a:noFill/>
          <a:ln/>
        </p:spPr>
        <p:txBody>
          <a:bodyPr wrap="square" lIns="0" tIns="0" rIns="0" bIns="0" rtlCol="0" anchor="ctr"/>
          <a:lstStyle/>
          <a:p>
            <a:pPr marL="0" indent="0">
              <a:lnSpc>
                <a:spcPct val="120000"/>
              </a:lnSpc>
              <a:buNone/>
            </a:pPr>
            <a:r>
              <a:rPr lang="en-US" sz="2600" b="1" dirty="0">
                <a:solidFill>
                  <a:srgbClr val="FFFFFF"/>
                </a:solidFill>
                <a:latin typeface="Georgia" pitchFamily="34" charset="0"/>
                <a:ea typeface="Georgia" pitchFamily="34" charset="-122"/>
                <a:cs typeface="Georgia" pitchFamily="34" charset="-120"/>
              </a:rPr>
              <a:t>ACT WITH</a:t>
            </a:r>
            <a:endParaRPr lang="en-US" sz="2600" dirty="0"/>
          </a:p>
          <a:p>
            <a:pPr marL="0" indent="0">
              <a:lnSpc>
                <a:spcPct val="120000"/>
              </a:lnSpc>
              <a:buNone/>
            </a:pPr>
            <a:r>
              <a:rPr lang="en-US" sz="2600" b="1" dirty="0">
                <a:solidFill>
                  <a:srgbClr val="FFFFFF"/>
                </a:solidFill>
                <a:latin typeface="Georgia" pitchFamily="34" charset="0"/>
                <a:ea typeface="Georgia" pitchFamily="34" charset="-122"/>
                <a:cs typeface="Georgia" pitchFamily="34" charset="-120"/>
              </a:rPr>
              <a:t>INTEGRITY,</a:t>
            </a:r>
            <a:endParaRPr lang="en-US" sz="2600" dirty="0"/>
          </a:p>
          <a:p>
            <a:pPr marL="0" indent="0">
              <a:lnSpc>
                <a:spcPct val="120000"/>
              </a:lnSpc>
              <a:buNone/>
            </a:pPr>
            <a:r>
              <a:rPr lang="en-US" sz="2600" b="1" dirty="0">
                <a:solidFill>
                  <a:srgbClr val="FFFFFF"/>
                </a:solidFill>
                <a:latin typeface="Georgia" pitchFamily="34" charset="0"/>
                <a:ea typeface="Georgia" pitchFamily="34" charset="-122"/>
                <a:cs typeface="Georgia" pitchFamily="34" charset="-120"/>
              </a:rPr>
              <a:t>COMPETENCE</a:t>
            </a:r>
            <a:endParaRPr lang="en-US" sz="2600" dirty="0"/>
          </a:p>
          <a:p>
            <a:pPr marL="0" indent="0">
              <a:lnSpc>
                <a:spcPct val="120000"/>
              </a:lnSpc>
              <a:buNone/>
            </a:pPr>
            <a:r>
              <a:rPr lang="en-US" sz="2600" b="1" dirty="0">
                <a:solidFill>
                  <a:srgbClr val="FFFFFF"/>
                </a:solidFill>
                <a:latin typeface="Georgia" pitchFamily="34" charset="0"/>
                <a:ea typeface="Georgia" pitchFamily="34" charset="-122"/>
                <a:cs typeface="Georgia" pitchFamily="34" charset="-120"/>
              </a:rPr>
              <a:t>AND</a:t>
            </a:r>
            <a:endParaRPr lang="en-US" sz="2600" dirty="0"/>
          </a:p>
          <a:p>
            <a:pPr marL="0" indent="0">
              <a:lnSpc>
                <a:spcPct val="120000"/>
              </a:lnSpc>
              <a:buNone/>
            </a:pPr>
            <a:r>
              <a:rPr lang="en-US" sz="2600" b="1" dirty="0">
                <a:solidFill>
                  <a:srgbClr val="FFFFFF"/>
                </a:solidFill>
                <a:latin typeface="Georgia" pitchFamily="34" charset="0"/>
                <a:ea typeface="Georgia" pitchFamily="34" charset="-122"/>
                <a:cs typeface="Georgia" pitchFamily="34" charset="-120"/>
              </a:rPr>
              <a:t>PROFESSIONALISM</a:t>
            </a:r>
            <a:endParaRPr lang="en-US" sz="2600" dirty="0"/>
          </a:p>
        </p:txBody>
      </p:sp>
      <p:sp>
        <p:nvSpPr>
          <p:cNvPr id="20" name="Text 17"/>
          <p:cNvSpPr/>
          <p:nvPr/>
        </p:nvSpPr>
        <p:spPr>
          <a:xfrm>
            <a:off x="411480" y="5715000"/>
            <a:ext cx="4572000" cy="347472"/>
          </a:xfrm>
          <a:prstGeom prst="rect">
            <a:avLst/>
          </a:prstGeom>
          <a:noFill/>
          <a:ln/>
        </p:spPr>
        <p:txBody>
          <a:bodyPr wrap="square" lIns="0" tIns="0" rIns="0" bIns="0" rtlCol="0" anchor="ctr"/>
          <a:lstStyle/>
          <a:p>
            <a:pPr marL="0" indent="0">
              <a:buNone/>
            </a:pPr>
            <a:r>
              <a:rPr lang="en-US" sz="1300" i="1" dirty="0">
                <a:solidFill>
                  <a:srgbClr val="AAFFAA"/>
                </a:solidFill>
              </a:rPr>
              <a:t>Auditors &amp; Advisers</a:t>
            </a:r>
            <a:endParaRPr lang="en-US" sz="1300" dirty="0"/>
          </a:p>
        </p:txBody>
      </p:sp>
      <p:sp>
        <p:nvSpPr>
          <p:cNvPr id="21" name="Shape 18"/>
          <p:cNvSpPr/>
          <p:nvPr/>
        </p:nvSpPr>
        <p:spPr>
          <a:xfrm>
            <a:off x="411480" y="6236208"/>
            <a:ext cx="1051560" cy="347472"/>
          </a:xfrm>
          <a:prstGeom prst="rect">
            <a:avLst/>
          </a:prstGeom>
          <a:solidFill>
            <a:srgbClr val="1A4D21"/>
          </a:solidFill>
          <a:ln w="12700">
            <a:solidFill>
              <a:srgbClr val="1A4D21"/>
            </a:solidFill>
            <a:prstDash val="solid"/>
          </a:ln>
        </p:spPr>
        <p:txBody>
          <a:bodyPr/>
          <a:lstStyle/>
          <a:p>
            <a:endParaRPr lang="en-AE"/>
          </a:p>
        </p:txBody>
      </p:sp>
      <p:sp>
        <p:nvSpPr>
          <p:cNvPr id="22" name="Text 19"/>
          <p:cNvSpPr/>
          <p:nvPr/>
        </p:nvSpPr>
        <p:spPr>
          <a:xfrm>
            <a:off x="411480" y="6236208"/>
            <a:ext cx="1051560" cy="347472"/>
          </a:xfrm>
          <a:prstGeom prst="rect">
            <a:avLst/>
          </a:prstGeom>
          <a:noFill/>
          <a:ln/>
        </p:spPr>
        <p:txBody>
          <a:bodyPr wrap="square" lIns="0" tIns="0" rIns="0" bIns="0" rtlCol="0" anchor="ctr"/>
          <a:lstStyle/>
          <a:p>
            <a:pPr marL="0" indent="0" algn="ctr">
              <a:buNone/>
            </a:pPr>
            <a:r>
              <a:rPr lang="en-US" sz="900" b="1" kern="0" spc="200" dirty="0">
                <a:solidFill>
                  <a:srgbClr val="AAFFAA"/>
                </a:solidFill>
              </a:rPr>
              <a:t>AUDIT</a:t>
            </a:r>
            <a:endParaRPr lang="en-US" sz="900" dirty="0"/>
          </a:p>
        </p:txBody>
      </p:sp>
      <p:sp>
        <p:nvSpPr>
          <p:cNvPr id="23" name="Shape 20"/>
          <p:cNvSpPr/>
          <p:nvPr/>
        </p:nvSpPr>
        <p:spPr>
          <a:xfrm>
            <a:off x="1600200" y="6236208"/>
            <a:ext cx="1051560" cy="347472"/>
          </a:xfrm>
          <a:prstGeom prst="rect">
            <a:avLst/>
          </a:prstGeom>
          <a:solidFill>
            <a:srgbClr val="1A4D21"/>
          </a:solidFill>
          <a:ln w="12700">
            <a:solidFill>
              <a:srgbClr val="1A4D21"/>
            </a:solidFill>
            <a:prstDash val="solid"/>
          </a:ln>
        </p:spPr>
        <p:txBody>
          <a:bodyPr/>
          <a:lstStyle/>
          <a:p>
            <a:endParaRPr lang="en-AE"/>
          </a:p>
        </p:txBody>
      </p:sp>
      <p:sp>
        <p:nvSpPr>
          <p:cNvPr id="24" name="Text 21"/>
          <p:cNvSpPr/>
          <p:nvPr/>
        </p:nvSpPr>
        <p:spPr>
          <a:xfrm>
            <a:off x="1600200" y="6236208"/>
            <a:ext cx="1051560" cy="347472"/>
          </a:xfrm>
          <a:prstGeom prst="rect">
            <a:avLst/>
          </a:prstGeom>
          <a:noFill/>
          <a:ln/>
        </p:spPr>
        <p:txBody>
          <a:bodyPr wrap="square" lIns="0" tIns="0" rIns="0" bIns="0" rtlCol="0" anchor="ctr"/>
          <a:lstStyle/>
          <a:p>
            <a:pPr marL="0" indent="0" algn="ctr">
              <a:buNone/>
            </a:pPr>
            <a:r>
              <a:rPr lang="en-US" sz="900" b="1" kern="0" spc="200" dirty="0">
                <a:solidFill>
                  <a:srgbClr val="AAFFAA"/>
                </a:solidFill>
              </a:rPr>
              <a:t>RISK</a:t>
            </a:r>
            <a:endParaRPr lang="en-US" sz="900" dirty="0"/>
          </a:p>
        </p:txBody>
      </p:sp>
      <p:sp>
        <p:nvSpPr>
          <p:cNvPr id="25" name="Shape 22"/>
          <p:cNvSpPr/>
          <p:nvPr/>
        </p:nvSpPr>
        <p:spPr>
          <a:xfrm>
            <a:off x="2788920" y="6236208"/>
            <a:ext cx="1051560" cy="347472"/>
          </a:xfrm>
          <a:prstGeom prst="rect">
            <a:avLst/>
          </a:prstGeom>
          <a:solidFill>
            <a:srgbClr val="1A4D21"/>
          </a:solidFill>
          <a:ln w="12700">
            <a:solidFill>
              <a:srgbClr val="1A4D21"/>
            </a:solidFill>
            <a:prstDash val="solid"/>
          </a:ln>
        </p:spPr>
        <p:txBody>
          <a:bodyPr/>
          <a:lstStyle/>
          <a:p>
            <a:endParaRPr lang="en-AE"/>
          </a:p>
        </p:txBody>
      </p:sp>
      <p:sp>
        <p:nvSpPr>
          <p:cNvPr id="26" name="Text 23"/>
          <p:cNvSpPr/>
          <p:nvPr/>
        </p:nvSpPr>
        <p:spPr>
          <a:xfrm>
            <a:off x="2788920" y="6236208"/>
            <a:ext cx="1051560" cy="347472"/>
          </a:xfrm>
          <a:prstGeom prst="rect">
            <a:avLst/>
          </a:prstGeom>
          <a:noFill/>
          <a:ln/>
        </p:spPr>
        <p:txBody>
          <a:bodyPr wrap="square" lIns="0" tIns="0" rIns="0" bIns="0" rtlCol="0" anchor="ctr"/>
          <a:lstStyle/>
          <a:p>
            <a:pPr marL="0" indent="0" algn="ctr">
              <a:buNone/>
            </a:pPr>
            <a:r>
              <a:rPr lang="en-US" sz="900" b="1" kern="0" spc="200" dirty="0">
                <a:solidFill>
                  <a:srgbClr val="AAFFAA"/>
                </a:solidFill>
              </a:rPr>
              <a:t>TAX</a:t>
            </a:r>
            <a:endParaRPr lang="en-US" sz="900" dirty="0"/>
          </a:p>
        </p:txBody>
      </p:sp>
      <p:sp>
        <p:nvSpPr>
          <p:cNvPr id="27" name="Shape 24"/>
          <p:cNvSpPr/>
          <p:nvPr/>
        </p:nvSpPr>
        <p:spPr>
          <a:xfrm>
            <a:off x="3977640" y="6236208"/>
            <a:ext cx="1051560" cy="347472"/>
          </a:xfrm>
          <a:prstGeom prst="rect">
            <a:avLst/>
          </a:prstGeom>
          <a:solidFill>
            <a:srgbClr val="1A4D21"/>
          </a:solidFill>
          <a:ln w="12700">
            <a:solidFill>
              <a:srgbClr val="1A4D21"/>
            </a:solidFill>
            <a:prstDash val="solid"/>
          </a:ln>
        </p:spPr>
        <p:txBody>
          <a:bodyPr/>
          <a:lstStyle/>
          <a:p>
            <a:endParaRPr lang="en-AE"/>
          </a:p>
        </p:txBody>
      </p:sp>
      <p:sp>
        <p:nvSpPr>
          <p:cNvPr id="28" name="Text 25"/>
          <p:cNvSpPr/>
          <p:nvPr/>
        </p:nvSpPr>
        <p:spPr>
          <a:xfrm>
            <a:off x="3977640" y="6236208"/>
            <a:ext cx="1051560" cy="347472"/>
          </a:xfrm>
          <a:prstGeom prst="rect">
            <a:avLst/>
          </a:prstGeom>
          <a:noFill/>
          <a:ln/>
        </p:spPr>
        <p:txBody>
          <a:bodyPr wrap="square" lIns="0" tIns="0" rIns="0" bIns="0" rtlCol="0" anchor="ctr"/>
          <a:lstStyle/>
          <a:p>
            <a:pPr marL="0" indent="0" algn="ctr">
              <a:buNone/>
            </a:pPr>
            <a:r>
              <a:rPr lang="en-US" sz="900" b="1" kern="0" spc="200" dirty="0">
                <a:solidFill>
                  <a:srgbClr val="AAFFAA"/>
                </a:solidFill>
              </a:rPr>
              <a:t>ADVISORY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1384</Words>
  <Application>Microsoft Macintosh PowerPoint</Application>
  <PresentationFormat>Widescreen</PresentationFormat>
  <Paragraphs>242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Assurance Corp — Company Profile</dc:title>
  <dc:subject>PptxGenJS Presentation</dc:subject>
  <dc:creator>Assurance Corp</dc:creator>
  <cp:lastModifiedBy>Imran Zamir Sheikh</cp:lastModifiedBy>
  <cp:revision>2</cp:revision>
  <dcterms:created xsi:type="dcterms:W3CDTF">2026-04-21T10:19:04Z</dcterms:created>
  <dcterms:modified xsi:type="dcterms:W3CDTF">2026-04-21T10:24:56Z</dcterms:modified>
</cp:coreProperties>
</file>